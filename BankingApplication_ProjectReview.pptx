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61" r:id="rId5"/>
    <p:sldId id="262" r:id="rId6"/>
    <p:sldId id="263" r:id="rId7"/>
    <p:sldId id="264" r:id="rId8"/>
    <p:sldId id="265" r:id="rId9"/>
    <p:sldId id="266" r:id="rId10"/>
    <p:sldId id="268" r:id="rId11"/>
    <p:sldId id="270" r:id="rId12"/>
    <p:sldId id="271"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1" d="100"/>
          <a:sy n="121" d="100"/>
        </p:scale>
        <p:origin x="3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30946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I'll be presenting my full-stack Banking Application project. This covers the complete development stack from a browser-based frontend, through a Java REST API layer, down to a MySQL database. Let me walk you through the motivation, architecture, and key features.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banking demo apps are either too complex or too simplistic. The core problem is the lack of a clean, full-stack banking simulation that persists data, logs every transaction, and sends real-time alerts — exactly what this project solves.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has five clear objectives. The most important are: data persistence so accounts survive restarts, complete transaction logging for auditability, and proactive email alerts for low balance events. Together these mirror real banking system expectations.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a classic 3-tier design. The browser sends REST calls to the Spark Java backend. The backend processes business logic and reads/writes from MySQL. A side channel — JavaMail — fires email alerts triggered by the backend when a balance threshold is crossed.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has 8 core features covering the full banking lifecycle. All operations — deposits, withdrawals, and transfers — are atomic and immediately logged. The email alert is triggered server-side, requiring no user action.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tables form the entire schema. The accounts table is the source of truth for balances. The transactions table has a foreign key to accounts and logs every operation with a timestamp. The ENUM type field makes transaction type queries efficient and self-documenting.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Spark Java makes it easy to define these routes in just a few lines each. Every route extracts the JSON body, performs the operation through a service layer, executes SQL via JDBC, and returns a JSON response. CORS headers are set globally so the frontend can call from a browser.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deliberately kept simple — no React, no Angular. This shows that the API layer is the real deliverable and works with any client. The fetch() calls include error handling and the UI updates in real time. It's ready to demo directly in a browser.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email alert feature adds real business value. It mimics what real banking apps do — proactive alerts before the customer runs out of money. The .env approach ensures the app can be deployed in different environments just by changing config, not code.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challenges were the most significant. CORS and JDBC issues are common in full-stack development and resolving them deepened my understanding of HTTP headers and database connection management. The atomicity challenge was the most technically interesting — it required understanding database transactions.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impactful next step is JWT authentication — without it this is a simulation, not a real product. Cloud deployment on EC2 would make it publicly accessible and demonstrable to anyone. These six enhancements have a clear priority order: security first, then scale, then features.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this project demonstrates a complete, working full-stack banking system built with industry-relevant technologies. It handles real-world concerns like data persistence, error handling, and automated alerts. I'm happy to take any questions or run a live demo now.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8F8F"/>
          </a:solidFill>
          <a:ln w="12700">
            <a:solidFill>
              <a:srgbClr val="0A8F8F"/>
            </a:solidFill>
            <a:prstDash val="solid"/>
          </a:ln>
        </p:spPr>
        <p:txBody>
          <a:bodyPr/>
          <a:lstStyle/>
          <a:p>
            <a:endParaRPr lang="en-IN"/>
          </a:p>
        </p:txBody>
      </p:sp>
      <p:sp>
        <p:nvSpPr>
          <p:cNvPr id="3" name="Shape 1"/>
          <p:cNvSpPr/>
          <p:nvPr/>
        </p:nvSpPr>
        <p:spPr>
          <a:xfrm>
            <a:off x="5943600" y="-1097280"/>
            <a:ext cx="4754880" cy="4754880"/>
          </a:xfrm>
          <a:prstGeom prst="ellipse">
            <a:avLst/>
          </a:prstGeom>
          <a:solidFill>
            <a:srgbClr val="122350">
              <a:alpha val="60000"/>
            </a:srgbClr>
          </a:solidFill>
          <a:ln w="12700">
            <a:solidFill>
              <a:srgbClr val="122350"/>
            </a:solidFill>
            <a:prstDash val="solid"/>
          </a:ln>
        </p:spPr>
        <p:txBody>
          <a:bodyPr/>
          <a:lstStyle/>
          <a:p>
            <a:endParaRPr lang="en-IN"/>
          </a:p>
        </p:txBody>
      </p:sp>
      <p:sp>
        <p:nvSpPr>
          <p:cNvPr id="4" name="Shape 2"/>
          <p:cNvSpPr/>
          <p:nvPr/>
        </p:nvSpPr>
        <p:spPr>
          <a:xfrm>
            <a:off x="6583680" y="-274320"/>
            <a:ext cx="2926080" cy="2926080"/>
          </a:xfrm>
          <a:prstGeom prst="ellipse">
            <a:avLst/>
          </a:prstGeom>
          <a:solidFill>
            <a:srgbClr val="0A8F8F">
              <a:alpha val="40000"/>
            </a:srgbClr>
          </a:solidFill>
          <a:ln w="12700">
            <a:solidFill>
              <a:srgbClr val="0A8F8F"/>
            </a:solidFill>
            <a:prstDash val="solid"/>
          </a:ln>
        </p:spPr>
        <p:txBody>
          <a:bodyPr/>
          <a:lstStyle/>
          <a:p>
            <a:endParaRPr lang="en-IN"/>
          </a:p>
        </p:txBody>
      </p:sp>
      <p:sp>
        <p:nvSpPr>
          <p:cNvPr id="5" name="Shape 3"/>
          <p:cNvSpPr/>
          <p:nvPr/>
        </p:nvSpPr>
        <p:spPr>
          <a:xfrm>
            <a:off x="914400" y="1188720"/>
            <a:ext cx="502920" cy="2011680"/>
          </a:xfrm>
          <a:prstGeom prst="rect">
            <a:avLst/>
          </a:prstGeom>
          <a:solidFill>
            <a:srgbClr val="0A8F8F"/>
          </a:solidFill>
          <a:ln w="12700">
            <a:solidFill>
              <a:srgbClr val="0A8F8F"/>
            </a:solidFill>
            <a:prstDash val="solid"/>
          </a:ln>
        </p:spPr>
        <p:txBody>
          <a:bodyPr/>
          <a:lstStyle/>
          <a:p>
            <a:endParaRPr lang="en-IN"/>
          </a:p>
        </p:txBody>
      </p:sp>
      <p:sp>
        <p:nvSpPr>
          <p:cNvPr id="6" name="Shape 4"/>
          <p:cNvSpPr/>
          <p:nvPr/>
        </p:nvSpPr>
        <p:spPr>
          <a:xfrm>
            <a:off x="1645920" y="1188720"/>
            <a:ext cx="502920" cy="2011680"/>
          </a:xfrm>
          <a:prstGeom prst="rect">
            <a:avLst/>
          </a:prstGeom>
          <a:solidFill>
            <a:srgbClr val="0A8F8F">
              <a:alpha val="70000"/>
            </a:srgbClr>
          </a:solidFill>
          <a:ln w="12700">
            <a:solidFill>
              <a:srgbClr val="0A8F8F"/>
            </a:solidFill>
            <a:prstDash val="solid"/>
          </a:ln>
        </p:spPr>
        <p:txBody>
          <a:bodyPr/>
          <a:lstStyle/>
          <a:p>
            <a:endParaRPr lang="en-IN"/>
          </a:p>
        </p:txBody>
      </p:sp>
      <p:sp>
        <p:nvSpPr>
          <p:cNvPr id="7" name="Shape 5"/>
          <p:cNvSpPr/>
          <p:nvPr/>
        </p:nvSpPr>
        <p:spPr>
          <a:xfrm>
            <a:off x="2377440" y="1188720"/>
            <a:ext cx="502920" cy="2011680"/>
          </a:xfrm>
          <a:prstGeom prst="rect">
            <a:avLst/>
          </a:prstGeom>
          <a:solidFill>
            <a:srgbClr val="0A8F8F">
              <a:alpha val="40000"/>
            </a:srgbClr>
          </a:solidFill>
          <a:ln w="12700">
            <a:solidFill>
              <a:srgbClr val="0A8F8F"/>
            </a:solidFill>
            <a:prstDash val="solid"/>
          </a:ln>
        </p:spPr>
        <p:txBody>
          <a:bodyPr/>
          <a:lstStyle/>
          <a:p>
            <a:endParaRPr lang="en-IN"/>
          </a:p>
        </p:txBody>
      </p:sp>
      <p:sp>
        <p:nvSpPr>
          <p:cNvPr id="8" name="Shape 6"/>
          <p:cNvSpPr/>
          <p:nvPr/>
        </p:nvSpPr>
        <p:spPr>
          <a:xfrm>
            <a:off x="822960" y="3200400"/>
            <a:ext cx="2194560" cy="164592"/>
          </a:xfrm>
          <a:prstGeom prst="rect">
            <a:avLst/>
          </a:prstGeom>
          <a:solidFill>
            <a:srgbClr val="12B8B8"/>
          </a:solidFill>
          <a:ln w="12700">
            <a:solidFill>
              <a:srgbClr val="12B8B8"/>
            </a:solidFill>
            <a:prstDash val="solid"/>
          </a:ln>
        </p:spPr>
        <p:txBody>
          <a:bodyPr/>
          <a:lstStyle/>
          <a:p>
            <a:endParaRPr lang="en-IN"/>
          </a:p>
        </p:txBody>
      </p:sp>
      <p:sp>
        <p:nvSpPr>
          <p:cNvPr id="9" name="Shape 7"/>
          <p:cNvSpPr/>
          <p:nvPr/>
        </p:nvSpPr>
        <p:spPr>
          <a:xfrm>
            <a:off x="822960" y="987552"/>
            <a:ext cx="2194560" cy="201168"/>
          </a:xfrm>
          <a:prstGeom prst="rect">
            <a:avLst/>
          </a:prstGeom>
          <a:solidFill>
            <a:srgbClr val="FFFFFF"/>
          </a:solidFill>
          <a:ln w="12700">
            <a:solidFill>
              <a:srgbClr val="FFFFFF"/>
            </a:solidFill>
            <a:prstDash val="solid"/>
          </a:ln>
        </p:spPr>
        <p:txBody>
          <a:bodyPr/>
          <a:lstStyle/>
          <a:p>
            <a:endParaRPr lang="en-IN"/>
          </a:p>
        </p:txBody>
      </p:sp>
      <p:sp>
        <p:nvSpPr>
          <p:cNvPr id="10" name="Text 8"/>
          <p:cNvSpPr/>
          <p:nvPr/>
        </p:nvSpPr>
        <p:spPr>
          <a:xfrm>
            <a:off x="3566160" y="1371600"/>
            <a:ext cx="5029200" cy="91440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Banking Application</a:t>
            </a:r>
            <a:endParaRPr lang="en-US" sz="3800" dirty="0"/>
          </a:p>
        </p:txBody>
      </p:sp>
      <p:sp>
        <p:nvSpPr>
          <p:cNvPr id="11" name="Text 9"/>
          <p:cNvSpPr/>
          <p:nvPr/>
        </p:nvSpPr>
        <p:spPr>
          <a:xfrm>
            <a:off x="3566160" y="2286000"/>
            <a:ext cx="5029200" cy="457200"/>
          </a:xfrm>
          <a:prstGeom prst="rect">
            <a:avLst/>
          </a:prstGeom>
          <a:noFill/>
          <a:ln/>
        </p:spPr>
        <p:txBody>
          <a:bodyPr wrap="square" lIns="0" tIns="0" rIns="0" bIns="0" rtlCol="0" anchor="ctr"/>
          <a:lstStyle/>
          <a:p>
            <a:pPr marL="0" indent="0">
              <a:buNone/>
            </a:pPr>
            <a:r>
              <a:rPr lang="en-US" sz="2000" dirty="0">
                <a:solidFill>
                  <a:srgbClr val="12B8B8"/>
                </a:solidFill>
                <a:latin typeface="Calibri" pitchFamily="34" charset="0"/>
                <a:ea typeface="Calibri" pitchFamily="34" charset="-122"/>
                <a:cs typeface="Calibri" pitchFamily="34" charset="-120"/>
              </a:rPr>
              <a:t>Full-Stack Project Review</a:t>
            </a:r>
            <a:endParaRPr lang="en-US" sz="2000" dirty="0"/>
          </a:p>
        </p:txBody>
      </p:sp>
      <p:sp>
        <p:nvSpPr>
          <p:cNvPr id="12" name="Shape 10"/>
          <p:cNvSpPr/>
          <p:nvPr/>
        </p:nvSpPr>
        <p:spPr>
          <a:xfrm>
            <a:off x="3566160" y="2834640"/>
            <a:ext cx="4114800" cy="36576"/>
          </a:xfrm>
          <a:prstGeom prst="rect">
            <a:avLst/>
          </a:prstGeom>
          <a:solidFill>
            <a:srgbClr val="0A8F8F"/>
          </a:solidFill>
          <a:ln w="12700">
            <a:solidFill>
              <a:srgbClr val="0A8F8F"/>
            </a:solidFill>
            <a:prstDash val="solid"/>
          </a:ln>
        </p:spPr>
        <p:txBody>
          <a:bodyPr/>
          <a:lstStyle/>
          <a:p>
            <a:endParaRPr lang="en-IN"/>
          </a:p>
        </p:txBody>
      </p:sp>
      <p:sp>
        <p:nvSpPr>
          <p:cNvPr id="13" name="Text 11"/>
          <p:cNvSpPr/>
          <p:nvPr/>
        </p:nvSpPr>
        <p:spPr>
          <a:xfrm>
            <a:off x="3566160" y="3017520"/>
            <a:ext cx="5303520" cy="822960"/>
          </a:xfrm>
          <a:prstGeom prst="rect">
            <a:avLst/>
          </a:prstGeom>
          <a:noFill/>
          <a:ln/>
        </p:spPr>
        <p:txBody>
          <a:bodyPr wrap="square" lIns="0" tIns="0" rIns="0" bIns="0" rtlCol="0" anchor="ctr"/>
          <a:lstStyle/>
          <a:p>
            <a:pPr marL="0" indent="0">
              <a:buNone/>
            </a:pPr>
            <a:r>
              <a:rPr lang="en-US" sz="1100" dirty="0">
                <a:solidFill>
                  <a:srgbClr val="CBD5E1"/>
                </a:solidFill>
                <a:latin typeface="Calibri" pitchFamily="34" charset="0"/>
                <a:ea typeface="Calibri" pitchFamily="34" charset="-122"/>
                <a:cs typeface="Calibri" pitchFamily="34" charset="-120"/>
              </a:rPr>
              <a:t>Frontend: HTML/CSS/JS  •  Backend: Java (Spark)  •  DB: MySQL</a:t>
            </a:r>
            <a:endParaRPr lang="en-US" sz="1100" dirty="0"/>
          </a:p>
          <a:p>
            <a:pPr marL="0" indent="0">
              <a:buNone/>
            </a:pPr>
            <a:r>
              <a:rPr lang="en-US" sz="1100" dirty="0">
                <a:solidFill>
                  <a:srgbClr val="7FA8CC"/>
                </a:solidFill>
                <a:latin typeface="Calibri" pitchFamily="34" charset="0"/>
                <a:ea typeface="Calibri" pitchFamily="34" charset="-122"/>
                <a:cs typeface="Calibri" pitchFamily="34" charset="-120"/>
              </a:rPr>
              <a:t>Presented by: [Your Name]  •  [Institution]  •  [Date]</a:t>
            </a:r>
            <a:endParaRPr lang="en-US" sz="1100" dirty="0"/>
          </a:p>
        </p:txBody>
      </p:sp>
      <p:sp>
        <p:nvSpPr>
          <p:cNvPr id="14" name="Shape 12"/>
          <p:cNvSpPr/>
          <p:nvPr/>
        </p:nvSpPr>
        <p:spPr>
          <a:xfrm>
            <a:off x="0" y="5001768"/>
            <a:ext cx="9144000" cy="141732"/>
          </a:xfrm>
          <a:prstGeom prst="rect">
            <a:avLst/>
          </a:prstGeom>
          <a:solidFill>
            <a:srgbClr val="0A1830"/>
          </a:solidFill>
          <a:ln w="12700">
            <a:solidFill>
              <a:srgbClr val="0A1830"/>
            </a:solidFill>
            <a:prstDash val="solid"/>
          </a:ln>
        </p:spPr>
        <p:txBody>
          <a:bodyPr/>
          <a:lstStyle/>
          <a:p>
            <a:endParaRPr lang="en-IN"/>
          </a:p>
        </p:txBody>
      </p:sp>
      <p:sp>
        <p:nvSpPr>
          <p:cNvPr id="15" name="Text 13"/>
          <p:cNvSpPr/>
          <p:nvPr/>
        </p:nvSpPr>
        <p:spPr>
          <a:xfrm>
            <a:off x="274320" y="5001768"/>
            <a:ext cx="8229600" cy="141732"/>
          </a:xfrm>
          <a:prstGeom prst="rect">
            <a:avLst/>
          </a:prstGeom>
          <a:noFill/>
          <a:ln/>
        </p:spPr>
        <p:txBody>
          <a:bodyPr wrap="square" lIns="0" tIns="0" rIns="0" bIns="0" rtlCol="0" anchor="ctr"/>
          <a:lstStyle/>
          <a:p>
            <a:pPr marL="0" indent="0">
              <a:buNone/>
            </a:pPr>
            <a:r>
              <a:rPr lang="en-US" sz="800" dirty="0">
                <a:solidFill>
                  <a:srgbClr val="6B8FAF"/>
                </a:solidFill>
                <a:latin typeface="Calibri" pitchFamily="34" charset="0"/>
                <a:ea typeface="Calibri" pitchFamily="34" charset="-122"/>
                <a:cs typeface="Calibri" pitchFamily="34" charset="-120"/>
              </a:rPr>
              <a:t>Banking Application  |  Project Review</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8F8F"/>
          </a:solidFill>
          <a:ln w="12700">
            <a:solidFill>
              <a:srgbClr val="0A8F8F"/>
            </a:solidFill>
            <a:prstDash val="solid"/>
          </a:ln>
        </p:spPr>
        <p:txBody>
          <a:bodyPr/>
          <a:lstStyle/>
          <a:p>
            <a:endParaRPr lang="en-IN"/>
          </a:p>
        </p:txBody>
      </p:sp>
      <p:sp>
        <p:nvSpPr>
          <p:cNvPr id="3" name="Text 1"/>
          <p:cNvSpPr/>
          <p:nvPr/>
        </p:nvSpPr>
        <p:spPr>
          <a:xfrm>
            <a:off x="411480" y="164592"/>
            <a:ext cx="8321040" cy="566928"/>
          </a:xfrm>
          <a:prstGeom prst="rect">
            <a:avLst/>
          </a:prstGeom>
          <a:noFill/>
          <a:ln/>
        </p:spPr>
        <p:txBody>
          <a:bodyPr wrap="square" lIns="0" tIns="0" rIns="0" bIns="0" rtlCol="0" anchor="ctr"/>
          <a:lstStyle/>
          <a:p>
            <a:pPr marL="0" indent="0">
              <a:buNone/>
            </a:pPr>
            <a:r>
              <a:rPr lang="en-US" sz="2600" b="1" dirty="0">
                <a:solidFill>
                  <a:srgbClr val="0D1B3E"/>
                </a:solidFill>
                <a:latin typeface="Calibri" pitchFamily="34" charset="0"/>
                <a:ea typeface="Calibri" pitchFamily="34" charset="-122"/>
                <a:cs typeface="Calibri" pitchFamily="34" charset="-120"/>
              </a:rPr>
              <a:t>Problem Statement</a:t>
            </a:r>
            <a:endParaRPr lang="en-US" sz="2600" dirty="0"/>
          </a:p>
        </p:txBody>
      </p:sp>
      <p:sp>
        <p:nvSpPr>
          <p:cNvPr id="4" name="Shape 2"/>
          <p:cNvSpPr/>
          <p:nvPr/>
        </p:nvSpPr>
        <p:spPr>
          <a:xfrm>
            <a:off x="411480" y="749808"/>
            <a:ext cx="8321040" cy="22860"/>
          </a:xfrm>
          <a:prstGeom prst="rect">
            <a:avLst/>
          </a:prstGeom>
          <a:solidFill>
            <a:srgbClr val="0A8F8F"/>
          </a:solidFill>
          <a:ln w="12700">
            <a:solidFill>
              <a:srgbClr val="0A8F8F"/>
            </a:solidFill>
            <a:prstDash val="solid"/>
          </a:ln>
        </p:spPr>
        <p:txBody>
          <a:bodyPr/>
          <a:lstStyle/>
          <a:p>
            <a:endParaRPr lang="en-IN"/>
          </a:p>
        </p:txBody>
      </p:sp>
      <p:sp>
        <p:nvSpPr>
          <p:cNvPr id="5" name="Shape 3"/>
          <p:cNvSpPr/>
          <p:nvPr/>
        </p:nvSpPr>
        <p:spPr>
          <a:xfrm>
            <a:off x="0" y="5001768"/>
            <a:ext cx="9144000" cy="141732"/>
          </a:xfrm>
          <a:prstGeom prst="rect">
            <a:avLst/>
          </a:prstGeom>
          <a:solidFill>
            <a:srgbClr val="0D1B3E"/>
          </a:solidFill>
          <a:ln w="12700">
            <a:solidFill>
              <a:srgbClr val="0D1B3E"/>
            </a:solidFill>
            <a:prstDash val="solid"/>
          </a:ln>
        </p:spPr>
        <p:txBody>
          <a:bodyPr/>
          <a:lstStyle/>
          <a:p>
            <a:endParaRPr lang="en-IN"/>
          </a:p>
        </p:txBody>
      </p:sp>
      <p:sp>
        <p:nvSpPr>
          <p:cNvPr id="6" name="Text 4"/>
          <p:cNvSpPr/>
          <p:nvPr/>
        </p:nvSpPr>
        <p:spPr>
          <a:xfrm>
            <a:off x="274320" y="5001768"/>
            <a:ext cx="6400800" cy="141732"/>
          </a:xfrm>
          <a:prstGeom prst="rect">
            <a:avLst/>
          </a:prstGeom>
          <a:noFill/>
          <a:ln/>
        </p:spPr>
        <p:txBody>
          <a:bodyPr wrap="square" lIns="0" tIns="0" rIns="0" bIns="0" rtlCol="0" anchor="ctr"/>
          <a:lstStyle/>
          <a:p>
            <a:pPr marL="0" indent="0">
              <a:buNone/>
            </a:pPr>
            <a:r>
              <a:rPr lang="en-US" sz="800" dirty="0">
                <a:solidFill>
                  <a:srgbClr val="8BAED4"/>
                </a:solidFill>
                <a:latin typeface="Calibri" pitchFamily="34" charset="0"/>
                <a:ea typeface="Calibri" pitchFamily="34" charset="-122"/>
                <a:cs typeface="Calibri" pitchFamily="34" charset="-120"/>
              </a:rPr>
              <a:t>Banking Application  |  Project Review</a:t>
            </a:r>
            <a:endParaRPr lang="en-US" sz="800" dirty="0"/>
          </a:p>
        </p:txBody>
      </p:sp>
      <p:sp>
        <p:nvSpPr>
          <p:cNvPr id="7" name="Text 5"/>
          <p:cNvSpPr/>
          <p:nvPr/>
        </p:nvSpPr>
        <p:spPr>
          <a:xfrm>
            <a:off x="8229600" y="5001768"/>
            <a:ext cx="731520" cy="141732"/>
          </a:xfrm>
          <a:prstGeom prst="rect">
            <a:avLst/>
          </a:prstGeom>
          <a:noFill/>
          <a:ln/>
        </p:spPr>
        <p:txBody>
          <a:bodyPr wrap="square" lIns="0" tIns="0" rIns="0" bIns="0" rtlCol="0" anchor="ctr"/>
          <a:lstStyle/>
          <a:p>
            <a:pPr marL="0" indent="0" algn="r">
              <a:buNone/>
            </a:pPr>
            <a:r>
              <a:rPr lang="en-US" sz="800" dirty="0">
                <a:solidFill>
                  <a:srgbClr val="8BAED4"/>
                </a:solidFill>
                <a:latin typeface="Calibri" pitchFamily="34" charset="0"/>
                <a:ea typeface="Calibri" pitchFamily="34" charset="-122"/>
                <a:cs typeface="Calibri" pitchFamily="34" charset="-120"/>
              </a:rPr>
              <a:t>2 / 16</a:t>
            </a:r>
            <a:endParaRPr lang="en-US" sz="800" dirty="0"/>
          </a:p>
        </p:txBody>
      </p:sp>
      <p:sp>
        <p:nvSpPr>
          <p:cNvPr id="8" name="Text 6"/>
          <p:cNvSpPr/>
          <p:nvPr/>
        </p:nvSpPr>
        <p:spPr>
          <a:xfrm>
            <a:off x="457200" y="960120"/>
            <a:ext cx="5303520" cy="3474720"/>
          </a:xfrm>
          <a:prstGeom prst="rect">
            <a:avLst/>
          </a:prstGeom>
          <a:noFill/>
          <a:ln/>
        </p:spPr>
        <p:txBody>
          <a:bodyPr wrap="square" rtlCol="0" anchor="t"/>
          <a:lstStyle/>
          <a:p>
            <a:pPr marL="342900" indent="-342900">
              <a:spcAft>
                <a:spcPts val="600"/>
              </a:spcAft>
              <a:buSzPct val="100000"/>
              <a:buChar char="•"/>
            </a:pPr>
            <a:r>
              <a:rPr lang="en-US" sz="1450" dirty="0">
                <a:solidFill>
                  <a:srgbClr val="1A2640"/>
                </a:solidFill>
                <a:latin typeface="Calibri" pitchFamily="34" charset="0"/>
                <a:ea typeface="Calibri" pitchFamily="34" charset="-122"/>
                <a:cs typeface="Calibri" pitchFamily="34" charset="-120"/>
              </a:rPr>
              <a:t>Traditional banking interfaces are complex and inaccessible to developers learning financial systems</a:t>
            </a:r>
            <a:endParaRPr lang="en-US" sz="1450" dirty="0"/>
          </a:p>
          <a:p>
            <a:pPr marL="342900" indent="-342900">
              <a:spcAft>
                <a:spcPts val="600"/>
              </a:spcAft>
              <a:buSzPct val="100000"/>
              <a:buChar char="•"/>
            </a:pPr>
            <a:r>
              <a:rPr lang="en-US" sz="1450" dirty="0">
                <a:solidFill>
                  <a:srgbClr val="1A2640"/>
                </a:solidFill>
                <a:latin typeface="Calibri" pitchFamily="34" charset="0"/>
                <a:ea typeface="Calibri" pitchFamily="34" charset="-122"/>
                <a:cs typeface="Calibri" pitchFamily="34" charset="-120"/>
              </a:rPr>
              <a:t>No lightweight reference application exists to demonstrate end-to-end banking CRUD operations</a:t>
            </a:r>
            <a:endParaRPr lang="en-US" sz="1450" dirty="0"/>
          </a:p>
          <a:p>
            <a:pPr marL="342900" indent="-342900">
              <a:spcAft>
                <a:spcPts val="600"/>
              </a:spcAft>
              <a:buSzPct val="100000"/>
              <a:buChar char="•"/>
            </a:pPr>
            <a:r>
              <a:rPr lang="en-US" sz="1450" dirty="0">
                <a:solidFill>
                  <a:srgbClr val="1A2640"/>
                </a:solidFill>
                <a:latin typeface="Calibri" pitchFamily="34" charset="0"/>
                <a:ea typeface="Calibri" pitchFamily="34" charset="-122"/>
                <a:cs typeface="Calibri" pitchFamily="34" charset="-120"/>
              </a:rPr>
              <a:t>Local development banking tools lack transaction traceability and persistent storage</a:t>
            </a:r>
            <a:endParaRPr lang="en-US" sz="1450" dirty="0"/>
          </a:p>
          <a:p>
            <a:pPr marL="342900" indent="-342900">
              <a:spcAft>
                <a:spcPts val="600"/>
              </a:spcAft>
              <a:buSzPct val="100000"/>
              <a:buChar char="•"/>
            </a:pPr>
            <a:r>
              <a:rPr lang="en-US" sz="1450" dirty="0">
                <a:solidFill>
                  <a:srgbClr val="1A2640"/>
                </a:solidFill>
                <a:latin typeface="Calibri" pitchFamily="34" charset="0"/>
                <a:ea typeface="Calibri" pitchFamily="34" charset="-122"/>
                <a:cs typeface="Calibri" pitchFamily="34" charset="-120"/>
              </a:rPr>
              <a:t>Account data is lost on server restart in most demo apps — no real persistence layer</a:t>
            </a:r>
            <a:endParaRPr lang="en-US" sz="1450" dirty="0"/>
          </a:p>
          <a:p>
            <a:pPr marL="342900" indent="-342900">
              <a:spcAft>
                <a:spcPts val="600"/>
              </a:spcAft>
              <a:buSzPct val="100000"/>
              <a:buChar char="•"/>
            </a:pPr>
            <a:r>
              <a:rPr lang="en-US" sz="1450" dirty="0">
                <a:solidFill>
                  <a:srgbClr val="1A2640"/>
                </a:solidFill>
                <a:latin typeface="Calibri" pitchFamily="34" charset="0"/>
                <a:ea typeface="Calibri" pitchFamily="34" charset="-122"/>
                <a:cs typeface="Calibri" pitchFamily="34" charset="-120"/>
              </a:rPr>
              <a:t>Developers need a simple, self-hosted banking simulation with real email notifications for critical events</a:t>
            </a:r>
            <a:endParaRPr lang="en-US" sz="1450" dirty="0"/>
          </a:p>
        </p:txBody>
      </p:sp>
      <p:sp>
        <p:nvSpPr>
          <p:cNvPr id="9" name="Shape 7"/>
          <p:cNvSpPr/>
          <p:nvPr/>
        </p:nvSpPr>
        <p:spPr>
          <a:xfrm>
            <a:off x="6035040" y="960120"/>
            <a:ext cx="2834640" cy="9144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10" name="Shape 8"/>
          <p:cNvSpPr/>
          <p:nvPr/>
        </p:nvSpPr>
        <p:spPr>
          <a:xfrm>
            <a:off x="6035040" y="960120"/>
            <a:ext cx="50292" cy="914400"/>
          </a:xfrm>
          <a:prstGeom prst="rect">
            <a:avLst/>
          </a:prstGeom>
          <a:solidFill>
            <a:srgbClr val="F0A500"/>
          </a:solidFill>
          <a:ln w="12700">
            <a:solidFill>
              <a:srgbClr val="F0A500"/>
            </a:solidFill>
            <a:prstDash val="solid"/>
          </a:ln>
        </p:spPr>
        <p:txBody>
          <a:bodyPr/>
          <a:lstStyle/>
          <a:p>
            <a:endParaRPr lang="en-IN"/>
          </a:p>
        </p:txBody>
      </p:sp>
      <p:sp>
        <p:nvSpPr>
          <p:cNvPr id="11" name="Text 9"/>
          <p:cNvSpPr/>
          <p:nvPr/>
        </p:nvSpPr>
        <p:spPr>
          <a:xfrm>
            <a:off x="6144768" y="1033272"/>
            <a:ext cx="2651760" cy="274320"/>
          </a:xfrm>
          <a:prstGeom prst="rect">
            <a:avLst/>
          </a:prstGeom>
          <a:noFill/>
          <a:ln/>
        </p:spPr>
        <p:txBody>
          <a:bodyPr wrap="square" lIns="0" tIns="0" rIns="0" bIns="0" rtlCol="0" anchor="ctr"/>
          <a:lstStyle/>
          <a:p>
            <a:pPr marL="0" indent="0">
              <a:buNone/>
            </a:pPr>
            <a:r>
              <a:rPr lang="en-US" sz="1100" b="1" dirty="0">
                <a:solidFill>
                  <a:srgbClr val="F0A500"/>
                </a:solidFill>
                <a:latin typeface="Calibri" pitchFamily="34" charset="0"/>
                <a:ea typeface="Calibri" pitchFamily="34" charset="-122"/>
                <a:cs typeface="Calibri" pitchFamily="34" charset="-120"/>
              </a:rPr>
              <a:t>DATA LOSS</a:t>
            </a:r>
            <a:endParaRPr lang="en-US" sz="1100" dirty="0"/>
          </a:p>
        </p:txBody>
      </p:sp>
      <p:sp>
        <p:nvSpPr>
          <p:cNvPr id="12" name="Text 10"/>
          <p:cNvSpPr/>
          <p:nvPr/>
        </p:nvSpPr>
        <p:spPr>
          <a:xfrm>
            <a:off x="6144768" y="1307592"/>
            <a:ext cx="2651760" cy="475488"/>
          </a:xfrm>
          <a:prstGeom prst="rect">
            <a:avLst/>
          </a:prstGeom>
          <a:noFill/>
          <a:ln/>
        </p:spPr>
        <p:txBody>
          <a:bodyPr wrap="square" lIns="0" tIns="0" rIns="0" bIns="0" rtlCol="0" anchor="t"/>
          <a:lstStyle/>
          <a:p>
            <a:pPr marL="0" indent="0">
              <a:buNone/>
            </a:pPr>
            <a:r>
              <a:rPr lang="en-US" sz="1050" dirty="0">
                <a:solidFill>
                  <a:srgbClr val="1A2640"/>
                </a:solidFill>
                <a:latin typeface="Calibri" pitchFamily="34" charset="0"/>
                <a:ea typeface="Calibri" pitchFamily="34" charset="-122"/>
                <a:cs typeface="Calibri" pitchFamily="34" charset="-120"/>
              </a:rPr>
              <a:t>No persistent storage — accounts vanish on restart</a:t>
            </a:r>
            <a:endParaRPr lang="en-US" sz="1050" dirty="0"/>
          </a:p>
        </p:txBody>
      </p:sp>
      <p:sp>
        <p:nvSpPr>
          <p:cNvPr id="13" name="Shape 11"/>
          <p:cNvSpPr/>
          <p:nvPr/>
        </p:nvSpPr>
        <p:spPr>
          <a:xfrm>
            <a:off x="6035040" y="2011680"/>
            <a:ext cx="2834640" cy="9144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14" name="Shape 12"/>
          <p:cNvSpPr/>
          <p:nvPr/>
        </p:nvSpPr>
        <p:spPr>
          <a:xfrm>
            <a:off x="6035040" y="2011680"/>
            <a:ext cx="50292" cy="914400"/>
          </a:xfrm>
          <a:prstGeom prst="rect">
            <a:avLst/>
          </a:prstGeom>
          <a:solidFill>
            <a:srgbClr val="D64040"/>
          </a:solidFill>
          <a:ln w="12700">
            <a:solidFill>
              <a:srgbClr val="D64040"/>
            </a:solidFill>
            <a:prstDash val="solid"/>
          </a:ln>
        </p:spPr>
        <p:txBody>
          <a:bodyPr/>
          <a:lstStyle/>
          <a:p>
            <a:endParaRPr lang="en-IN"/>
          </a:p>
        </p:txBody>
      </p:sp>
      <p:sp>
        <p:nvSpPr>
          <p:cNvPr id="15" name="Text 13"/>
          <p:cNvSpPr/>
          <p:nvPr/>
        </p:nvSpPr>
        <p:spPr>
          <a:xfrm>
            <a:off x="6144768" y="2084832"/>
            <a:ext cx="2651760" cy="274320"/>
          </a:xfrm>
          <a:prstGeom prst="rect">
            <a:avLst/>
          </a:prstGeom>
          <a:noFill/>
          <a:ln/>
        </p:spPr>
        <p:txBody>
          <a:bodyPr wrap="square" lIns="0" tIns="0" rIns="0" bIns="0" rtlCol="0" anchor="ctr"/>
          <a:lstStyle/>
          <a:p>
            <a:pPr marL="0" indent="0">
              <a:buNone/>
            </a:pPr>
            <a:r>
              <a:rPr lang="en-US" sz="1100" b="1" dirty="0">
                <a:solidFill>
                  <a:srgbClr val="D64040"/>
                </a:solidFill>
                <a:latin typeface="Calibri" pitchFamily="34" charset="0"/>
                <a:ea typeface="Calibri" pitchFamily="34" charset="-122"/>
                <a:cs typeface="Calibri" pitchFamily="34" charset="-120"/>
              </a:rPr>
              <a:t>NO TRACEABILITY</a:t>
            </a:r>
            <a:endParaRPr lang="en-US" sz="1100" dirty="0"/>
          </a:p>
        </p:txBody>
      </p:sp>
      <p:sp>
        <p:nvSpPr>
          <p:cNvPr id="16" name="Text 14"/>
          <p:cNvSpPr/>
          <p:nvPr/>
        </p:nvSpPr>
        <p:spPr>
          <a:xfrm>
            <a:off x="6144768" y="2359152"/>
            <a:ext cx="2651760" cy="475488"/>
          </a:xfrm>
          <a:prstGeom prst="rect">
            <a:avLst/>
          </a:prstGeom>
          <a:noFill/>
          <a:ln/>
        </p:spPr>
        <p:txBody>
          <a:bodyPr wrap="square" lIns="0" tIns="0" rIns="0" bIns="0" rtlCol="0" anchor="t"/>
          <a:lstStyle/>
          <a:p>
            <a:pPr marL="0" indent="0">
              <a:buNone/>
            </a:pPr>
            <a:r>
              <a:rPr lang="en-US" sz="1050" dirty="0">
                <a:solidFill>
                  <a:srgbClr val="1A2640"/>
                </a:solidFill>
                <a:latin typeface="Calibri" pitchFamily="34" charset="0"/>
                <a:ea typeface="Calibri" pitchFamily="34" charset="-122"/>
                <a:cs typeface="Calibri" pitchFamily="34" charset="-120"/>
              </a:rPr>
              <a:t>Transactions not logged or auditable</a:t>
            </a:r>
            <a:endParaRPr lang="en-US" sz="1050" dirty="0"/>
          </a:p>
        </p:txBody>
      </p:sp>
      <p:sp>
        <p:nvSpPr>
          <p:cNvPr id="17" name="Shape 15"/>
          <p:cNvSpPr/>
          <p:nvPr/>
        </p:nvSpPr>
        <p:spPr>
          <a:xfrm>
            <a:off x="6035040" y="3063240"/>
            <a:ext cx="2834640" cy="9144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18" name="Shape 16"/>
          <p:cNvSpPr/>
          <p:nvPr/>
        </p:nvSpPr>
        <p:spPr>
          <a:xfrm>
            <a:off x="6035040" y="3063240"/>
            <a:ext cx="50292" cy="914400"/>
          </a:xfrm>
          <a:prstGeom prst="rect">
            <a:avLst/>
          </a:prstGeom>
          <a:solidFill>
            <a:srgbClr val="0A8F8F"/>
          </a:solidFill>
          <a:ln w="12700">
            <a:solidFill>
              <a:srgbClr val="0A8F8F"/>
            </a:solidFill>
            <a:prstDash val="solid"/>
          </a:ln>
        </p:spPr>
        <p:txBody>
          <a:bodyPr/>
          <a:lstStyle/>
          <a:p>
            <a:endParaRPr lang="en-IN"/>
          </a:p>
        </p:txBody>
      </p:sp>
      <p:sp>
        <p:nvSpPr>
          <p:cNvPr id="19" name="Text 17"/>
          <p:cNvSpPr/>
          <p:nvPr/>
        </p:nvSpPr>
        <p:spPr>
          <a:xfrm>
            <a:off x="6144768" y="3136392"/>
            <a:ext cx="2651760" cy="274320"/>
          </a:xfrm>
          <a:prstGeom prst="rect">
            <a:avLst/>
          </a:prstGeom>
          <a:noFill/>
          <a:ln/>
        </p:spPr>
        <p:txBody>
          <a:bodyPr wrap="square" lIns="0" tIns="0" rIns="0" bIns="0" rtlCol="0" anchor="ctr"/>
          <a:lstStyle/>
          <a:p>
            <a:pPr marL="0" indent="0">
              <a:buNone/>
            </a:pPr>
            <a:r>
              <a:rPr lang="en-US" sz="1100" b="1" dirty="0">
                <a:solidFill>
                  <a:srgbClr val="0A8F8F"/>
                </a:solidFill>
                <a:latin typeface="Calibri" pitchFamily="34" charset="0"/>
                <a:ea typeface="Calibri" pitchFamily="34" charset="-122"/>
                <a:cs typeface="Calibri" pitchFamily="34" charset="-120"/>
              </a:rPr>
              <a:t>ZERO ALERTS</a:t>
            </a:r>
            <a:endParaRPr lang="en-US" sz="1100" dirty="0"/>
          </a:p>
        </p:txBody>
      </p:sp>
      <p:sp>
        <p:nvSpPr>
          <p:cNvPr id="20" name="Text 18"/>
          <p:cNvSpPr/>
          <p:nvPr/>
        </p:nvSpPr>
        <p:spPr>
          <a:xfrm>
            <a:off x="6144768" y="3410712"/>
            <a:ext cx="2651760" cy="475488"/>
          </a:xfrm>
          <a:prstGeom prst="rect">
            <a:avLst/>
          </a:prstGeom>
          <a:noFill/>
          <a:ln/>
        </p:spPr>
        <p:txBody>
          <a:bodyPr wrap="square" lIns="0" tIns="0" rIns="0" bIns="0" rtlCol="0" anchor="t"/>
          <a:lstStyle/>
          <a:p>
            <a:pPr marL="0" indent="0">
              <a:buNone/>
            </a:pPr>
            <a:r>
              <a:rPr lang="en-US" sz="1050" dirty="0">
                <a:solidFill>
                  <a:srgbClr val="1A2640"/>
                </a:solidFill>
                <a:latin typeface="Calibri" pitchFamily="34" charset="0"/>
                <a:ea typeface="Calibri" pitchFamily="34" charset="-122"/>
                <a:cs typeface="Calibri" pitchFamily="34" charset="-120"/>
              </a:rPr>
              <a:t>No notifications for critical low-balance events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8F8F"/>
          </a:solidFill>
          <a:ln w="12700">
            <a:solidFill>
              <a:srgbClr val="0A8F8F"/>
            </a:solidFill>
            <a:prstDash val="solid"/>
          </a:ln>
        </p:spPr>
        <p:txBody>
          <a:bodyPr/>
          <a:lstStyle/>
          <a:p>
            <a:endParaRPr lang="en-IN"/>
          </a:p>
        </p:txBody>
      </p:sp>
      <p:sp>
        <p:nvSpPr>
          <p:cNvPr id="3" name="Text 1"/>
          <p:cNvSpPr/>
          <p:nvPr/>
        </p:nvSpPr>
        <p:spPr>
          <a:xfrm>
            <a:off x="411480" y="164592"/>
            <a:ext cx="8321040" cy="566928"/>
          </a:xfrm>
          <a:prstGeom prst="rect">
            <a:avLst/>
          </a:prstGeom>
          <a:noFill/>
          <a:ln/>
        </p:spPr>
        <p:txBody>
          <a:bodyPr wrap="square" lIns="0" tIns="0" rIns="0" bIns="0" rtlCol="0" anchor="ctr"/>
          <a:lstStyle/>
          <a:p>
            <a:pPr marL="0" indent="0">
              <a:buNone/>
            </a:pPr>
            <a:r>
              <a:rPr lang="en-US" sz="2600" b="1" dirty="0">
                <a:solidFill>
                  <a:srgbClr val="0D1B3E"/>
                </a:solidFill>
                <a:latin typeface="Calibri" pitchFamily="34" charset="0"/>
                <a:ea typeface="Calibri" pitchFamily="34" charset="-122"/>
                <a:cs typeface="Calibri" pitchFamily="34" charset="-120"/>
              </a:rPr>
              <a:t>Project Objective</a:t>
            </a:r>
            <a:endParaRPr lang="en-US" sz="2600" dirty="0"/>
          </a:p>
        </p:txBody>
      </p:sp>
      <p:sp>
        <p:nvSpPr>
          <p:cNvPr id="4" name="Shape 2"/>
          <p:cNvSpPr/>
          <p:nvPr/>
        </p:nvSpPr>
        <p:spPr>
          <a:xfrm>
            <a:off x="411480" y="749808"/>
            <a:ext cx="8321040" cy="22860"/>
          </a:xfrm>
          <a:prstGeom prst="rect">
            <a:avLst/>
          </a:prstGeom>
          <a:solidFill>
            <a:srgbClr val="0A8F8F"/>
          </a:solidFill>
          <a:ln w="12700">
            <a:solidFill>
              <a:srgbClr val="0A8F8F"/>
            </a:solidFill>
            <a:prstDash val="solid"/>
          </a:ln>
        </p:spPr>
        <p:txBody>
          <a:bodyPr/>
          <a:lstStyle/>
          <a:p>
            <a:endParaRPr lang="en-IN"/>
          </a:p>
        </p:txBody>
      </p:sp>
      <p:sp>
        <p:nvSpPr>
          <p:cNvPr id="5" name="Shape 3"/>
          <p:cNvSpPr/>
          <p:nvPr/>
        </p:nvSpPr>
        <p:spPr>
          <a:xfrm>
            <a:off x="0" y="5001768"/>
            <a:ext cx="9144000" cy="141732"/>
          </a:xfrm>
          <a:prstGeom prst="rect">
            <a:avLst/>
          </a:prstGeom>
          <a:solidFill>
            <a:srgbClr val="0D1B3E"/>
          </a:solidFill>
          <a:ln w="12700">
            <a:solidFill>
              <a:srgbClr val="0D1B3E"/>
            </a:solidFill>
            <a:prstDash val="solid"/>
          </a:ln>
        </p:spPr>
        <p:txBody>
          <a:bodyPr/>
          <a:lstStyle/>
          <a:p>
            <a:endParaRPr lang="en-IN"/>
          </a:p>
        </p:txBody>
      </p:sp>
      <p:sp>
        <p:nvSpPr>
          <p:cNvPr id="6" name="Text 4"/>
          <p:cNvSpPr/>
          <p:nvPr/>
        </p:nvSpPr>
        <p:spPr>
          <a:xfrm>
            <a:off x="274320" y="5001768"/>
            <a:ext cx="6400800" cy="141732"/>
          </a:xfrm>
          <a:prstGeom prst="rect">
            <a:avLst/>
          </a:prstGeom>
          <a:noFill/>
          <a:ln/>
        </p:spPr>
        <p:txBody>
          <a:bodyPr wrap="square" lIns="0" tIns="0" rIns="0" bIns="0" rtlCol="0" anchor="ctr"/>
          <a:lstStyle/>
          <a:p>
            <a:pPr marL="0" indent="0">
              <a:buNone/>
            </a:pPr>
            <a:r>
              <a:rPr lang="en-US" sz="800" dirty="0">
                <a:solidFill>
                  <a:srgbClr val="8BAED4"/>
                </a:solidFill>
                <a:latin typeface="Calibri" pitchFamily="34" charset="0"/>
                <a:ea typeface="Calibri" pitchFamily="34" charset="-122"/>
                <a:cs typeface="Calibri" pitchFamily="34" charset="-120"/>
              </a:rPr>
              <a:t>Banking Application  |  Project Review</a:t>
            </a:r>
            <a:endParaRPr lang="en-US" sz="800" dirty="0"/>
          </a:p>
        </p:txBody>
      </p:sp>
      <p:sp>
        <p:nvSpPr>
          <p:cNvPr id="7" name="Text 5"/>
          <p:cNvSpPr/>
          <p:nvPr/>
        </p:nvSpPr>
        <p:spPr>
          <a:xfrm>
            <a:off x="8229600" y="5001768"/>
            <a:ext cx="731520" cy="141732"/>
          </a:xfrm>
          <a:prstGeom prst="rect">
            <a:avLst/>
          </a:prstGeom>
          <a:noFill/>
          <a:ln/>
        </p:spPr>
        <p:txBody>
          <a:bodyPr wrap="square" lIns="0" tIns="0" rIns="0" bIns="0" rtlCol="0" anchor="ctr"/>
          <a:lstStyle/>
          <a:p>
            <a:pPr marL="0" indent="0" algn="r">
              <a:buNone/>
            </a:pPr>
            <a:r>
              <a:rPr lang="en-US" sz="800" dirty="0">
                <a:solidFill>
                  <a:srgbClr val="8BAED4"/>
                </a:solidFill>
                <a:latin typeface="Calibri" pitchFamily="34" charset="0"/>
                <a:ea typeface="Calibri" pitchFamily="34" charset="-122"/>
                <a:cs typeface="Calibri" pitchFamily="34" charset="-120"/>
              </a:rPr>
              <a:t>3 / 16</a:t>
            </a:r>
            <a:endParaRPr lang="en-US" sz="800" dirty="0"/>
          </a:p>
        </p:txBody>
      </p:sp>
      <p:sp>
        <p:nvSpPr>
          <p:cNvPr id="8" name="Shape 6"/>
          <p:cNvSpPr/>
          <p:nvPr/>
        </p:nvSpPr>
        <p:spPr>
          <a:xfrm>
            <a:off x="411480" y="1024128"/>
            <a:ext cx="347472" cy="347472"/>
          </a:xfrm>
          <a:prstGeom prst="ellipse">
            <a:avLst/>
          </a:prstGeom>
          <a:solidFill>
            <a:srgbClr val="0A8F8F"/>
          </a:solidFill>
          <a:ln w="12700">
            <a:solidFill>
              <a:srgbClr val="0A8F8F"/>
            </a:solidFill>
            <a:prstDash val="solid"/>
          </a:ln>
        </p:spPr>
        <p:txBody>
          <a:bodyPr/>
          <a:lstStyle/>
          <a:p>
            <a:endParaRPr lang="en-IN"/>
          </a:p>
        </p:txBody>
      </p:sp>
      <p:sp>
        <p:nvSpPr>
          <p:cNvPr id="9" name="Text 7"/>
          <p:cNvSpPr/>
          <p:nvPr/>
        </p:nvSpPr>
        <p:spPr>
          <a:xfrm>
            <a:off x="411480" y="1024128"/>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1</a:t>
            </a:r>
            <a:endParaRPr lang="en-US" sz="1200" dirty="0"/>
          </a:p>
        </p:txBody>
      </p:sp>
      <p:sp>
        <p:nvSpPr>
          <p:cNvPr id="10" name="Text 8"/>
          <p:cNvSpPr/>
          <p:nvPr/>
        </p:nvSpPr>
        <p:spPr>
          <a:xfrm>
            <a:off x="868680" y="1005840"/>
            <a:ext cx="4114800" cy="256032"/>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Build a full-stack banking simulation</a:t>
            </a:r>
            <a:endParaRPr lang="en-US" sz="1300" dirty="0"/>
          </a:p>
        </p:txBody>
      </p:sp>
      <p:sp>
        <p:nvSpPr>
          <p:cNvPr id="11" name="Text 9"/>
          <p:cNvSpPr/>
          <p:nvPr/>
        </p:nvSpPr>
        <p:spPr>
          <a:xfrm>
            <a:off x="868680" y="1280160"/>
            <a:ext cx="7772400" cy="365760"/>
          </a:xfrm>
          <a:prstGeom prst="rect">
            <a:avLst/>
          </a:prstGeom>
          <a:noFill/>
          <a:ln/>
        </p:spPr>
        <p:txBody>
          <a:bodyPr wrap="square" lIns="0" tIns="0" rIns="0" bIns="0" rtlCol="0" anchor="ctr"/>
          <a:lstStyle/>
          <a:p>
            <a:pPr marL="0" indent="0">
              <a:buNone/>
            </a:pPr>
            <a:r>
              <a:rPr lang="en-US" sz="1150" dirty="0">
                <a:solidFill>
                  <a:srgbClr val="334E70"/>
                </a:solidFill>
                <a:latin typeface="Calibri" pitchFamily="34" charset="0"/>
                <a:ea typeface="Calibri" pitchFamily="34" charset="-122"/>
                <a:cs typeface="Calibri" pitchFamily="34" charset="-120"/>
              </a:rPr>
              <a:t>Using HTML/CSS/JS frontend, Java backend, and MySQL database</a:t>
            </a:r>
            <a:endParaRPr lang="en-US" sz="1150" dirty="0"/>
          </a:p>
        </p:txBody>
      </p:sp>
      <p:sp>
        <p:nvSpPr>
          <p:cNvPr id="12" name="Shape 10"/>
          <p:cNvSpPr/>
          <p:nvPr/>
        </p:nvSpPr>
        <p:spPr>
          <a:xfrm>
            <a:off x="411480" y="1783080"/>
            <a:ext cx="347472" cy="347472"/>
          </a:xfrm>
          <a:prstGeom prst="ellipse">
            <a:avLst/>
          </a:prstGeom>
          <a:solidFill>
            <a:srgbClr val="0A8F8F"/>
          </a:solidFill>
          <a:ln w="12700">
            <a:solidFill>
              <a:srgbClr val="0A8F8F"/>
            </a:solidFill>
            <a:prstDash val="solid"/>
          </a:ln>
        </p:spPr>
        <p:txBody>
          <a:bodyPr/>
          <a:lstStyle/>
          <a:p>
            <a:endParaRPr lang="en-IN"/>
          </a:p>
        </p:txBody>
      </p:sp>
      <p:sp>
        <p:nvSpPr>
          <p:cNvPr id="13" name="Text 11"/>
          <p:cNvSpPr/>
          <p:nvPr/>
        </p:nvSpPr>
        <p:spPr>
          <a:xfrm>
            <a:off x="411480" y="1783080"/>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2</a:t>
            </a:r>
            <a:endParaRPr lang="en-US" sz="1200" dirty="0"/>
          </a:p>
        </p:txBody>
      </p:sp>
      <p:sp>
        <p:nvSpPr>
          <p:cNvPr id="14" name="Text 12"/>
          <p:cNvSpPr/>
          <p:nvPr/>
        </p:nvSpPr>
        <p:spPr>
          <a:xfrm>
            <a:off x="868680" y="1764792"/>
            <a:ext cx="4114800" cy="256032"/>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Expose clean REST APIs</a:t>
            </a:r>
            <a:endParaRPr lang="en-US" sz="1300" dirty="0"/>
          </a:p>
        </p:txBody>
      </p:sp>
      <p:sp>
        <p:nvSpPr>
          <p:cNvPr id="15" name="Text 13"/>
          <p:cNvSpPr/>
          <p:nvPr/>
        </p:nvSpPr>
        <p:spPr>
          <a:xfrm>
            <a:off x="868680" y="2039112"/>
            <a:ext cx="7772400" cy="365760"/>
          </a:xfrm>
          <a:prstGeom prst="rect">
            <a:avLst/>
          </a:prstGeom>
          <a:noFill/>
          <a:ln/>
        </p:spPr>
        <p:txBody>
          <a:bodyPr wrap="square" lIns="0" tIns="0" rIns="0" bIns="0" rtlCol="0" anchor="ctr"/>
          <a:lstStyle/>
          <a:p>
            <a:pPr marL="0" indent="0">
              <a:buNone/>
            </a:pPr>
            <a:r>
              <a:rPr lang="en-US" sz="1150" dirty="0">
                <a:solidFill>
                  <a:srgbClr val="334E70"/>
                </a:solidFill>
                <a:latin typeface="Calibri" pitchFamily="34" charset="0"/>
                <a:ea typeface="Calibri" pitchFamily="34" charset="-122"/>
                <a:cs typeface="Calibri" pitchFamily="34" charset="-120"/>
              </a:rPr>
              <a:t>Via Spark Java framework on localhost:8080 for all banking operations</a:t>
            </a:r>
            <a:endParaRPr lang="en-US" sz="1150" dirty="0"/>
          </a:p>
        </p:txBody>
      </p:sp>
      <p:sp>
        <p:nvSpPr>
          <p:cNvPr id="16" name="Shape 14"/>
          <p:cNvSpPr/>
          <p:nvPr/>
        </p:nvSpPr>
        <p:spPr>
          <a:xfrm>
            <a:off x="411480" y="2542032"/>
            <a:ext cx="347472" cy="347472"/>
          </a:xfrm>
          <a:prstGeom prst="ellipse">
            <a:avLst/>
          </a:prstGeom>
          <a:solidFill>
            <a:srgbClr val="0A8F8F"/>
          </a:solidFill>
          <a:ln w="12700">
            <a:solidFill>
              <a:srgbClr val="0A8F8F"/>
            </a:solidFill>
            <a:prstDash val="solid"/>
          </a:ln>
        </p:spPr>
        <p:txBody>
          <a:bodyPr/>
          <a:lstStyle/>
          <a:p>
            <a:endParaRPr lang="en-IN"/>
          </a:p>
        </p:txBody>
      </p:sp>
      <p:sp>
        <p:nvSpPr>
          <p:cNvPr id="17" name="Text 15"/>
          <p:cNvSpPr/>
          <p:nvPr/>
        </p:nvSpPr>
        <p:spPr>
          <a:xfrm>
            <a:off x="411480" y="2542032"/>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3</a:t>
            </a:r>
            <a:endParaRPr lang="en-US" sz="1200" dirty="0"/>
          </a:p>
        </p:txBody>
      </p:sp>
      <p:sp>
        <p:nvSpPr>
          <p:cNvPr id="18" name="Text 16"/>
          <p:cNvSpPr/>
          <p:nvPr/>
        </p:nvSpPr>
        <p:spPr>
          <a:xfrm>
            <a:off x="868680" y="2523744"/>
            <a:ext cx="4114800" cy="256032"/>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Ensure data persistence</a:t>
            </a:r>
            <a:endParaRPr lang="en-US" sz="1300" dirty="0"/>
          </a:p>
        </p:txBody>
      </p:sp>
      <p:sp>
        <p:nvSpPr>
          <p:cNvPr id="19" name="Text 17"/>
          <p:cNvSpPr/>
          <p:nvPr/>
        </p:nvSpPr>
        <p:spPr>
          <a:xfrm>
            <a:off x="868680" y="2798064"/>
            <a:ext cx="7772400" cy="365760"/>
          </a:xfrm>
          <a:prstGeom prst="rect">
            <a:avLst/>
          </a:prstGeom>
          <a:noFill/>
          <a:ln/>
        </p:spPr>
        <p:txBody>
          <a:bodyPr wrap="square" lIns="0" tIns="0" rIns="0" bIns="0" rtlCol="0" anchor="ctr"/>
          <a:lstStyle/>
          <a:p>
            <a:pPr marL="0" indent="0">
              <a:buNone/>
            </a:pPr>
            <a:r>
              <a:rPr lang="en-US" sz="1150" dirty="0">
                <a:solidFill>
                  <a:srgbClr val="334E70"/>
                </a:solidFill>
                <a:latin typeface="Calibri" pitchFamily="34" charset="0"/>
                <a:ea typeface="Calibri" pitchFamily="34" charset="-122"/>
                <a:cs typeface="Calibri" pitchFamily="34" charset="-120"/>
              </a:rPr>
              <a:t>All accounts and transactions stored in MySQL — survive backend restarts</a:t>
            </a:r>
            <a:endParaRPr lang="en-US" sz="1150" dirty="0"/>
          </a:p>
        </p:txBody>
      </p:sp>
      <p:sp>
        <p:nvSpPr>
          <p:cNvPr id="20" name="Shape 18"/>
          <p:cNvSpPr/>
          <p:nvPr/>
        </p:nvSpPr>
        <p:spPr>
          <a:xfrm>
            <a:off x="411480" y="3300984"/>
            <a:ext cx="347472" cy="347472"/>
          </a:xfrm>
          <a:prstGeom prst="ellipse">
            <a:avLst/>
          </a:prstGeom>
          <a:solidFill>
            <a:srgbClr val="0A8F8F"/>
          </a:solidFill>
          <a:ln w="12700">
            <a:solidFill>
              <a:srgbClr val="0A8F8F"/>
            </a:solidFill>
            <a:prstDash val="solid"/>
          </a:ln>
        </p:spPr>
        <p:txBody>
          <a:bodyPr/>
          <a:lstStyle/>
          <a:p>
            <a:endParaRPr lang="en-IN"/>
          </a:p>
        </p:txBody>
      </p:sp>
      <p:sp>
        <p:nvSpPr>
          <p:cNvPr id="21" name="Text 19"/>
          <p:cNvSpPr/>
          <p:nvPr/>
        </p:nvSpPr>
        <p:spPr>
          <a:xfrm>
            <a:off x="411480" y="330098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4</a:t>
            </a:r>
            <a:endParaRPr lang="en-US" sz="1200" dirty="0"/>
          </a:p>
        </p:txBody>
      </p:sp>
      <p:sp>
        <p:nvSpPr>
          <p:cNvPr id="22" name="Text 20"/>
          <p:cNvSpPr/>
          <p:nvPr/>
        </p:nvSpPr>
        <p:spPr>
          <a:xfrm>
            <a:off x="868680" y="3282696"/>
            <a:ext cx="4114800" cy="256032"/>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Implement transaction logging</a:t>
            </a:r>
            <a:endParaRPr lang="en-US" sz="1300" dirty="0"/>
          </a:p>
        </p:txBody>
      </p:sp>
      <p:sp>
        <p:nvSpPr>
          <p:cNvPr id="23" name="Text 21"/>
          <p:cNvSpPr/>
          <p:nvPr/>
        </p:nvSpPr>
        <p:spPr>
          <a:xfrm>
            <a:off x="868680" y="3557016"/>
            <a:ext cx="7772400" cy="365760"/>
          </a:xfrm>
          <a:prstGeom prst="rect">
            <a:avLst/>
          </a:prstGeom>
          <a:noFill/>
          <a:ln/>
        </p:spPr>
        <p:txBody>
          <a:bodyPr wrap="square" lIns="0" tIns="0" rIns="0" bIns="0" rtlCol="0" anchor="ctr"/>
          <a:lstStyle/>
          <a:p>
            <a:pPr marL="0" indent="0">
              <a:buNone/>
            </a:pPr>
            <a:r>
              <a:rPr lang="en-US" sz="1150" dirty="0">
                <a:solidFill>
                  <a:srgbClr val="334E70"/>
                </a:solidFill>
                <a:latin typeface="Calibri" pitchFamily="34" charset="0"/>
                <a:ea typeface="Calibri" pitchFamily="34" charset="-122"/>
                <a:cs typeface="Calibri" pitchFamily="34" charset="-120"/>
              </a:rPr>
              <a:t>Every deposit, withdrawal, and transfer recorded in the transactions table</a:t>
            </a:r>
            <a:endParaRPr lang="en-US" sz="1150" dirty="0"/>
          </a:p>
        </p:txBody>
      </p:sp>
      <p:sp>
        <p:nvSpPr>
          <p:cNvPr id="24" name="Shape 22"/>
          <p:cNvSpPr/>
          <p:nvPr/>
        </p:nvSpPr>
        <p:spPr>
          <a:xfrm>
            <a:off x="411480" y="4059936"/>
            <a:ext cx="347472" cy="347472"/>
          </a:xfrm>
          <a:prstGeom prst="ellipse">
            <a:avLst/>
          </a:prstGeom>
          <a:solidFill>
            <a:srgbClr val="0A8F8F"/>
          </a:solidFill>
          <a:ln w="12700">
            <a:solidFill>
              <a:srgbClr val="0A8F8F"/>
            </a:solidFill>
            <a:prstDash val="solid"/>
          </a:ln>
        </p:spPr>
        <p:txBody>
          <a:bodyPr/>
          <a:lstStyle/>
          <a:p>
            <a:endParaRPr lang="en-IN"/>
          </a:p>
        </p:txBody>
      </p:sp>
      <p:sp>
        <p:nvSpPr>
          <p:cNvPr id="25" name="Text 23"/>
          <p:cNvSpPr/>
          <p:nvPr/>
        </p:nvSpPr>
        <p:spPr>
          <a:xfrm>
            <a:off x="411480" y="4059936"/>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rPr>
              <a:t>5</a:t>
            </a:r>
            <a:endParaRPr lang="en-US" sz="1200" dirty="0"/>
          </a:p>
        </p:txBody>
      </p:sp>
      <p:sp>
        <p:nvSpPr>
          <p:cNvPr id="26" name="Text 24"/>
          <p:cNvSpPr/>
          <p:nvPr/>
        </p:nvSpPr>
        <p:spPr>
          <a:xfrm>
            <a:off x="868680" y="4041648"/>
            <a:ext cx="4114800" cy="256032"/>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Add intelligent email alerts</a:t>
            </a:r>
            <a:endParaRPr lang="en-US" sz="1300" dirty="0"/>
          </a:p>
        </p:txBody>
      </p:sp>
      <p:sp>
        <p:nvSpPr>
          <p:cNvPr id="27" name="Text 25"/>
          <p:cNvSpPr/>
          <p:nvPr/>
        </p:nvSpPr>
        <p:spPr>
          <a:xfrm>
            <a:off x="868680" y="4315968"/>
            <a:ext cx="7772400" cy="365760"/>
          </a:xfrm>
          <a:prstGeom prst="rect">
            <a:avLst/>
          </a:prstGeom>
          <a:noFill/>
          <a:ln/>
        </p:spPr>
        <p:txBody>
          <a:bodyPr wrap="square" lIns="0" tIns="0" rIns="0" bIns="0" rtlCol="0" anchor="ctr"/>
          <a:lstStyle/>
          <a:p>
            <a:pPr marL="0" indent="0">
              <a:buNone/>
            </a:pPr>
            <a:r>
              <a:rPr lang="en-US" sz="1150" dirty="0">
                <a:solidFill>
                  <a:srgbClr val="334E70"/>
                </a:solidFill>
                <a:latin typeface="Calibri" pitchFamily="34" charset="0"/>
                <a:ea typeface="Calibri" pitchFamily="34" charset="-122"/>
                <a:cs typeface="Calibri" pitchFamily="34" charset="-120"/>
              </a:rPr>
              <a:t>Automated low-balance notifications when account drops to or below threshold</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8F8F"/>
          </a:solidFill>
          <a:ln w="12700">
            <a:solidFill>
              <a:srgbClr val="0A8F8F"/>
            </a:solidFill>
            <a:prstDash val="solid"/>
          </a:ln>
        </p:spPr>
        <p:txBody>
          <a:bodyPr/>
          <a:lstStyle/>
          <a:p>
            <a:endParaRPr lang="en-IN"/>
          </a:p>
        </p:txBody>
      </p:sp>
      <p:sp>
        <p:nvSpPr>
          <p:cNvPr id="3" name="Text 1"/>
          <p:cNvSpPr/>
          <p:nvPr/>
        </p:nvSpPr>
        <p:spPr>
          <a:xfrm>
            <a:off x="411480" y="164592"/>
            <a:ext cx="8321040" cy="566928"/>
          </a:xfrm>
          <a:prstGeom prst="rect">
            <a:avLst/>
          </a:prstGeom>
          <a:noFill/>
          <a:ln/>
        </p:spPr>
        <p:txBody>
          <a:bodyPr wrap="square" lIns="0" tIns="0" rIns="0" bIns="0" rtlCol="0" anchor="ctr"/>
          <a:lstStyle/>
          <a:p>
            <a:pPr marL="0" indent="0">
              <a:buNone/>
            </a:pPr>
            <a:r>
              <a:rPr lang="en-US" sz="2600" b="1" dirty="0">
                <a:solidFill>
                  <a:srgbClr val="0D1B3E"/>
                </a:solidFill>
                <a:latin typeface="Calibri" pitchFamily="34" charset="0"/>
                <a:ea typeface="Calibri" pitchFamily="34" charset="-122"/>
                <a:cs typeface="Calibri" pitchFamily="34" charset="-120"/>
              </a:rPr>
              <a:t>System Architecture</a:t>
            </a:r>
            <a:endParaRPr lang="en-US" sz="2600" dirty="0"/>
          </a:p>
        </p:txBody>
      </p:sp>
      <p:sp>
        <p:nvSpPr>
          <p:cNvPr id="4" name="Shape 2"/>
          <p:cNvSpPr/>
          <p:nvPr/>
        </p:nvSpPr>
        <p:spPr>
          <a:xfrm>
            <a:off x="411480" y="749808"/>
            <a:ext cx="8321040" cy="22860"/>
          </a:xfrm>
          <a:prstGeom prst="rect">
            <a:avLst/>
          </a:prstGeom>
          <a:solidFill>
            <a:srgbClr val="0A8F8F"/>
          </a:solidFill>
          <a:ln w="12700">
            <a:solidFill>
              <a:srgbClr val="0A8F8F"/>
            </a:solidFill>
            <a:prstDash val="solid"/>
          </a:ln>
        </p:spPr>
        <p:txBody>
          <a:bodyPr/>
          <a:lstStyle/>
          <a:p>
            <a:endParaRPr lang="en-IN"/>
          </a:p>
        </p:txBody>
      </p:sp>
      <p:sp>
        <p:nvSpPr>
          <p:cNvPr id="5" name="Shape 3"/>
          <p:cNvSpPr/>
          <p:nvPr/>
        </p:nvSpPr>
        <p:spPr>
          <a:xfrm>
            <a:off x="0" y="5001768"/>
            <a:ext cx="9144000" cy="141732"/>
          </a:xfrm>
          <a:prstGeom prst="rect">
            <a:avLst/>
          </a:prstGeom>
          <a:solidFill>
            <a:srgbClr val="0D1B3E"/>
          </a:solidFill>
          <a:ln w="12700">
            <a:solidFill>
              <a:srgbClr val="0D1B3E"/>
            </a:solidFill>
            <a:prstDash val="solid"/>
          </a:ln>
        </p:spPr>
        <p:txBody>
          <a:bodyPr/>
          <a:lstStyle/>
          <a:p>
            <a:endParaRPr lang="en-IN"/>
          </a:p>
        </p:txBody>
      </p:sp>
      <p:sp>
        <p:nvSpPr>
          <p:cNvPr id="6" name="Text 4"/>
          <p:cNvSpPr/>
          <p:nvPr/>
        </p:nvSpPr>
        <p:spPr>
          <a:xfrm>
            <a:off x="274320" y="5001768"/>
            <a:ext cx="6400800" cy="141732"/>
          </a:xfrm>
          <a:prstGeom prst="rect">
            <a:avLst/>
          </a:prstGeom>
          <a:noFill/>
          <a:ln/>
        </p:spPr>
        <p:txBody>
          <a:bodyPr wrap="square" lIns="0" tIns="0" rIns="0" bIns="0" rtlCol="0" anchor="ctr"/>
          <a:lstStyle/>
          <a:p>
            <a:pPr marL="0" indent="0">
              <a:buNone/>
            </a:pPr>
            <a:r>
              <a:rPr lang="en-US" sz="800" dirty="0">
                <a:solidFill>
                  <a:srgbClr val="8BAED4"/>
                </a:solidFill>
                <a:latin typeface="Calibri" pitchFamily="34" charset="0"/>
                <a:ea typeface="Calibri" pitchFamily="34" charset="-122"/>
                <a:cs typeface="Calibri" pitchFamily="34" charset="-120"/>
              </a:rPr>
              <a:t>Banking Application  |  Project Review</a:t>
            </a:r>
            <a:endParaRPr lang="en-US" sz="800" dirty="0"/>
          </a:p>
        </p:txBody>
      </p:sp>
      <p:sp>
        <p:nvSpPr>
          <p:cNvPr id="7" name="Text 5"/>
          <p:cNvSpPr/>
          <p:nvPr/>
        </p:nvSpPr>
        <p:spPr>
          <a:xfrm>
            <a:off x="8229600" y="5001768"/>
            <a:ext cx="731520" cy="141732"/>
          </a:xfrm>
          <a:prstGeom prst="rect">
            <a:avLst/>
          </a:prstGeom>
          <a:noFill/>
          <a:ln/>
        </p:spPr>
        <p:txBody>
          <a:bodyPr wrap="square" lIns="0" tIns="0" rIns="0" bIns="0" rtlCol="0" anchor="ctr"/>
          <a:lstStyle/>
          <a:p>
            <a:pPr marL="0" indent="0" algn="r">
              <a:buNone/>
            </a:pPr>
            <a:r>
              <a:rPr lang="en-US" sz="800" dirty="0">
                <a:solidFill>
                  <a:srgbClr val="8BAED4"/>
                </a:solidFill>
                <a:latin typeface="Calibri" pitchFamily="34" charset="0"/>
                <a:ea typeface="Calibri" pitchFamily="34" charset="-122"/>
                <a:cs typeface="Calibri" pitchFamily="34" charset="-120"/>
              </a:rPr>
              <a:t>6 / 16</a:t>
            </a:r>
            <a:endParaRPr lang="en-US" sz="800" dirty="0"/>
          </a:p>
        </p:txBody>
      </p:sp>
      <p:sp>
        <p:nvSpPr>
          <p:cNvPr id="8" name="Shape 6"/>
          <p:cNvSpPr/>
          <p:nvPr/>
        </p:nvSpPr>
        <p:spPr>
          <a:xfrm>
            <a:off x="365760" y="1097280"/>
            <a:ext cx="2377440" cy="1737360"/>
          </a:xfrm>
          <a:prstGeom prst="rect">
            <a:avLst/>
          </a:prstGeom>
          <a:solidFill>
            <a:srgbClr val="2563EB"/>
          </a:solidFill>
          <a:ln w="12700">
            <a:solidFill>
              <a:srgbClr val="2563EB"/>
            </a:solidFill>
            <a:prstDash val="solid"/>
          </a:ln>
          <a:effectLst>
            <a:outerShdw blurRad="101600" dist="38100" dir="8100000" algn="bl" rotWithShape="0">
              <a:srgbClr val="000000">
                <a:alpha val="12000"/>
              </a:srgbClr>
            </a:outerShdw>
          </a:effectLst>
        </p:spPr>
        <p:txBody>
          <a:bodyPr/>
          <a:lstStyle/>
          <a:p>
            <a:endParaRPr lang="en-IN"/>
          </a:p>
        </p:txBody>
      </p:sp>
      <p:sp>
        <p:nvSpPr>
          <p:cNvPr id="9" name="Text 7"/>
          <p:cNvSpPr/>
          <p:nvPr/>
        </p:nvSpPr>
        <p:spPr>
          <a:xfrm>
            <a:off x="365760" y="1188720"/>
            <a:ext cx="2377440" cy="4114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PRESENTATION LAYER</a:t>
            </a:r>
            <a:endParaRPr lang="en-US" sz="1050" dirty="0"/>
          </a:p>
        </p:txBody>
      </p:sp>
      <p:sp>
        <p:nvSpPr>
          <p:cNvPr id="10" name="Text 8"/>
          <p:cNvSpPr/>
          <p:nvPr/>
        </p:nvSpPr>
        <p:spPr>
          <a:xfrm>
            <a:off x="365760" y="1627632"/>
            <a:ext cx="2377440" cy="365760"/>
          </a:xfrm>
          <a:prstGeom prst="rect">
            <a:avLst/>
          </a:prstGeom>
          <a:noFill/>
          <a:ln/>
        </p:spPr>
        <p:txBody>
          <a:bodyPr wrap="square" lIns="0" tIns="0" rIns="0" bIns="0" rtlCol="0" anchor="ctr"/>
          <a:lstStyle/>
          <a:p>
            <a:pPr marL="0" indent="0" algn="ctr">
              <a:buNone/>
            </a:pPr>
            <a:r>
              <a:rPr lang="en-US" sz="1000" dirty="0">
                <a:solidFill>
                  <a:srgbClr val="CCE4FF"/>
                </a:solidFill>
                <a:latin typeface="Calibri" pitchFamily="34" charset="0"/>
                <a:ea typeface="Calibri" pitchFamily="34" charset="-122"/>
                <a:cs typeface="Calibri" pitchFamily="34" charset="-120"/>
              </a:rPr>
              <a:t>HTML / CSS / JavaScript</a:t>
            </a:r>
            <a:endParaRPr lang="en-US" sz="1000" dirty="0"/>
          </a:p>
        </p:txBody>
      </p:sp>
      <p:sp>
        <p:nvSpPr>
          <p:cNvPr id="11" name="Shape 9"/>
          <p:cNvSpPr/>
          <p:nvPr/>
        </p:nvSpPr>
        <p:spPr>
          <a:xfrm>
            <a:off x="3383280" y="1097280"/>
            <a:ext cx="2377440" cy="1737360"/>
          </a:xfrm>
          <a:prstGeom prst="rect">
            <a:avLst/>
          </a:prstGeom>
          <a:solidFill>
            <a:srgbClr val="0A8F8F"/>
          </a:solidFill>
          <a:ln w="12700">
            <a:solidFill>
              <a:srgbClr val="0A8F8F"/>
            </a:solidFill>
            <a:prstDash val="solid"/>
          </a:ln>
          <a:effectLst>
            <a:outerShdw blurRad="101600" dist="38100" dir="8100000" algn="bl" rotWithShape="0">
              <a:srgbClr val="000000">
                <a:alpha val="12000"/>
              </a:srgbClr>
            </a:outerShdw>
          </a:effectLst>
        </p:spPr>
        <p:txBody>
          <a:bodyPr/>
          <a:lstStyle/>
          <a:p>
            <a:endParaRPr lang="en-IN"/>
          </a:p>
        </p:txBody>
      </p:sp>
      <p:sp>
        <p:nvSpPr>
          <p:cNvPr id="12" name="Text 10"/>
          <p:cNvSpPr/>
          <p:nvPr/>
        </p:nvSpPr>
        <p:spPr>
          <a:xfrm>
            <a:off x="3383280" y="1188720"/>
            <a:ext cx="2377440" cy="4114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APPLICATION LAYER</a:t>
            </a:r>
            <a:endParaRPr lang="en-US" sz="1050" dirty="0"/>
          </a:p>
        </p:txBody>
      </p:sp>
      <p:sp>
        <p:nvSpPr>
          <p:cNvPr id="13" name="Text 11"/>
          <p:cNvSpPr/>
          <p:nvPr/>
        </p:nvSpPr>
        <p:spPr>
          <a:xfrm>
            <a:off x="3383280" y="1627632"/>
            <a:ext cx="2377440" cy="365760"/>
          </a:xfrm>
          <a:prstGeom prst="rect">
            <a:avLst/>
          </a:prstGeom>
          <a:noFill/>
          <a:ln/>
        </p:spPr>
        <p:txBody>
          <a:bodyPr wrap="square" lIns="0" tIns="0" rIns="0" bIns="0" rtlCol="0" anchor="ctr"/>
          <a:lstStyle/>
          <a:p>
            <a:pPr marL="0" indent="0" algn="ctr">
              <a:buNone/>
            </a:pPr>
            <a:r>
              <a:rPr lang="en-US" sz="1000" dirty="0">
                <a:solidFill>
                  <a:srgbClr val="CCE4FF"/>
                </a:solidFill>
                <a:latin typeface="Calibri" pitchFamily="34" charset="0"/>
                <a:ea typeface="Calibri" pitchFamily="34" charset="-122"/>
                <a:cs typeface="Calibri" pitchFamily="34" charset="-120"/>
              </a:rPr>
              <a:t>Java + Spark Java (REST API)</a:t>
            </a:r>
            <a:endParaRPr lang="en-US" sz="1000" dirty="0"/>
          </a:p>
        </p:txBody>
      </p:sp>
      <p:sp>
        <p:nvSpPr>
          <p:cNvPr id="14" name="Shape 12"/>
          <p:cNvSpPr/>
          <p:nvPr/>
        </p:nvSpPr>
        <p:spPr>
          <a:xfrm>
            <a:off x="6400800" y="1097280"/>
            <a:ext cx="2377440" cy="1737360"/>
          </a:xfrm>
          <a:prstGeom prst="rect">
            <a:avLst/>
          </a:prstGeom>
          <a:solidFill>
            <a:srgbClr val="7C3AED"/>
          </a:solidFill>
          <a:ln w="12700">
            <a:solidFill>
              <a:srgbClr val="7C3AED"/>
            </a:solidFill>
            <a:prstDash val="solid"/>
          </a:ln>
          <a:effectLst>
            <a:outerShdw blurRad="101600" dist="38100" dir="8100000" algn="bl" rotWithShape="0">
              <a:srgbClr val="000000">
                <a:alpha val="12000"/>
              </a:srgbClr>
            </a:outerShdw>
          </a:effectLst>
        </p:spPr>
        <p:txBody>
          <a:bodyPr/>
          <a:lstStyle/>
          <a:p>
            <a:endParaRPr lang="en-IN"/>
          </a:p>
        </p:txBody>
      </p:sp>
      <p:sp>
        <p:nvSpPr>
          <p:cNvPr id="15" name="Text 13"/>
          <p:cNvSpPr/>
          <p:nvPr/>
        </p:nvSpPr>
        <p:spPr>
          <a:xfrm>
            <a:off x="6400800" y="1188720"/>
            <a:ext cx="2377440" cy="41148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DATA LAYER</a:t>
            </a:r>
            <a:endParaRPr lang="en-US" sz="1050" dirty="0"/>
          </a:p>
        </p:txBody>
      </p:sp>
      <p:sp>
        <p:nvSpPr>
          <p:cNvPr id="16" name="Text 14"/>
          <p:cNvSpPr/>
          <p:nvPr/>
        </p:nvSpPr>
        <p:spPr>
          <a:xfrm>
            <a:off x="6400800" y="1627632"/>
            <a:ext cx="2377440" cy="365760"/>
          </a:xfrm>
          <a:prstGeom prst="rect">
            <a:avLst/>
          </a:prstGeom>
          <a:noFill/>
          <a:ln/>
        </p:spPr>
        <p:txBody>
          <a:bodyPr wrap="square" lIns="0" tIns="0" rIns="0" bIns="0" rtlCol="0" anchor="ctr"/>
          <a:lstStyle/>
          <a:p>
            <a:pPr marL="0" indent="0" algn="ctr">
              <a:buNone/>
            </a:pPr>
            <a:r>
              <a:rPr lang="en-US" sz="1000" dirty="0">
                <a:solidFill>
                  <a:srgbClr val="CCE4FF"/>
                </a:solidFill>
                <a:latin typeface="Calibri" pitchFamily="34" charset="0"/>
                <a:ea typeface="Calibri" pitchFamily="34" charset="-122"/>
                <a:cs typeface="Calibri" pitchFamily="34" charset="-120"/>
              </a:rPr>
              <a:t>MySQL Database</a:t>
            </a:r>
            <a:endParaRPr lang="en-US" sz="1000" dirty="0"/>
          </a:p>
        </p:txBody>
      </p:sp>
      <p:sp>
        <p:nvSpPr>
          <p:cNvPr id="17" name="Shape 15"/>
          <p:cNvSpPr/>
          <p:nvPr/>
        </p:nvSpPr>
        <p:spPr>
          <a:xfrm>
            <a:off x="2743200" y="1901952"/>
            <a:ext cx="640080" cy="36576"/>
          </a:xfrm>
          <a:prstGeom prst="rect">
            <a:avLst/>
          </a:prstGeom>
          <a:solidFill>
            <a:srgbClr val="0A8F8F"/>
          </a:solidFill>
          <a:ln w="12700">
            <a:solidFill>
              <a:srgbClr val="0A8F8F"/>
            </a:solidFill>
            <a:prstDash val="solid"/>
          </a:ln>
        </p:spPr>
        <p:txBody>
          <a:bodyPr/>
          <a:lstStyle/>
          <a:p>
            <a:endParaRPr lang="en-IN"/>
          </a:p>
        </p:txBody>
      </p:sp>
      <p:sp>
        <p:nvSpPr>
          <p:cNvPr id="18" name="Shape 16"/>
          <p:cNvSpPr/>
          <p:nvPr/>
        </p:nvSpPr>
        <p:spPr>
          <a:xfrm>
            <a:off x="3246120" y="1828800"/>
            <a:ext cx="137160" cy="182880"/>
          </a:xfrm>
          <a:prstGeom prst="rect">
            <a:avLst/>
          </a:prstGeom>
          <a:solidFill>
            <a:srgbClr val="0A8F8F"/>
          </a:solidFill>
          <a:ln w="12700">
            <a:solidFill>
              <a:srgbClr val="0A8F8F"/>
            </a:solidFill>
            <a:prstDash val="solid"/>
          </a:ln>
        </p:spPr>
        <p:txBody>
          <a:bodyPr/>
          <a:lstStyle/>
          <a:p>
            <a:endParaRPr lang="en-IN"/>
          </a:p>
        </p:txBody>
      </p:sp>
      <p:sp>
        <p:nvSpPr>
          <p:cNvPr id="19" name="Shape 17"/>
          <p:cNvSpPr/>
          <p:nvPr/>
        </p:nvSpPr>
        <p:spPr>
          <a:xfrm>
            <a:off x="5760720" y="1901952"/>
            <a:ext cx="640080" cy="36576"/>
          </a:xfrm>
          <a:prstGeom prst="rect">
            <a:avLst/>
          </a:prstGeom>
          <a:solidFill>
            <a:srgbClr val="0A8F8F"/>
          </a:solidFill>
          <a:ln w="12700">
            <a:solidFill>
              <a:srgbClr val="0A8F8F"/>
            </a:solidFill>
            <a:prstDash val="solid"/>
          </a:ln>
        </p:spPr>
        <p:txBody>
          <a:bodyPr/>
          <a:lstStyle/>
          <a:p>
            <a:endParaRPr lang="en-IN"/>
          </a:p>
        </p:txBody>
      </p:sp>
      <p:sp>
        <p:nvSpPr>
          <p:cNvPr id="20" name="Shape 18"/>
          <p:cNvSpPr/>
          <p:nvPr/>
        </p:nvSpPr>
        <p:spPr>
          <a:xfrm>
            <a:off x="6263640" y="1828800"/>
            <a:ext cx="137160" cy="182880"/>
          </a:xfrm>
          <a:prstGeom prst="rect">
            <a:avLst/>
          </a:prstGeom>
          <a:solidFill>
            <a:srgbClr val="0A8F8F"/>
          </a:solidFill>
          <a:ln w="12700">
            <a:solidFill>
              <a:srgbClr val="0A8F8F"/>
            </a:solidFill>
            <a:prstDash val="solid"/>
          </a:ln>
        </p:spPr>
        <p:txBody>
          <a:bodyPr/>
          <a:lstStyle/>
          <a:p>
            <a:endParaRPr lang="en-IN"/>
          </a:p>
        </p:txBody>
      </p:sp>
      <p:sp>
        <p:nvSpPr>
          <p:cNvPr id="21" name="Shape 19"/>
          <p:cNvSpPr/>
          <p:nvPr/>
        </p:nvSpPr>
        <p:spPr>
          <a:xfrm>
            <a:off x="365760" y="3063240"/>
            <a:ext cx="2377440" cy="109728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22" name="Text 20"/>
          <p:cNvSpPr/>
          <p:nvPr/>
        </p:nvSpPr>
        <p:spPr>
          <a:xfrm>
            <a:off x="457200" y="3127248"/>
            <a:ext cx="2194560" cy="256032"/>
          </a:xfrm>
          <a:prstGeom prst="rect">
            <a:avLst/>
          </a:prstGeom>
          <a:noFill/>
          <a:ln/>
        </p:spPr>
        <p:txBody>
          <a:bodyPr wrap="square" lIns="0" tIns="0" rIns="0" bIns="0" rtlCol="0" anchor="ctr"/>
          <a:lstStyle/>
          <a:p>
            <a:pPr marL="0" indent="0">
              <a:buNone/>
            </a:pPr>
            <a:r>
              <a:rPr lang="en-US" sz="1050" b="1" dirty="0">
                <a:solidFill>
                  <a:srgbClr val="0D1B3E"/>
                </a:solidFill>
                <a:latin typeface="Calibri" pitchFamily="34" charset="0"/>
                <a:ea typeface="Calibri" pitchFamily="34" charset="-122"/>
                <a:cs typeface="Calibri" pitchFamily="34" charset="-120"/>
              </a:rPr>
              <a:t>User Browser</a:t>
            </a:r>
            <a:endParaRPr lang="en-US" sz="1050" dirty="0"/>
          </a:p>
        </p:txBody>
      </p:sp>
      <p:sp>
        <p:nvSpPr>
          <p:cNvPr id="23" name="Text 21"/>
          <p:cNvSpPr/>
          <p:nvPr/>
        </p:nvSpPr>
        <p:spPr>
          <a:xfrm>
            <a:off x="457200" y="3401568"/>
            <a:ext cx="2194560" cy="685800"/>
          </a:xfrm>
          <a:prstGeom prst="rect">
            <a:avLst/>
          </a:prstGeom>
          <a:noFill/>
          <a:ln/>
        </p:spPr>
        <p:txBody>
          <a:bodyPr wrap="square" lIns="0" tIns="0" rIns="0" bIns="0" rtlCol="0" anchor="ctr"/>
          <a:lstStyle/>
          <a:p>
            <a:pPr marL="0" indent="0">
              <a:buNone/>
            </a:pPr>
            <a:r>
              <a:rPr lang="en-US" sz="1000" dirty="0">
                <a:solidFill>
                  <a:srgbClr val="334E70"/>
                </a:solidFill>
                <a:latin typeface="Calibri" pitchFamily="34" charset="0"/>
                <a:ea typeface="Calibri" pitchFamily="34" charset="-122"/>
                <a:cs typeface="Calibri" pitchFamily="34" charset="-120"/>
              </a:rPr>
              <a:t>fetch() → localhost:8080</a:t>
            </a:r>
            <a:endParaRPr lang="en-US" sz="1000" dirty="0"/>
          </a:p>
          <a:p>
            <a:pPr marL="0" indent="0">
              <a:buNone/>
            </a:pPr>
            <a:r>
              <a:rPr lang="en-US" sz="1000" dirty="0">
                <a:solidFill>
                  <a:srgbClr val="334E70"/>
                </a:solidFill>
                <a:latin typeface="Calibri" pitchFamily="34" charset="0"/>
                <a:ea typeface="Calibri" pitchFamily="34" charset="-122"/>
                <a:cs typeface="Calibri" pitchFamily="34" charset="-120"/>
              </a:rPr>
              <a:t>HTTP GET/POST/PUT/DELETE</a:t>
            </a:r>
            <a:endParaRPr lang="en-US" sz="1000" dirty="0"/>
          </a:p>
        </p:txBody>
      </p:sp>
      <p:sp>
        <p:nvSpPr>
          <p:cNvPr id="24" name="Shape 22"/>
          <p:cNvSpPr/>
          <p:nvPr/>
        </p:nvSpPr>
        <p:spPr>
          <a:xfrm>
            <a:off x="3383280" y="3063240"/>
            <a:ext cx="2377440" cy="109728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25" name="Text 23"/>
          <p:cNvSpPr/>
          <p:nvPr/>
        </p:nvSpPr>
        <p:spPr>
          <a:xfrm>
            <a:off x="3474720" y="3127248"/>
            <a:ext cx="2194560" cy="256032"/>
          </a:xfrm>
          <a:prstGeom prst="rect">
            <a:avLst/>
          </a:prstGeom>
          <a:noFill/>
          <a:ln/>
        </p:spPr>
        <p:txBody>
          <a:bodyPr wrap="square" lIns="0" tIns="0" rIns="0" bIns="0" rtlCol="0" anchor="ctr"/>
          <a:lstStyle/>
          <a:p>
            <a:pPr marL="0" indent="0">
              <a:buNone/>
            </a:pPr>
            <a:r>
              <a:rPr lang="en-US" sz="1050" b="1" dirty="0">
                <a:solidFill>
                  <a:srgbClr val="0D1B3E"/>
                </a:solidFill>
                <a:latin typeface="Calibri" pitchFamily="34" charset="0"/>
                <a:ea typeface="Calibri" pitchFamily="34" charset="-122"/>
                <a:cs typeface="Calibri" pitchFamily="34" charset="-120"/>
              </a:rPr>
              <a:t>REST Endpoints</a:t>
            </a:r>
            <a:endParaRPr lang="en-US" sz="1050" dirty="0"/>
          </a:p>
        </p:txBody>
      </p:sp>
      <p:sp>
        <p:nvSpPr>
          <p:cNvPr id="26" name="Text 24"/>
          <p:cNvSpPr/>
          <p:nvPr/>
        </p:nvSpPr>
        <p:spPr>
          <a:xfrm>
            <a:off x="3474720" y="3401568"/>
            <a:ext cx="2194560" cy="685800"/>
          </a:xfrm>
          <a:prstGeom prst="rect">
            <a:avLst/>
          </a:prstGeom>
          <a:noFill/>
          <a:ln/>
        </p:spPr>
        <p:txBody>
          <a:bodyPr wrap="square" lIns="0" tIns="0" rIns="0" bIns="0" rtlCol="0" anchor="ctr"/>
          <a:lstStyle/>
          <a:p>
            <a:pPr marL="0" indent="0">
              <a:buNone/>
            </a:pPr>
            <a:r>
              <a:rPr lang="en-US" sz="1000" dirty="0">
                <a:solidFill>
                  <a:srgbClr val="334E70"/>
                </a:solidFill>
                <a:latin typeface="Calibri" pitchFamily="34" charset="0"/>
                <a:ea typeface="Calibri" pitchFamily="34" charset="-122"/>
                <a:cs typeface="Calibri" pitchFamily="34" charset="-120"/>
              </a:rPr>
              <a:t>/accounts, /deposit</a:t>
            </a:r>
            <a:endParaRPr lang="en-US" sz="1000" dirty="0"/>
          </a:p>
          <a:p>
            <a:pPr marL="0" indent="0">
              <a:buNone/>
            </a:pPr>
            <a:r>
              <a:rPr lang="en-US" sz="1000" dirty="0">
                <a:solidFill>
                  <a:srgbClr val="334E70"/>
                </a:solidFill>
                <a:latin typeface="Calibri" pitchFamily="34" charset="0"/>
                <a:ea typeface="Calibri" pitchFamily="34" charset="-122"/>
                <a:cs typeface="Calibri" pitchFamily="34" charset="-120"/>
              </a:rPr>
              <a:t>/withdraw, /transfer</a:t>
            </a:r>
            <a:endParaRPr lang="en-US" sz="1000" dirty="0"/>
          </a:p>
        </p:txBody>
      </p:sp>
      <p:sp>
        <p:nvSpPr>
          <p:cNvPr id="27" name="Shape 25"/>
          <p:cNvSpPr/>
          <p:nvPr/>
        </p:nvSpPr>
        <p:spPr>
          <a:xfrm>
            <a:off x="6400800" y="3063240"/>
            <a:ext cx="2377440" cy="109728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28" name="Text 26"/>
          <p:cNvSpPr/>
          <p:nvPr/>
        </p:nvSpPr>
        <p:spPr>
          <a:xfrm>
            <a:off x="6492240" y="3127248"/>
            <a:ext cx="2194560" cy="256032"/>
          </a:xfrm>
          <a:prstGeom prst="rect">
            <a:avLst/>
          </a:prstGeom>
          <a:noFill/>
          <a:ln/>
        </p:spPr>
        <p:txBody>
          <a:bodyPr wrap="square" lIns="0" tIns="0" rIns="0" bIns="0" rtlCol="0" anchor="ctr"/>
          <a:lstStyle/>
          <a:p>
            <a:pPr marL="0" indent="0">
              <a:buNone/>
            </a:pPr>
            <a:r>
              <a:rPr lang="en-US" sz="1050" b="1" dirty="0">
                <a:solidFill>
                  <a:srgbClr val="0D1B3E"/>
                </a:solidFill>
                <a:latin typeface="Calibri" pitchFamily="34" charset="0"/>
                <a:ea typeface="Calibri" pitchFamily="34" charset="-122"/>
                <a:cs typeface="Calibri" pitchFamily="34" charset="-120"/>
              </a:rPr>
              <a:t>Tables</a:t>
            </a:r>
            <a:endParaRPr lang="en-US" sz="1050" dirty="0"/>
          </a:p>
        </p:txBody>
      </p:sp>
      <p:sp>
        <p:nvSpPr>
          <p:cNvPr id="29" name="Text 27"/>
          <p:cNvSpPr/>
          <p:nvPr/>
        </p:nvSpPr>
        <p:spPr>
          <a:xfrm>
            <a:off x="6492240" y="3401568"/>
            <a:ext cx="2194560" cy="685800"/>
          </a:xfrm>
          <a:prstGeom prst="rect">
            <a:avLst/>
          </a:prstGeom>
          <a:noFill/>
          <a:ln/>
        </p:spPr>
        <p:txBody>
          <a:bodyPr wrap="square" lIns="0" tIns="0" rIns="0" bIns="0" rtlCol="0" anchor="ctr"/>
          <a:lstStyle/>
          <a:p>
            <a:pPr marL="0" indent="0">
              <a:buNone/>
            </a:pPr>
            <a:r>
              <a:rPr lang="en-US" sz="1000" dirty="0">
                <a:solidFill>
                  <a:srgbClr val="334E70"/>
                </a:solidFill>
                <a:latin typeface="Calibri" pitchFamily="34" charset="0"/>
                <a:ea typeface="Calibri" pitchFamily="34" charset="-122"/>
                <a:cs typeface="Calibri" pitchFamily="34" charset="-120"/>
              </a:rPr>
              <a:t>accounts</a:t>
            </a:r>
            <a:endParaRPr lang="en-US" sz="1000" dirty="0"/>
          </a:p>
          <a:p>
            <a:pPr marL="0" indent="0">
              <a:buNone/>
            </a:pPr>
            <a:r>
              <a:rPr lang="en-US" sz="1000" dirty="0">
                <a:solidFill>
                  <a:srgbClr val="334E70"/>
                </a:solidFill>
                <a:latin typeface="Calibri" pitchFamily="34" charset="0"/>
                <a:ea typeface="Calibri" pitchFamily="34" charset="-122"/>
                <a:cs typeface="Calibri" pitchFamily="34" charset="-120"/>
              </a:rPr>
              <a:t>transactions</a:t>
            </a:r>
            <a:endParaRPr lang="en-US" sz="1000" dirty="0"/>
          </a:p>
        </p:txBody>
      </p:sp>
      <p:sp>
        <p:nvSpPr>
          <p:cNvPr id="30" name="Shape 28"/>
          <p:cNvSpPr/>
          <p:nvPr/>
        </p:nvSpPr>
        <p:spPr>
          <a:xfrm>
            <a:off x="3337560" y="4297680"/>
            <a:ext cx="2468880" cy="457200"/>
          </a:xfrm>
          <a:prstGeom prst="rect">
            <a:avLst/>
          </a:prstGeom>
          <a:solidFill>
            <a:srgbClr val="FEF3C7"/>
          </a:solidFill>
          <a:ln w="12700">
            <a:solidFill>
              <a:srgbClr val="F0A500"/>
            </a:solidFill>
            <a:prstDash val="solid"/>
          </a:ln>
        </p:spPr>
        <p:txBody>
          <a:bodyPr/>
          <a:lstStyle/>
          <a:p>
            <a:endParaRPr lang="en-IN"/>
          </a:p>
        </p:txBody>
      </p:sp>
      <p:sp>
        <p:nvSpPr>
          <p:cNvPr id="31" name="Text 29"/>
          <p:cNvSpPr/>
          <p:nvPr/>
        </p:nvSpPr>
        <p:spPr>
          <a:xfrm>
            <a:off x="3429000" y="4315968"/>
            <a:ext cx="2286000" cy="411480"/>
          </a:xfrm>
          <a:prstGeom prst="rect">
            <a:avLst/>
          </a:prstGeom>
          <a:noFill/>
          <a:ln/>
        </p:spPr>
        <p:txBody>
          <a:bodyPr wrap="square" lIns="0" tIns="0" rIns="0" bIns="0" rtlCol="0" anchor="ctr"/>
          <a:lstStyle/>
          <a:p>
            <a:pPr marL="0" indent="0">
              <a:buNone/>
            </a:pPr>
            <a:r>
              <a:rPr lang="en-US" sz="1000" dirty="0">
                <a:solidFill>
                  <a:srgbClr val="92400E"/>
                </a:solidFill>
                <a:latin typeface="Calibri" pitchFamily="34" charset="0"/>
                <a:ea typeface="Calibri" pitchFamily="34" charset="-122"/>
                <a:cs typeface="Calibri" pitchFamily="34" charset="-120"/>
              </a:rPr>
              <a:t>📧  Low Balance → JavaMail SMTP Alert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8F8F"/>
          </a:solidFill>
          <a:ln w="12700">
            <a:solidFill>
              <a:srgbClr val="0A8F8F"/>
            </a:solidFill>
            <a:prstDash val="solid"/>
          </a:ln>
        </p:spPr>
        <p:txBody>
          <a:bodyPr/>
          <a:lstStyle/>
          <a:p>
            <a:endParaRPr lang="en-IN"/>
          </a:p>
        </p:txBody>
      </p:sp>
      <p:sp>
        <p:nvSpPr>
          <p:cNvPr id="3" name="Text 1"/>
          <p:cNvSpPr/>
          <p:nvPr/>
        </p:nvSpPr>
        <p:spPr>
          <a:xfrm>
            <a:off x="411480" y="164592"/>
            <a:ext cx="8321040" cy="566928"/>
          </a:xfrm>
          <a:prstGeom prst="rect">
            <a:avLst/>
          </a:prstGeom>
          <a:noFill/>
          <a:ln/>
        </p:spPr>
        <p:txBody>
          <a:bodyPr wrap="square" lIns="0" tIns="0" rIns="0" bIns="0" rtlCol="0" anchor="ctr"/>
          <a:lstStyle/>
          <a:p>
            <a:pPr marL="0" indent="0">
              <a:buNone/>
            </a:pPr>
            <a:r>
              <a:rPr lang="en-US" sz="2600" b="1" dirty="0">
                <a:solidFill>
                  <a:srgbClr val="0D1B3E"/>
                </a:solidFill>
                <a:latin typeface="Calibri" pitchFamily="34" charset="0"/>
                <a:ea typeface="Calibri" pitchFamily="34" charset="-122"/>
                <a:cs typeface="Calibri" pitchFamily="34" charset="-120"/>
              </a:rPr>
              <a:t>Modules &amp; Features</a:t>
            </a:r>
            <a:endParaRPr lang="en-US" sz="2600" dirty="0"/>
          </a:p>
        </p:txBody>
      </p:sp>
      <p:sp>
        <p:nvSpPr>
          <p:cNvPr id="4" name="Shape 2"/>
          <p:cNvSpPr/>
          <p:nvPr/>
        </p:nvSpPr>
        <p:spPr>
          <a:xfrm>
            <a:off x="411480" y="749808"/>
            <a:ext cx="8321040" cy="22860"/>
          </a:xfrm>
          <a:prstGeom prst="rect">
            <a:avLst/>
          </a:prstGeom>
          <a:solidFill>
            <a:srgbClr val="0A8F8F"/>
          </a:solidFill>
          <a:ln w="12700">
            <a:solidFill>
              <a:srgbClr val="0A8F8F"/>
            </a:solidFill>
            <a:prstDash val="solid"/>
          </a:ln>
        </p:spPr>
        <p:txBody>
          <a:bodyPr/>
          <a:lstStyle/>
          <a:p>
            <a:endParaRPr lang="en-IN"/>
          </a:p>
        </p:txBody>
      </p:sp>
      <p:sp>
        <p:nvSpPr>
          <p:cNvPr id="5" name="Shape 3"/>
          <p:cNvSpPr/>
          <p:nvPr/>
        </p:nvSpPr>
        <p:spPr>
          <a:xfrm>
            <a:off x="0" y="5001768"/>
            <a:ext cx="9144000" cy="141732"/>
          </a:xfrm>
          <a:prstGeom prst="rect">
            <a:avLst/>
          </a:prstGeom>
          <a:solidFill>
            <a:srgbClr val="0D1B3E"/>
          </a:solidFill>
          <a:ln w="12700">
            <a:solidFill>
              <a:srgbClr val="0D1B3E"/>
            </a:solidFill>
            <a:prstDash val="solid"/>
          </a:ln>
        </p:spPr>
        <p:txBody>
          <a:bodyPr/>
          <a:lstStyle/>
          <a:p>
            <a:endParaRPr lang="en-IN"/>
          </a:p>
        </p:txBody>
      </p:sp>
      <p:sp>
        <p:nvSpPr>
          <p:cNvPr id="6" name="Text 4"/>
          <p:cNvSpPr/>
          <p:nvPr/>
        </p:nvSpPr>
        <p:spPr>
          <a:xfrm>
            <a:off x="274320" y="5001768"/>
            <a:ext cx="6400800" cy="141732"/>
          </a:xfrm>
          <a:prstGeom prst="rect">
            <a:avLst/>
          </a:prstGeom>
          <a:noFill/>
          <a:ln/>
        </p:spPr>
        <p:txBody>
          <a:bodyPr wrap="square" lIns="0" tIns="0" rIns="0" bIns="0" rtlCol="0" anchor="ctr"/>
          <a:lstStyle/>
          <a:p>
            <a:pPr marL="0" indent="0">
              <a:buNone/>
            </a:pPr>
            <a:r>
              <a:rPr lang="en-US" sz="800" dirty="0">
                <a:solidFill>
                  <a:srgbClr val="8BAED4"/>
                </a:solidFill>
                <a:latin typeface="Calibri" pitchFamily="34" charset="0"/>
                <a:ea typeface="Calibri" pitchFamily="34" charset="-122"/>
                <a:cs typeface="Calibri" pitchFamily="34" charset="-120"/>
              </a:rPr>
              <a:t>Banking Application  |  Project Review</a:t>
            </a:r>
            <a:endParaRPr lang="en-US" sz="800" dirty="0"/>
          </a:p>
        </p:txBody>
      </p:sp>
      <p:sp>
        <p:nvSpPr>
          <p:cNvPr id="7" name="Text 5"/>
          <p:cNvSpPr/>
          <p:nvPr/>
        </p:nvSpPr>
        <p:spPr>
          <a:xfrm>
            <a:off x="8229600" y="5001768"/>
            <a:ext cx="731520" cy="141732"/>
          </a:xfrm>
          <a:prstGeom prst="rect">
            <a:avLst/>
          </a:prstGeom>
          <a:noFill/>
          <a:ln/>
        </p:spPr>
        <p:txBody>
          <a:bodyPr wrap="square" lIns="0" tIns="0" rIns="0" bIns="0" rtlCol="0" anchor="ctr"/>
          <a:lstStyle/>
          <a:p>
            <a:pPr marL="0" indent="0" algn="r">
              <a:buNone/>
            </a:pPr>
            <a:r>
              <a:rPr lang="en-US" sz="800" dirty="0">
                <a:solidFill>
                  <a:srgbClr val="8BAED4"/>
                </a:solidFill>
                <a:latin typeface="Calibri" pitchFamily="34" charset="0"/>
                <a:ea typeface="Calibri" pitchFamily="34" charset="-122"/>
                <a:cs typeface="Calibri" pitchFamily="34" charset="-120"/>
              </a:rPr>
              <a:t>7 / 16</a:t>
            </a:r>
            <a:endParaRPr lang="en-US" sz="800" dirty="0"/>
          </a:p>
        </p:txBody>
      </p:sp>
      <p:sp>
        <p:nvSpPr>
          <p:cNvPr id="8" name="Shape 6"/>
          <p:cNvSpPr/>
          <p:nvPr/>
        </p:nvSpPr>
        <p:spPr>
          <a:xfrm>
            <a:off x="274320" y="1005840"/>
            <a:ext cx="2011680" cy="16002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9" name="Shape 7"/>
          <p:cNvSpPr/>
          <p:nvPr/>
        </p:nvSpPr>
        <p:spPr>
          <a:xfrm>
            <a:off x="274320" y="1005840"/>
            <a:ext cx="2011680" cy="54864"/>
          </a:xfrm>
          <a:prstGeom prst="rect">
            <a:avLst/>
          </a:prstGeom>
          <a:solidFill>
            <a:srgbClr val="2563EB"/>
          </a:solidFill>
          <a:ln w="12700">
            <a:solidFill>
              <a:srgbClr val="2563EB"/>
            </a:solidFill>
            <a:prstDash val="solid"/>
          </a:ln>
        </p:spPr>
        <p:txBody>
          <a:bodyPr/>
          <a:lstStyle/>
          <a:p>
            <a:endParaRPr lang="en-IN"/>
          </a:p>
        </p:txBody>
      </p:sp>
      <p:sp>
        <p:nvSpPr>
          <p:cNvPr id="10" name="Text 8"/>
          <p:cNvSpPr/>
          <p:nvPr/>
        </p:nvSpPr>
        <p:spPr>
          <a:xfrm>
            <a:off x="274320" y="1097280"/>
            <a:ext cx="201168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1" name="Text 9"/>
          <p:cNvSpPr/>
          <p:nvPr/>
        </p:nvSpPr>
        <p:spPr>
          <a:xfrm>
            <a:off x="320040" y="1508760"/>
            <a:ext cx="1920240" cy="274320"/>
          </a:xfrm>
          <a:prstGeom prst="rect">
            <a:avLst/>
          </a:prstGeom>
          <a:noFill/>
          <a:ln/>
        </p:spPr>
        <p:txBody>
          <a:bodyPr wrap="square" lIns="0" tIns="0" rIns="0" bIns="0" rtlCol="0" anchor="ctr"/>
          <a:lstStyle/>
          <a:p>
            <a:pPr marL="0" indent="0" algn="ctr">
              <a:buNone/>
            </a:pPr>
            <a:r>
              <a:rPr lang="en-US" sz="1100" b="1" dirty="0">
                <a:solidFill>
                  <a:srgbClr val="2563EB"/>
                </a:solidFill>
                <a:latin typeface="Calibri" pitchFamily="34" charset="0"/>
                <a:ea typeface="Calibri" pitchFamily="34" charset="-122"/>
                <a:cs typeface="Calibri" pitchFamily="34" charset="-120"/>
              </a:rPr>
              <a:t>Create Account</a:t>
            </a:r>
            <a:endParaRPr lang="en-US" sz="1100" dirty="0"/>
          </a:p>
        </p:txBody>
      </p:sp>
      <p:sp>
        <p:nvSpPr>
          <p:cNvPr id="12" name="Text 10"/>
          <p:cNvSpPr/>
          <p:nvPr/>
        </p:nvSpPr>
        <p:spPr>
          <a:xfrm>
            <a:off x="347472" y="1810512"/>
            <a:ext cx="1865376" cy="731520"/>
          </a:xfrm>
          <a:prstGeom prst="rect">
            <a:avLst/>
          </a:prstGeom>
          <a:noFill/>
          <a:ln/>
        </p:spPr>
        <p:txBody>
          <a:bodyPr wrap="square" lIns="0" tIns="0" rIns="0" bIns="0" rtlCol="0" anchor="ctr"/>
          <a:lstStyle/>
          <a:p>
            <a:pPr marL="0" indent="0" algn="ctr">
              <a:buNone/>
            </a:pPr>
            <a:r>
              <a:rPr lang="en-US" sz="950" dirty="0">
                <a:solidFill>
                  <a:srgbClr val="334E70"/>
                </a:solidFill>
                <a:latin typeface="Calibri" pitchFamily="34" charset="0"/>
                <a:ea typeface="Calibri" pitchFamily="34" charset="-122"/>
                <a:cs typeface="Calibri" pitchFamily="34" charset="-120"/>
              </a:rPr>
              <a:t>Opens a new bank account with name, initial deposit &amp; account ID</a:t>
            </a:r>
            <a:endParaRPr lang="en-US" sz="950" dirty="0"/>
          </a:p>
        </p:txBody>
      </p:sp>
      <p:sp>
        <p:nvSpPr>
          <p:cNvPr id="13" name="Shape 11"/>
          <p:cNvSpPr/>
          <p:nvPr/>
        </p:nvSpPr>
        <p:spPr>
          <a:xfrm>
            <a:off x="2450592" y="1005840"/>
            <a:ext cx="2011680" cy="16002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14" name="Shape 12"/>
          <p:cNvSpPr/>
          <p:nvPr/>
        </p:nvSpPr>
        <p:spPr>
          <a:xfrm>
            <a:off x="2450592" y="1005840"/>
            <a:ext cx="2011680" cy="54864"/>
          </a:xfrm>
          <a:prstGeom prst="rect">
            <a:avLst/>
          </a:prstGeom>
          <a:solidFill>
            <a:srgbClr val="0D6E2E"/>
          </a:solidFill>
          <a:ln w="12700">
            <a:solidFill>
              <a:srgbClr val="0D6E2E"/>
            </a:solidFill>
            <a:prstDash val="solid"/>
          </a:ln>
        </p:spPr>
        <p:txBody>
          <a:bodyPr/>
          <a:lstStyle/>
          <a:p>
            <a:endParaRPr lang="en-IN"/>
          </a:p>
        </p:txBody>
      </p:sp>
      <p:sp>
        <p:nvSpPr>
          <p:cNvPr id="15" name="Text 13"/>
          <p:cNvSpPr/>
          <p:nvPr/>
        </p:nvSpPr>
        <p:spPr>
          <a:xfrm>
            <a:off x="2450592" y="1097280"/>
            <a:ext cx="201168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6" name="Text 14"/>
          <p:cNvSpPr/>
          <p:nvPr/>
        </p:nvSpPr>
        <p:spPr>
          <a:xfrm>
            <a:off x="2496312" y="1508760"/>
            <a:ext cx="1920240" cy="274320"/>
          </a:xfrm>
          <a:prstGeom prst="rect">
            <a:avLst/>
          </a:prstGeom>
          <a:noFill/>
          <a:ln/>
        </p:spPr>
        <p:txBody>
          <a:bodyPr wrap="square" lIns="0" tIns="0" rIns="0" bIns="0" rtlCol="0" anchor="ctr"/>
          <a:lstStyle/>
          <a:p>
            <a:pPr marL="0" indent="0" algn="ctr">
              <a:buNone/>
            </a:pPr>
            <a:r>
              <a:rPr lang="en-US" sz="1100" b="1" dirty="0">
                <a:solidFill>
                  <a:srgbClr val="0D6E2E"/>
                </a:solidFill>
                <a:latin typeface="Calibri" pitchFamily="34" charset="0"/>
                <a:ea typeface="Calibri" pitchFamily="34" charset="-122"/>
                <a:cs typeface="Calibri" pitchFamily="34" charset="-120"/>
              </a:rPr>
              <a:t>Deposit Money</a:t>
            </a:r>
            <a:endParaRPr lang="en-US" sz="1100" dirty="0"/>
          </a:p>
        </p:txBody>
      </p:sp>
      <p:sp>
        <p:nvSpPr>
          <p:cNvPr id="17" name="Text 15"/>
          <p:cNvSpPr/>
          <p:nvPr/>
        </p:nvSpPr>
        <p:spPr>
          <a:xfrm>
            <a:off x="2523744" y="1810512"/>
            <a:ext cx="1865376" cy="731520"/>
          </a:xfrm>
          <a:prstGeom prst="rect">
            <a:avLst/>
          </a:prstGeom>
          <a:noFill/>
          <a:ln/>
        </p:spPr>
        <p:txBody>
          <a:bodyPr wrap="square" lIns="0" tIns="0" rIns="0" bIns="0" rtlCol="0" anchor="ctr"/>
          <a:lstStyle/>
          <a:p>
            <a:pPr marL="0" indent="0" algn="ctr">
              <a:buNone/>
            </a:pPr>
            <a:r>
              <a:rPr lang="en-US" sz="950" dirty="0">
                <a:solidFill>
                  <a:srgbClr val="334E70"/>
                </a:solidFill>
                <a:latin typeface="Calibri" pitchFamily="34" charset="0"/>
                <a:ea typeface="Calibri" pitchFamily="34" charset="-122"/>
                <a:cs typeface="Calibri" pitchFamily="34" charset="-120"/>
              </a:rPr>
              <a:t>Adds funds to any account; transaction logged instantly</a:t>
            </a:r>
            <a:endParaRPr lang="en-US" sz="950" dirty="0"/>
          </a:p>
        </p:txBody>
      </p:sp>
      <p:sp>
        <p:nvSpPr>
          <p:cNvPr id="18" name="Shape 16"/>
          <p:cNvSpPr/>
          <p:nvPr/>
        </p:nvSpPr>
        <p:spPr>
          <a:xfrm>
            <a:off x="4626864" y="1005840"/>
            <a:ext cx="2011680" cy="16002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19" name="Shape 17"/>
          <p:cNvSpPr/>
          <p:nvPr/>
        </p:nvSpPr>
        <p:spPr>
          <a:xfrm>
            <a:off x="4626864" y="1005840"/>
            <a:ext cx="2011680" cy="54864"/>
          </a:xfrm>
          <a:prstGeom prst="rect">
            <a:avLst/>
          </a:prstGeom>
          <a:solidFill>
            <a:srgbClr val="D64040"/>
          </a:solidFill>
          <a:ln w="12700">
            <a:solidFill>
              <a:srgbClr val="D64040"/>
            </a:solidFill>
            <a:prstDash val="solid"/>
          </a:ln>
        </p:spPr>
        <p:txBody>
          <a:bodyPr/>
          <a:lstStyle/>
          <a:p>
            <a:endParaRPr lang="en-IN"/>
          </a:p>
        </p:txBody>
      </p:sp>
      <p:sp>
        <p:nvSpPr>
          <p:cNvPr id="20" name="Text 18"/>
          <p:cNvSpPr/>
          <p:nvPr/>
        </p:nvSpPr>
        <p:spPr>
          <a:xfrm>
            <a:off x="4626864" y="1097280"/>
            <a:ext cx="201168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1" name="Text 19"/>
          <p:cNvSpPr/>
          <p:nvPr/>
        </p:nvSpPr>
        <p:spPr>
          <a:xfrm>
            <a:off x="4672584" y="1508760"/>
            <a:ext cx="1920240" cy="274320"/>
          </a:xfrm>
          <a:prstGeom prst="rect">
            <a:avLst/>
          </a:prstGeom>
          <a:noFill/>
          <a:ln/>
        </p:spPr>
        <p:txBody>
          <a:bodyPr wrap="square" lIns="0" tIns="0" rIns="0" bIns="0" rtlCol="0" anchor="ctr"/>
          <a:lstStyle/>
          <a:p>
            <a:pPr marL="0" indent="0" algn="ctr">
              <a:buNone/>
            </a:pPr>
            <a:r>
              <a:rPr lang="en-US" sz="1100" b="1" dirty="0">
                <a:solidFill>
                  <a:srgbClr val="D64040"/>
                </a:solidFill>
                <a:latin typeface="Calibri" pitchFamily="34" charset="0"/>
                <a:ea typeface="Calibri" pitchFamily="34" charset="-122"/>
                <a:cs typeface="Calibri" pitchFamily="34" charset="-120"/>
              </a:rPr>
              <a:t>Withdraw Money</a:t>
            </a:r>
            <a:endParaRPr lang="en-US" sz="1100" dirty="0"/>
          </a:p>
        </p:txBody>
      </p:sp>
      <p:sp>
        <p:nvSpPr>
          <p:cNvPr id="22" name="Text 20"/>
          <p:cNvSpPr/>
          <p:nvPr/>
        </p:nvSpPr>
        <p:spPr>
          <a:xfrm>
            <a:off x="4700016" y="1810512"/>
            <a:ext cx="1865376" cy="731520"/>
          </a:xfrm>
          <a:prstGeom prst="rect">
            <a:avLst/>
          </a:prstGeom>
          <a:noFill/>
          <a:ln/>
        </p:spPr>
        <p:txBody>
          <a:bodyPr wrap="square" lIns="0" tIns="0" rIns="0" bIns="0" rtlCol="0" anchor="ctr"/>
          <a:lstStyle/>
          <a:p>
            <a:pPr marL="0" indent="0" algn="ctr">
              <a:buNone/>
            </a:pPr>
            <a:r>
              <a:rPr lang="en-US" sz="950" dirty="0">
                <a:solidFill>
                  <a:srgbClr val="334E70"/>
                </a:solidFill>
                <a:latin typeface="Calibri" pitchFamily="34" charset="0"/>
                <a:ea typeface="Calibri" pitchFamily="34" charset="-122"/>
                <a:cs typeface="Calibri" pitchFamily="34" charset="-120"/>
              </a:rPr>
              <a:t>Debits account; validates sufficient balance before processing</a:t>
            </a:r>
            <a:endParaRPr lang="en-US" sz="950" dirty="0"/>
          </a:p>
        </p:txBody>
      </p:sp>
      <p:sp>
        <p:nvSpPr>
          <p:cNvPr id="23" name="Shape 21"/>
          <p:cNvSpPr/>
          <p:nvPr/>
        </p:nvSpPr>
        <p:spPr>
          <a:xfrm>
            <a:off x="6803136" y="1005840"/>
            <a:ext cx="2011680" cy="16002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24" name="Shape 22"/>
          <p:cNvSpPr/>
          <p:nvPr/>
        </p:nvSpPr>
        <p:spPr>
          <a:xfrm>
            <a:off x="6803136" y="1005840"/>
            <a:ext cx="2011680" cy="54864"/>
          </a:xfrm>
          <a:prstGeom prst="rect">
            <a:avLst/>
          </a:prstGeom>
          <a:solidFill>
            <a:srgbClr val="7C3AED"/>
          </a:solidFill>
          <a:ln w="12700">
            <a:solidFill>
              <a:srgbClr val="7C3AED"/>
            </a:solidFill>
            <a:prstDash val="solid"/>
          </a:ln>
        </p:spPr>
        <p:txBody>
          <a:bodyPr/>
          <a:lstStyle/>
          <a:p>
            <a:endParaRPr lang="en-IN"/>
          </a:p>
        </p:txBody>
      </p:sp>
      <p:sp>
        <p:nvSpPr>
          <p:cNvPr id="25" name="Text 23"/>
          <p:cNvSpPr/>
          <p:nvPr/>
        </p:nvSpPr>
        <p:spPr>
          <a:xfrm>
            <a:off x="6803136" y="1097280"/>
            <a:ext cx="201168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6" name="Text 24"/>
          <p:cNvSpPr/>
          <p:nvPr/>
        </p:nvSpPr>
        <p:spPr>
          <a:xfrm>
            <a:off x="6848856" y="1508760"/>
            <a:ext cx="1920240" cy="274320"/>
          </a:xfrm>
          <a:prstGeom prst="rect">
            <a:avLst/>
          </a:prstGeom>
          <a:noFill/>
          <a:ln/>
        </p:spPr>
        <p:txBody>
          <a:bodyPr wrap="square" lIns="0" tIns="0" rIns="0" bIns="0" rtlCol="0" anchor="ctr"/>
          <a:lstStyle/>
          <a:p>
            <a:pPr marL="0" indent="0" algn="ctr">
              <a:buNone/>
            </a:pPr>
            <a:r>
              <a:rPr lang="en-US" sz="1100" b="1" dirty="0">
                <a:solidFill>
                  <a:srgbClr val="7C3AED"/>
                </a:solidFill>
                <a:latin typeface="Calibri" pitchFamily="34" charset="0"/>
                <a:ea typeface="Calibri" pitchFamily="34" charset="-122"/>
                <a:cs typeface="Calibri" pitchFamily="34" charset="-120"/>
              </a:rPr>
              <a:t>Transfer Money</a:t>
            </a:r>
            <a:endParaRPr lang="en-US" sz="1100" dirty="0"/>
          </a:p>
        </p:txBody>
      </p:sp>
      <p:sp>
        <p:nvSpPr>
          <p:cNvPr id="27" name="Text 25"/>
          <p:cNvSpPr/>
          <p:nvPr/>
        </p:nvSpPr>
        <p:spPr>
          <a:xfrm>
            <a:off x="6876288" y="1810512"/>
            <a:ext cx="1865376" cy="731520"/>
          </a:xfrm>
          <a:prstGeom prst="rect">
            <a:avLst/>
          </a:prstGeom>
          <a:noFill/>
          <a:ln/>
        </p:spPr>
        <p:txBody>
          <a:bodyPr wrap="square" lIns="0" tIns="0" rIns="0" bIns="0" rtlCol="0" anchor="ctr"/>
          <a:lstStyle/>
          <a:p>
            <a:pPr marL="0" indent="0" algn="ctr">
              <a:buNone/>
            </a:pPr>
            <a:r>
              <a:rPr lang="en-US" sz="950" dirty="0">
                <a:solidFill>
                  <a:srgbClr val="334E70"/>
                </a:solidFill>
                <a:latin typeface="Calibri" pitchFamily="34" charset="0"/>
                <a:ea typeface="Calibri" pitchFamily="34" charset="-122"/>
                <a:cs typeface="Calibri" pitchFamily="34" charset="-120"/>
              </a:rPr>
              <a:t>Atomic debit + credit between two accounts in a single operation</a:t>
            </a:r>
            <a:endParaRPr lang="en-US" sz="950" dirty="0"/>
          </a:p>
        </p:txBody>
      </p:sp>
      <p:sp>
        <p:nvSpPr>
          <p:cNvPr id="28" name="Shape 26"/>
          <p:cNvSpPr/>
          <p:nvPr/>
        </p:nvSpPr>
        <p:spPr>
          <a:xfrm>
            <a:off x="274320" y="2788920"/>
            <a:ext cx="2011680" cy="16002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29" name="Shape 27"/>
          <p:cNvSpPr/>
          <p:nvPr/>
        </p:nvSpPr>
        <p:spPr>
          <a:xfrm>
            <a:off x="274320" y="2788920"/>
            <a:ext cx="2011680" cy="54864"/>
          </a:xfrm>
          <a:prstGeom prst="rect">
            <a:avLst/>
          </a:prstGeom>
          <a:solidFill>
            <a:srgbClr val="0A8F8F"/>
          </a:solidFill>
          <a:ln w="12700">
            <a:solidFill>
              <a:srgbClr val="0A8F8F"/>
            </a:solidFill>
            <a:prstDash val="solid"/>
          </a:ln>
        </p:spPr>
        <p:txBody>
          <a:bodyPr/>
          <a:lstStyle/>
          <a:p>
            <a:endParaRPr lang="en-IN"/>
          </a:p>
        </p:txBody>
      </p:sp>
      <p:sp>
        <p:nvSpPr>
          <p:cNvPr id="30" name="Text 28"/>
          <p:cNvSpPr/>
          <p:nvPr/>
        </p:nvSpPr>
        <p:spPr>
          <a:xfrm>
            <a:off x="274320" y="2880360"/>
            <a:ext cx="201168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1" name="Text 29"/>
          <p:cNvSpPr/>
          <p:nvPr/>
        </p:nvSpPr>
        <p:spPr>
          <a:xfrm>
            <a:off x="320040" y="3291840"/>
            <a:ext cx="1920240" cy="274320"/>
          </a:xfrm>
          <a:prstGeom prst="rect">
            <a:avLst/>
          </a:prstGeom>
          <a:noFill/>
          <a:ln/>
        </p:spPr>
        <p:txBody>
          <a:bodyPr wrap="square" lIns="0" tIns="0" rIns="0" bIns="0" rtlCol="0" anchor="ctr"/>
          <a:lstStyle/>
          <a:p>
            <a:pPr marL="0" indent="0" algn="ctr">
              <a:buNone/>
            </a:pPr>
            <a:r>
              <a:rPr lang="en-US" sz="1100" b="1" dirty="0">
                <a:solidFill>
                  <a:srgbClr val="0A8F8F"/>
                </a:solidFill>
                <a:latin typeface="Calibri" pitchFamily="34" charset="0"/>
                <a:ea typeface="Calibri" pitchFamily="34" charset="-122"/>
                <a:cs typeface="Calibri" pitchFamily="34" charset="-120"/>
              </a:rPr>
              <a:t>View Account</a:t>
            </a:r>
            <a:endParaRPr lang="en-US" sz="1100" dirty="0"/>
          </a:p>
        </p:txBody>
      </p:sp>
      <p:sp>
        <p:nvSpPr>
          <p:cNvPr id="32" name="Text 30"/>
          <p:cNvSpPr/>
          <p:nvPr/>
        </p:nvSpPr>
        <p:spPr>
          <a:xfrm>
            <a:off x="347472" y="3593592"/>
            <a:ext cx="1865376" cy="731520"/>
          </a:xfrm>
          <a:prstGeom prst="rect">
            <a:avLst/>
          </a:prstGeom>
          <a:noFill/>
          <a:ln/>
        </p:spPr>
        <p:txBody>
          <a:bodyPr wrap="square" lIns="0" tIns="0" rIns="0" bIns="0" rtlCol="0" anchor="ctr"/>
          <a:lstStyle/>
          <a:p>
            <a:pPr marL="0" indent="0" algn="ctr">
              <a:buNone/>
            </a:pPr>
            <a:r>
              <a:rPr lang="en-US" sz="950" dirty="0">
                <a:solidFill>
                  <a:srgbClr val="334E70"/>
                </a:solidFill>
                <a:latin typeface="Calibri" pitchFamily="34" charset="0"/>
                <a:ea typeface="Calibri" pitchFamily="34" charset="-122"/>
                <a:cs typeface="Calibri" pitchFamily="34" charset="-120"/>
              </a:rPr>
              <a:t>Fetch full details for a single account by ID</a:t>
            </a:r>
            <a:endParaRPr lang="en-US" sz="950" dirty="0"/>
          </a:p>
        </p:txBody>
      </p:sp>
      <p:sp>
        <p:nvSpPr>
          <p:cNvPr id="33" name="Shape 31"/>
          <p:cNvSpPr/>
          <p:nvPr/>
        </p:nvSpPr>
        <p:spPr>
          <a:xfrm>
            <a:off x="2450592" y="2788920"/>
            <a:ext cx="2011680" cy="16002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34" name="Shape 32"/>
          <p:cNvSpPr/>
          <p:nvPr/>
        </p:nvSpPr>
        <p:spPr>
          <a:xfrm>
            <a:off x="2450592" y="2788920"/>
            <a:ext cx="2011680" cy="54864"/>
          </a:xfrm>
          <a:prstGeom prst="rect">
            <a:avLst/>
          </a:prstGeom>
          <a:solidFill>
            <a:srgbClr val="F0A500"/>
          </a:solidFill>
          <a:ln w="12700">
            <a:solidFill>
              <a:srgbClr val="F0A500"/>
            </a:solidFill>
            <a:prstDash val="solid"/>
          </a:ln>
        </p:spPr>
        <p:txBody>
          <a:bodyPr/>
          <a:lstStyle/>
          <a:p>
            <a:endParaRPr lang="en-IN"/>
          </a:p>
        </p:txBody>
      </p:sp>
      <p:sp>
        <p:nvSpPr>
          <p:cNvPr id="35" name="Text 33"/>
          <p:cNvSpPr/>
          <p:nvPr/>
        </p:nvSpPr>
        <p:spPr>
          <a:xfrm>
            <a:off x="2450592" y="2880360"/>
            <a:ext cx="201168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6" name="Text 34"/>
          <p:cNvSpPr/>
          <p:nvPr/>
        </p:nvSpPr>
        <p:spPr>
          <a:xfrm>
            <a:off x="2496312" y="3291840"/>
            <a:ext cx="1920240" cy="274320"/>
          </a:xfrm>
          <a:prstGeom prst="rect">
            <a:avLst/>
          </a:prstGeom>
          <a:noFill/>
          <a:ln/>
        </p:spPr>
        <p:txBody>
          <a:bodyPr wrap="square" lIns="0" tIns="0" rIns="0" bIns="0" rtlCol="0" anchor="ctr"/>
          <a:lstStyle/>
          <a:p>
            <a:pPr marL="0" indent="0" algn="ctr">
              <a:buNone/>
            </a:pPr>
            <a:r>
              <a:rPr lang="en-US" sz="1100" b="1" dirty="0">
                <a:solidFill>
                  <a:srgbClr val="F0A500"/>
                </a:solidFill>
                <a:latin typeface="Calibri" pitchFamily="34" charset="0"/>
                <a:ea typeface="Calibri" pitchFamily="34" charset="-122"/>
                <a:cs typeface="Calibri" pitchFamily="34" charset="-120"/>
              </a:rPr>
              <a:t>View All Accounts</a:t>
            </a:r>
            <a:endParaRPr lang="en-US" sz="1100" dirty="0"/>
          </a:p>
        </p:txBody>
      </p:sp>
      <p:sp>
        <p:nvSpPr>
          <p:cNvPr id="37" name="Text 35"/>
          <p:cNvSpPr/>
          <p:nvPr/>
        </p:nvSpPr>
        <p:spPr>
          <a:xfrm>
            <a:off x="2523744" y="3593592"/>
            <a:ext cx="1865376" cy="731520"/>
          </a:xfrm>
          <a:prstGeom prst="rect">
            <a:avLst/>
          </a:prstGeom>
          <a:noFill/>
          <a:ln/>
        </p:spPr>
        <p:txBody>
          <a:bodyPr wrap="square" lIns="0" tIns="0" rIns="0" bIns="0" rtlCol="0" anchor="ctr"/>
          <a:lstStyle/>
          <a:p>
            <a:pPr marL="0" indent="0" algn="ctr">
              <a:buNone/>
            </a:pPr>
            <a:r>
              <a:rPr lang="en-US" sz="950" dirty="0">
                <a:solidFill>
                  <a:srgbClr val="334E70"/>
                </a:solidFill>
                <a:latin typeface="Calibri" pitchFamily="34" charset="0"/>
                <a:ea typeface="Calibri" pitchFamily="34" charset="-122"/>
                <a:cs typeface="Calibri" pitchFamily="34" charset="-120"/>
              </a:rPr>
              <a:t>Lists every account stored in the database</a:t>
            </a:r>
            <a:endParaRPr lang="en-US" sz="950" dirty="0"/>
          </a:p>
        </p:txBody>
      </p:sp>
      <p:sp>
        <p:nvSpPr>
          <p:cNvPr id="38" name="Shape 36"/>
          <p:cNvSpPr/>
          <p:nvPr/>
        </p:nvSpPr>
        <p:spPr>
          <a:xfrm>
            <a:off x="4626864" y="2788920"/>
            <a:ext cx="2011680" cy="16002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39" name="Shape 37"/>
          <p:cNvSpPr/>
          <p:nvPr/>
        </p:nvSpPr>
        <p:spPr>
          <a:xfrm>
            <a:off x="4626864" y="2788920"/>
            <a:ext cx="2011680" cy="54864"/>
          </a:xfrm>
          <a:prstGeom prst="rect">
            <a:avLst/>
          </a:prstGeom>
          <a:solidFill>
            <a:srgbClr val="C2560C"/>
          </a:solidFill>
          <a:ln w="12700">
            <a:solidFill>
              <a:srgbClr val="C2560C"/>
            </a:solidFill>
            <a:prstDash val="solid"/>
          </a:ln>
        </p:spPr>
        <p:txBody>
          <a:bodyPr/>
          <a:lstStyle/>
          <a:p>
            <a:endParaRPr lang="en-IN"/>
          </a:p>
        </p:txBody>
      </p:sp>
      <p:sp>
        <p:nvSpPr>
          <p:cNvPr id="40" name="Text 38"/>
          <p:cNvSpPr/>
          <p:nvPr/>
        </p:nvSpPr>
        <p:spPr>
          <a:xfrm>
            <a:off x="4626864" y="2880360"/>
            <a:ext cx="201168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41" name="Text 39"/>
          <p:cNvSpPr/>
          <p:nvPr/>
        </p:nvSpPr>
        <p:spPr>
          <a:xfrm>
            <a:off x="4672584" y="3291840"/>
            <a:ext cx="1920240" cy="274320"/>
          </a:xfrm>
          <a:prstGeom prst="rect">
            <a:avLst/>
          </a:prstGeom>
          <a:noFill/>
          <a:ln/>
        </p:spPr>
        <p:txBody>
          <a:bodyPr wrap="square" lIns="0" tIns="0" rIns="0" bIns="0" rtlCol="0" anchor="ctr"/>
          <a:lstStyle/>
          <a:p>
            <a:pPr marL="0" indent="0" algn="ctr">
              <a:buNone/>
            </a:pPr>
            <a:r>
              <a:rPr lang="en-US" sz="1100" b="1" dirty="0">
                <a:solidFill>
                  <a:srgbClr val="C2560C"/>
                </a:solidFill>
                <a:latin typeface="Calibri" pitchFamily="34" charset="0"/>
                <a:ea typeface="Calibri" pitchFamily="34" charset="-122"/>
                <a:cs typeface="Calibri" pitchFamily="34" charset="-120"/>
              </a:rPr>
              <a:t>Transaction Log</a:t>
            </a:r>
            <a:endParaRPr lang="en-US" sz="1100" dirty="0"/>
          </a:p>
        </p:txBody>
      </p:sp>
      <p:sp>
        <p:nvSpPr>
          <p:cNvPr id="42" name="Text 40"/>
          <p:cNvSpPr/>
          <p:nvPr/>
        </p:nvSpPr>
        <p:spPr>
          <a:xfrm>
            <a:off x="4700016" y="3593592"/>
            <a:ext cx="1865376" cy="731520"/>
          </a:xfrm>
          <a:prstGeom prst="rect">
            <a:avLst/>
          </a:prstGeom>
          <a:noFill/>
          <a:ln/>
        </p:spPr>
        <p:txBody>
          <a:bodyPr wrap="square" lIns="0" tIns="0" rIns="0" bIns="0" rtlCol="0" anchor="ctr"/>
          <a:lstStyle/>
          <a:p>
            <a:pPr marL="0" indent="0" algn="ctr">
              <a:buNone/>
            </a:pPr>
            <a:r>
              <a:rPr lang="en-US" sz="950" dirty="0">
                <a:solidFill>
                  <a:srgbClr val="334E70"/>
                </a:solidFill>
                <a:latin typeface="Calibri" pitchFamily="34" charset="0"/>
                <a:ea typeface="Calibri" pitchFamily="34" charset="-122"/>
                <a:cs typeface="Calibri" pitchFamily="34" charset="-120"/>
              </a:rPr>
              <a:t>Every operation written to transactions table with timestamp</a:t>
            </a:r>
            <a:endParaRPr lang="en-US" sz="950" dirty="0"/>
          </a:p>
        </p:txBody>
      </p:sp>
      <p:sp>
        <p:nvSpPr>
          <p:cNvPr id="43" name="Shape 41"/>
          <p:cNvSpPr/>
          <p:nvPr/>
        </p:nvSpPr>
        <p:spPr>
          <a:xfrm>
            <a:off x="6803136" y="2788920"/>
            <a:ext cx="2011680" cy="160020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44" name="Shape 42"/>
          <p:cNvSpPr/>
          <p:nvPr/>
        </p:nvSpPr>
        <p:spPr>
          <a:xfrm>
            <a:off x="6803136" y="2788920"/>
            <a:ext cx="2011680" cy="54864"/>
          </a:xfrm>
          <a:prstGeom prst="rect">
            <a:avLst/>
          </a:prstGeom>
          <a:solidFill>
            <a:srgbClr val="DB2777"/>
          </a:solidFill>
          <a:ln w="12700">
            <a:solidFill>
              <a:srgbClr val="DB2777"/>
            </a:solidFill>
            <a:prstDash val="solid"/>
          </a:ln>
        </p:spPr>
        <p:txBody>
          <a:bodyPr/>
          <a:lstStyle/>
          <a:p>
            <a:endParaRPr lang="en-IN"/>
          </a:p>
        </p:txBody>
      </p:sp>
      <p:sp>
        <p:nvSpPr>
          <p:cNvPr id="45" name="Text 43"/>
          <p:cNvSpPr/>
          <p:nvPr/>
        </p:nvSpPr>
        <p:spPr>
          <a:xfrm>
            <a:off x="6803136" y="2880360"/>
            <a:ext cx="2011680" cy="4114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46" name="Text 44"/>
          <p:cNvSpPr/>
          <p:nvPr/>
        </p:nvSpPr>
        <p:spPr>
          <a:xfrm>
            <a:off x="6848856" y="3291840"/>
            <a:ext cx="1920240" cy="274320"/>
          </a:xfrm>
          <a:prstGeom prst="rect">
            <a:avLst/>
          </a:prstGeom>
          <a:noFill/>
          <a:ln/>
        </p:spPr>
        <p:txBody>
          <a:bodyPr wrap="square" lIns="0" tIns="0" rIns="0" bIns="0" rtlCol="0" anchor="ctr"/>
          <a:lstStyle/>
          <a:p>
            <a:pPr marL="0" indent="0" algn="ctr">
              <a:buNone/>
            </a:pPr>
            <a:r>
              <a:rPr lang="en-US" sz="1100" b="1" dirty="0">
                <a:solidFill>
                  <a:srgbClr val="DB2777"/>
                </a:solidFill>
                <a:latin typeface="Calibri" pitchFamily="34" charset="0"/>
                <a:ea typeface="Calibri" pitchFamily="34" charset="-122"/>
                <a:cs typeface="Calibri" pitchFamily="34" charset="-120"/>
              </a:rPr>
              <a:t>Email Alerts</a:t>
            </a:r>
            <a:endParaRPr lang="en-US" sz="1100" dirty="0"/>
          </a:p>
        </p:txBody>
      </p:sp>
      <p:sp>
        <p:nvSpPr>
          <p:cNvPr id="47" name="Text 45"/>
          <p:cNvSpPr/>
          <p:nvPr/>
        </p:nvSpPr>
        <p:spPr>
          <a:xfrm>
            <a:off x="6876288" y="3593592"/>
            <a:ext cx="1865376" cy="731520"/>
          </a:xfrm>
          <a:prstGeom prst="rect">
            <a:avLst/>
          </a:prstGeom>
          <a:noFill/>
          <a:ln/>
        </p:spPr>
        <p:txBody>
          <a:bodyPr wrap="square" lIns="0" tIns="0" rIns="0" bIns="0" rtlCol="0" anchor="ctr"/>
          <a:lstStyle/>
          <a:p>
            <a:pPr marL="0" indent="0" algn="ctr">
              <a:buNone/>
            </a:pPr>
            <a:r>
              <a:rPr lang="en-US" sz="950" dirty="0">
                <a:solidFill>
                  <a:srgbClr val="334E70"/>
                </a:solidFill>
                <a:latin typeface="Calibri" pitchFamily="34" charset="0"/>
                <a:ea typeface="Calibri" pitchFamily="34" charset="-122"/>
                <a:cs typeface="Calibri" pitchFamily="34" charset="-120"/>
              </a:rPr>
              <a:t>Auto email when balance ≤ configured threshold via JavaMail</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8F8F"/>
          </a:solidFill>
          <a:ln w="12700">
            <a:solidFill>
              <a:srgbClr val="0A8F8F"/>
            </a:solidFill>
            <a:prstDash val="solid"/>
          </a:ln>
        </p:spPr>
        <p:txBody>
          <a:bodyPr/>
          <a:lstStyle/>
          <a:p>
            <a:endParaRPr lang="en-IN"/>
          </a:p>
        </p:txBody>
      </p:sp>
      <p:sp>
        <p:nvSpPr>
          <p:cNvPr id="3" name="Text 1"/>
          <p:cNvSpPr/>
          <p:nvPr/>
        </p:nvSpPr>
        <p:spPr>
          <a:xfrm>
            <a:off x="411480" y="164592"/>
            <a:ext cx="8321040" cy="566928"/>
          </a:xfrm>
          <a:prstGeom prst="rect">
            <a:avLst/>
          </a:prstGeom>
          <a:noFill/>
          <a:ln/>
        </p:spPr>
        <p:txBody>
          <a:bodyPr wrap="square" lIns="0" tIns="0" rIns="0" bIns="0" rtlCol="0" anchor="ctr"/>
          <a:lstStyle/>
          <a:p>
            <a:pPr marL="0" indent="0">
              <a:buNone/>
            </a:pPr>
            <a:r>
              <a:rPr lang="en-US" sz="2600" b="1" dirty="0">
                <a:solidFill>
                  <a:srgbClr val="0D1B3E"/>
                </a:solidFill>
                <a:latin typeface="Calibri" pitchFamily="34" charset="0"/>
                <a:ea typeface="Calibri" pitchFamily="34" charset="-122"/>
                <a:cs typeface="Calibri" pitchFamily="34" charset="-120"/>
              </a:rPr>
              <a:t>Database Design</a:t>
            </a:r>
            <a:endParaRPr lang="en-US" sz="2600" dirty="0"/>
          </a:p>
        </p:txBody>
      </p:sp>
      <p:sp>
        <p:nvSpPr>
          <p:cNvPr id="4" name="Shape 2"/>
          <p:cNvSpPr/>
          <p:nvPr/>
        </p:nvSpPr>
        <p:spPr>
          <a:xfrm>
            <a:off x="411480" y="749808"/>
            <a:ext cx="8321040" cy="22860"/>
          </a:xfrm>
          <a:prstGeom prst="rect">
            <a:avLst/>
          </a:prstGeom>
          <a:solidFill>
            <a:srgbClr val="0A8F8F"/>
          </a:solidFill>
          <a:ln w="12700">
            <a:solidFill>
              <a:srgbClr val="0A8F8F"/>
            </a:solidFill>
            <a:prstDash val="solid"/>
          </a:ln>
        </p:spPr>
        <p:txBody>
          <a:bodyPr/>
          <a:lstStyle/>
          <a:p>
            <a:endParaRPr lang="en-IN"/>
          </a:p>
        </p:txBody>
      </p:sp>
      <p:sp>
        <p:nvSpPr>
          <p:cNvPr id="5" name="Shape 3"/>
          <p:cNvSpPr/>
          <p:nvPr/>
        </p:nvSpPr>
        <p:spPr>
          <a:xfrm>
            <a:off x="0" y="5001768"/>
            <a:ext cx="9144000" cy="141732"/>
          </a:xfrm>
          <a:prstGeom prst="rect">
            <a:avLst/>
          </a:prstGeom>
          <a:solidFill>
            <a:srgbClr val="0D1B3E"/>
          </a:solidFill>
          <a:ln w="12700">
            <a:solidFill>
              <a:srgbClr val="0D1B3E"/>
            </a:solidFill>
            <a:prstDash val="solid"/>
          </a:ln>
        </p:spPr>
        <p:txBody>
          <a:bodyPr/>
          <a:lstStyle/>
          <a:p>
            <a:endParaRPr lang="en-IN"/>
          </a:p>
        </p:txBody>
      </p:sp>
      <p:sp>
        <p:nvSpPr>
          <p:cNvPr id="6" name="Text 4"/>
          <p:cNvSpPr/>
          <p:nvPr/>
        </p:nvSpPr>
        <p:spPr>
          <a:xfrm>
            <a:off x="274320" y="5001768"/>
            <a:ext cx="6400800" cy="141732"/>
          </a:xfrm>
          <a:prstGeom prst="rect">
            <a:avLst/>
          </a:prstGeom>
          <a:noFill/>
          <a:ln/>
        </p:spPr>
        <p:txBody>
          <a:bodyPr wrap="square" lIns="0" tIns="0" rIns="0" bIns="0" rtlCol="0" anchor="ctr"/>
          <a:lstStyle/>
          <a:p>
            <a:pPr marL="0" indent="0">
              <a:buNone/>
            </a:pPr>
            <a:r>
              <a:rPr lang="en-US" sz="800" dirty="0">
                <a:solidFill>
                  <a:srgbClr val="8BAED4"/>
                </a:solidFill>
                <a:latin typeface="Calibri" pitchFamily="34" charset="0"/>
                <a:ea typeface="Calibri" pitchFamily="34" charset="-122"/>
                <a:cs typeface="Calibri" pitchFamily="34" charset="-120"/>
              </a:rPr>
              <a:t>Banking Application  |  Project Review</a:t>
            </a:r>
            <a:endParaRPr lang="en-US" sz="800" dirty="0"/>
          </a:p>
        </p:txBody>
      </p:sp>
      <p:sp>
        <p:nvSpPr>
          <p:cNvPr id="7" name="Text 5"/>
          <p:cNvSpPr/>
          <p:nvPr/>
        </p:nvSpPr>
        <p:spPr>
          <a:xfrm>
            <a:off x="8229600" y="5001768"/>
            <a:ext cx="731520" cy="141732"/>
          </a:xfrm>
          <a:prstGeom prst="rect">
            <a:avLst/>
          </a:prstGeom>
          <a:noFill/>
          <a:ln/>
        </p:spPr>
        <p:txBody>
          <a:bodyPr wrap="square" lIns="0" tIns="0" rIns="0" bIns="0" rtlCol="0" anchor="ctr"/>
          <a:lstStyle/>
          <a:p>
            <a:pPr marL="0" indent="0" algn="r">
              <a:buNone/>
            </a:pPr>
            <a:r>
              <a:rPr lang="en-US" sz="800" dirty="0">
                <a:solidFill>
                  <a:srgbClr val="8BAED4"/>
                </a:solidFill>
                <a:latin typeface="Calibri" pitchFamily="34" charset="0"/>
                <a:ea typeface="Calibri" pitchFamily="34" charset="-122"/>
                <a:cs typeface="Calibri" pitchFamily="34" charset="-120"/>
              </a:rPr>
              <a:t>8 / 16</a:t>
            </a:r>
            <a:endParaRPr lang="en-US" sz="800" dirty="0"/>
          </a:p>
        </p:txBody>
      </p:sp>
      <p:sp>
        <p:nvSpPr>
          <p:cNvPr id="8" name="Shape 6"/>
          <p:cNvSpPr/>
          <p:nvPr/>
        </p:nvSpPr>
        <p:spPr>
          <a:xfrm>
            <a:off x="365760" y="987552"/>
            <a:ext cx="3657600" cy="32918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9" name="Shape 7"/>
          <p:cNvSpPr/>
          <p:nvPr/>
        </p:nvSpPr>
        <p:spPr>
          <a:xfrm>
            <a:off x="365760" y="987552"/>
            <a:ext cx="3657600" cy="384048"/>
          </a:xfrm>
          <a:prstGeom prst="rect">
            <a:avLst/>
          </a:prstGeom>
          <a:solidFill>
            <a:srgbClr val="2563EB"/>
          </a:solidFill>
          <a:ln w="12700">
            <a:solidFill>
              <a:srgbClr val="2563EB"/>
            </a:solidFill>
            <a:prstDash val="solid"/>
          </a:ln>
        </p:spPr>
        <p:txBody>
          <a:bodyPr/>
          <a:lstStyle/>
          <a:p>
            <a:endParaRPr lang="en-IN"/>
          </a:p>
        </p:txBody>
      </p:sp>
      <p:sp>
        <p:nvSpPr>
          <p:cNvPr id="10" name="Text 8"/>
          <p:cNvSpPr/>
          <p:nvPr/>
        </p:nvSpPr>
        <p:spPr>
          <a:xfrm>
            <a:off x="365760" y="987552"/>
            <a:ext cx="365760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accounts</a:t>
            </a:r>
            <a:endParaRPr lang="en-US" sz="1400" dirty="0"/>
          </a:p>
        </p:txBody>
      </p:sp>
      <p:sp>
        <p:nvSpPr>
          <p:cNvPr id="11" name="Shape 9"/>
          <p:cNvSpPr/>
          <p:nvPr/>
        </p:nvSpPr>
        <p:spPr>
          <a:xfrm>
            <a:off x="365760" y="1399032"/>
            <a:ext cx="3657600" cy="448056"/>
          </a:xfrm>
          <a:prstGeom prst="rect">
            <a:avLst/>
          </a:prstGeom>
          <a:solidFill>
            <a:srgbClr val="EEF4FB"/>
          </a:solidFill>
          <a:ln w="12700">
            <a:solidFill>
              <a:srgbClr val="EEF4FB"/>
            </a:solidFill>
            <a:prstDash val="solid"/>
          </a:ln>
        </p:spPr>
        <p:txBody>
          <a:bodyPr/>
          <a:lstStyle/>
          <a:p>
            <a:endParaRPr lang="en-IN"/>
          </a:p>
        </p:txBody>
      </p:sp>
      <p:sp>
        <p:nvSpPr>
          <p:cNvPr id="12" name="Text 10"/>
          <p:cNvSpPr/>
          <p:nvPr/>
        </p:nvSpPr>
        <p:spPr>
          <a:xfrm>
            <a:off x="502920" y="1444752"/>
            <a:ext cx="1371600" cy="347472"/>
          </a:xfrm>
          <a:prstGeom prst="rect">
            <a:avLst/>
          </a:prstGeom>
          <a:noFill/>
          <a:ln/>
        </p:spPr>
        <p:txBody>
          <a:bodyPr wrap="square" lIns="0" tIns="0" rIns="0" bIns="0" rtlCol="0" anchor="ctr"/>
          <a:lstStyle/>
          <a:p>
            <a:pPr marL="0" indent="0">
              <a:buNone/>
            </a:pPr>
            <a:r>
              <a:rPr lang="en-US" sz="1050" b="1" dirty="0">
                <a:solidFill>
                  <a:srgbClr val="0D1B3E"/>
                </a:solidFill>
                <a:latin typeface="Consolas" pitchFamily="34" charset="0"/>
                <a:ea typeface="Consolas" pitchFamily="34" charset="-122"/>
                <a:cs typeface="Consolas" pitchFamily="34" charset="-120"/>
              </a:rPr>
              <a:t>account_id</a:t>
            </a:r>
            <a:endParaRPr lang="en-US" sz="1050" dirty="0"/>
          </a:p>
        </p:txBody>
      </p:sp>
      <p:sp>
        <p:nvSpPr>
          <p:cNvPr id="13" name="Text 11"/>
          <p:cNvSpPr/>
          <p:nvPr/>
        </p:nvSpPr>
        <p:spPr>
          <a:xfrm>
            <a:off x="1920240" y="1444752"/>
            <a:ext cx="1920240" cy="347472"/>
          </a:xfrm>
          <a:prstGeom prst="rect">
            <a:avLst/>
          </a:prstGeom>
          <a:noFill/>
          <a:ln/>
        </p:spPr>
        <p:txBody>
          <a:bodyPr wrap="square" lIns="0" tIns="0" rIns="0" bIns="0" rtlCol="0" anchor="ctr"/>
          <a:lstStyle/>
          <a:p>
            <a:pPr marL="0" indent="0">
              <a:buNone/>
            </a:pPr>
            <a:r>
              <a:rPr lang="en-US" sz="1000" dirty="0">
                <a:solidFill>
                  <a:srgbClr val="334E70"/>
                </a:solidFill>
                <a:latin typeface="Consolas" pitchFamily="34" charset="0"/>
                <a:ea typeface="Consolas" pitchFamily="34" charset="-122"/>
                <a:cs typeface="Consolas" pitchFamily="34" charset="-120"/>
              </a:rPr>
              <a:t>INT, PRIMARY KEY, AUTO_INCREMENT</a:t>
            </a:r>
            <a:endParaRPr lang="en-US" sz="1000" dirty="0"/>
          </a:p>
        </p:txBody>
      </p:sp>
      <p:sp>
        <p:nvSpPr>
          <p:cNvPr id="14" name="Text 12"/>
          <p:cNvSpPr/>
          <p:nvPr/>
        </p:nvSpPr>
        <p:spPr>
          <a:xfrm>
            <a:off x="502920" y="1892808"/>
            <a:ext cx="1371600" cy="347472"/>
          </a:xfrm>
          <a:prstGeom prst="rect">
            <a:avLst/>
          </a:prstGeom>
          <a:noFill/>
          <a:ln/>
        </p:spPr>
        <p:txBody>
          <a:bodyPr wrap="square" lIns="0" tIns="0" rIns="0" bIns="0" rtlCol="0" anchor="ctr"/>
          <a:lstStyle/>
          <a:p>
            <a:pPr marL="0" indent="0">
              <a:buNone/>
            </a:pPr>
            <a:r>
              <a:rPr lang="en-US" sz="1050" b="1" dirty="0">
                <a:solidFill>
                  <a:srgbClr val="0D1B3E"/>
                </a:solidFill>
                <a:latin typeface="Consolas" pitchFamily="34" charset="0"/>
                <a:ea typeface="Consolas" pitchFamily="34" charset="-122"/>
                <a:cs typeface="Consolas" pitchFamily="34" charset="-120"/>
              </a:rPr>
              <a:t>account_name</a:t>
            </a:r>
            <a:endParaRPr lang="en-US" sz="1050" dirty="0"/>
          </a:p>
        </p:txBody>
      </p:sp>
      <p:sp>
        <p:nvSpPr>
          <p:cNvPr id="15" name="Text 13"/>
          <p:cNvSpPr/>
          <p:nvPr/>
        </p:nvSpPr>
        <p:spPr>
          <a:xfrm>
            <a:off x="1920240" y="1892808"/>
            <a:ext cx="1920240" cy="347472"/>
          </a:xfrm>
          <a:prstGeom prst="rect">
            <a:avLst/>
          </a:prstGeom>
          <a:noFill/>
          <a:ln/>
        </p:spPr>
        <p:txBody>
          <a:bodyPr wrap="square" lIns="0" tIns="0" rIns="0" bIns="0" rtlCol="0" anchor="ctr"/>
          <a:lstStyle/>
          <a:p>
            <a:pPr marL="0" indent="0">
              <a:buNone/>
            </a:pPr>
            <a:r>
              <a:rPr lang="en-US" sz="1000" dirty="0">
                <a:solidFill>
                  <a:srgbClr val="334E70"/>
                </a:solidFill>
                <a:latin typeface="Consolas" pitchFamily="34" charset="0"/>
                <a:ea typeface="Consolas" pitchFamily="34" charset="-122"/>
                <a:cs typeface="Consolas" pitchFamily="34" charset="-120"/>
              </a:rPr>
              <a:t>VARCHAR(100), NOT NULL</a:t>
            </a:r>
            <a:endParaRPr lang="en-US" sz="1000" dirty="0"/>
          </a:p>
        </p:txBody>
      </p:sp>
      <p:sp>
        <p:nvSpPr>
          <p:cNvPr id="16" name="Shape 14"/>
          <p:cNvSpPr/>
          <p:nvPr/>
        </p:nvSpPr>
        <p:spPr>
          <a:xfrm>
            <a:off x="365760" y="2295144"/>
            <a:ext cx="3657600" cy="448056"/>
          </a:xfrm>
          <a:prstGeom prst="rect">
            <a:avLst/>
          </a:prstGeom>
          <a:solidFill>
            <a:srgbClr val="EEF4FB"/>
          </a:solidFill>
          <a:ln w="12700">
            <a:solidFill>
              <a:srgbClr val="EEF4FB"/>
            </a:solidFill>
            <a:prstDash val="solid"/>
          </a:ln>
        </p:spPr>
        <p:txBody>
          <a:bodyPr/>
          <a:lstStyle/>
          <a:p>
            <a:endParaRPr lang="en-IN"/>
          </a:p>
        </p:txBody>
      </p:sp>
      <p:sp>
        <p:nvSpPr>
          <p:cNvPr id="17" name="Text 15"/>
          <p:cNvSpPr/>
          <p:nvPr/>
        </p:nvSpPr>
        <p:spPr>
          <a:xfrm>
            <a:off x="502920" y="2340864"/>
            <a:ext cx="1371600" cy="347472"/>
          </a:xfrm>
          <a:prstGeom prst="rect">
            <a:avLst/>
          </a:prstGeom>
          <a:noFill/>
          <a:ln/>
        </p:spPr>
        <p:txBody>
          <a:bodyPr wrap="square" lIns="0" tIns="0" rIns="0" bIns="0" rtlCol="0" anchor="ctr"/>
          <a:lstStyle/>
          <a:p>
            <a:pPr marL="0" indent="0">
              <a:buNone/>
            </a:pPr>
            <a:r>
              <a:rPr lang="en-US" sz="1050" b="1" dirty="0">
                <a:solidFill>
                  <a:srgbClr val="0D1B3E"/>
                </a:solidFill>
                <a:latin typeface="Consolas" pitchFamily="34" charset="0"/>
                <a:ea typeface="Consolas" pitchFamily="34" charset="-122"/>
                <a:cs typeface="Consolas" pitchFamily="34" charset="-120"/>
              </a:rPr>
              <a:t>balance</a:t>
            </a:r>
            <a:endParaRPr lang="en-US" sz="1050" dirty="0"/>
          </a:p>
        </p:txBody>
      </p:sp>
      <p:sp>
        <p:nvSpPr>
          <p:cNvPr id="18" name="Text 16"/>
          <p:cNvSpPr/>
          <p:nvPr/>
        </p:nvSpPr>
        <p:spPr>
          <a:xfrm>
            <a:off x="1920240" y="2340864"/>
            <a:ext cx="1920240" cy="347472"/>
          </a:xfrm>
          <a:prstGeom prst="rect">
            <a:avLst/>
          </a:prstGeom>
          <a:noFill/>
          <a:ln/>
        </p:spPr>
        <p:txBody>
          <a:bodyPr wrap="square" lIns="0" tIns="0" rIns="0" bIns="0" rtlCol="0" anchor="ctr"/>
          <a:lstStyle/>
          <a:p>
            <a:pPr marL="0" indent="0">
              <a:buNone/>
            </a:pPr>
            <a:r>
              <a:rPr lang="en-US" sz="1000" dirty="0">
                <a:solidFill>
                  <a:srgbClr val="334E70"/>
                </a:solidFill>
                <a:latin typeface="Consolas" pitchFamily="34" charset="0"/>
                <a:ea typeface="Consolas" pitchFamily="34" charset="-122"/>
                <a:cs typeface="Consolas" pitchFamily="34" charset="-120"/>
              </a:rPr>
              <a:t>DECIMAL(15,2), NOT NULL</a:t>
            </a:r>
            <a:endParaRPr lang="en-US" sz="1000" dirty="0"/>
          </a:p>
        </p:txBody>
      </p:sp>
      <p:sp>
        <p:nvSpPr>
          <p:cNvPr id="19" name="Text 17"/>
          <p:cNvSpPr/>
          <p:nvPr/>
        </p:nvSpPr>
        <p:spPr>
          <a:xfrm>
            <a:off x="502920" y="2788920"/>
            <a:ext cx="1371600" cy="347472"/>
          </a:xfrm>
          <a:prstGeom prst="rect">
            <a:avLst/>
          </a:prstGeom>
          <a:noFill/>
          <a:ln/>
        </p:spPr>
        <p:txBody>
          <a:bodyPr wrap="square" lIns="0" tIns="0" rIns="0" bIns="0" rtlCol="0" anchor="ctr"/>
          <a:lstStyle/>
          <a:p>
            <a:pPr marL="0" indent="0">
              <a:buNone/>
            </a:pPr>
            <a:r>
              <a:rPr lang="en-US" sz="1050" b="1" dirty="0">
                <a:solidFill>
                  <a:srgbClr val="0D1B3E"/>
                </a:solidFill>
                <a:latin typeface="Consolas" pitchFamily="34" charset="0"/>
                <a:ea typeface="Consolas" pitchFamily="34" charset="-122"/>
                <a:cs typeface="Consolas" pitchFamily="34" charset="-120"/>
              </a:rPr>
              <a:t>email</a:t>
            </a:r>
            <a:endParaRPr lang="en-US" sz="1050" dirty="0"/>
          </a:p>
        </p:txBody>
      </p:sp>
      <p:sp>
        <p:nvSpPr>
          <p:cNvPr id="20" name="Text 18"/>
          <p:cNvSpPr/>
          <p:nvPr/>
        </p:nvSpPr>
        <p:spPr>
          <a:xfrm>
            <a:off x="1920240" y="2788920"/>
            <a:ext cx="1920240" cy="347472"/>
          </a:xfrm>
          <a:prstGeom prst="rect">
            <a:avLst/>
          </a:prstGeom>
          <a:noFill/>
          <a:ln/>
        </p:spPr>
        <p:txBody>
          <a:bodyPr wrap="square" lIns="0" tIns="0" rIns="0" bIns="0" rtlCol="0" anchor="ctr"/>
          <a:lstStyle/>
          <a:p>
            <a:pPr marL="0" indent="0">
              <a:buNone/>
            </a:pPr>
            <a:r>
              <a:rPr lang="en-US" sz="1000" dirty="0">
                <a:solidFill>
                  <a:srgbClr val="334E70"/>
                </a:solidFill>
                <a:latin typeface="Consolas" pitchFamily="34" charset="0"/>
                <a:ea typeface="Consolas" pitchFamily="34" charset="-122"/>
                <a:cs typeface="Consolas" pitchFamily="34" charset="-120"/>
              </a:rPr>
              <a:t>VARCHAR(150)</a:t>
            </a:r>
            <a:endParaRPr lang="en-US" sz="1000" dirty="0"/>
          </a:p>
        </p:txBody>
      </p:sp>
      <p:sp>
        <p:nvSpPr>
          <p:cNvPr id="21" name="Shape 19"/>
          <p:cNvSpPr/>
          <p:nvPr/>
        </p:nvSpPr>
        <p:spPr>
          <a:xfrm>
            <a:off x="365760" y="3191256"/>
            <a:ext cx="3657600" cy="448056"/>
          </a:xfrm>
          <a:prstGeom prst="rect">
            <a:avLst/>
          </a:prstGeom>
          <a:solidFill>
            <a:srgbClr val="EEF4FB"/>
          </a:solidFill>
          <a:ln w="12700">
            <a:solidFill>
              <a:srgbClr val="EEF4FB"/>
            </a:solidFill>
            <a:prstDash val="solid"/>
          </a:ln>
        </p:spPr>
        <p:txBody>
          <a:bodyPr/>
          <a:lstStyle/>
          <a:p>
            <a:endParaRPr lang="en-IN"/>
          </a:p>
        </p:txBody>
      </p:sp>
      <p:sp>
        <p:nvSpPr>
          <p:cNvPr id="22" name="Text 20"/>
          <p:cNvSpPr/>
          <p:nvPr/>
        </p:nvSpPr>
        <p:spPr>
          <a:xfrm>
            <a:off x="502920" y="3236976"/>
            <a:ext cx="1371600" cy="347472"/>
          </a:xfrm>
          <a:prstGeom prst="rect">
            <a:avLst/>
          </a:prstGeom>
          <a:noFill/>
          <a:ln/>
        </p:spPr>
        <p:txBody>
          <a:bodyPr wrap="square" lIns="0" tIns="0" rIns="0" bIns="0" rtlCol="0" anchor="ctr"/>
          <a:lstStyle/>
          <a:p>
            <a:pPr marL="0" indent="0">
              <a:buNone/>
            </a:pPr>
            <a:r>
              <a:rPr lang="en-US" sz="1050" b="1" dirty="0">
                <a:solidFill>
                  <a:srgbClr val="0D1B3E"/>
                </a:solidFill>
                <a:latin typeface="Consolas" pitchFamily="34" charset="0"/>
                <a:ea typeface="Consolas" pitchFamily="34" charset="-122"/>
                <a:cs typeface="Consolas" pitchFamily="34" charset="-120"/>
              </a:rPr>
              <a:t>created_at</a:t>
            </a:r>
            <a:endParaRPr lang="en-US" sz="1050" dirty="0"/>
          </a:p>
        </p:txBody>
      </p:sp>
      <p:sp>
        <p:nvSpPr>
          <p:cNvPr id="23" name="Text 21"/>
          <p:cNvSpPr/>
          <p:nvPr/>
        </p:nvSpPr>
        <p:spPr>
          <a:xfrm>
            <a:off x="1920240" y="3236976"/>
            <a:ext cx="1920240" cy="347472"/>
          </a:xfrm>
          <a:prstGeom prst="rect">
            <a:avLst/>
          </a:prstGeom>
          <a:noFill/>
          <a:ln/>
        </p:spPr>
        <p:txBody>
          <a:bodyPr wrap="square" lIns="0" tIns="0" rIns="0" bIns="0" rtlCol="0" anchor="ctr"/>
          <a:lstStyle/>
          <a:p>
            <a:pPr marL="0" indent="0">
              <a:buNone/>
            </a:pPr>
            <a:r>
              <a:rPr lang="en-US" sz="1000" dirty="0">
                <a:solidFill>
                  <a:srgbClr val="334E70"/>
                </a:solidFill>
                <a:latin typeface="Consolas" pitchFamily="34" charset="0"/>
                <a:ea typeface="Consolas" pitchFamily="34" charset="-122"/>
                <a:cs typeface="Consolas" pitchFamily="34" charset="-120"/>
              </a:rPr>
              <a:t>TIMESTAMP, DEFAULT NOW()</a:t>
            </a:r>
            <a:endParaRPr lang="en-US" sz="1000" dirty="0"/>
          </a:p>
        </p:txBody>
      </p:sp>
      <p:sp>
        <p:nvSpPr>
          <p:cNvPr id="24" name="Shape 22"/>
          <p:cNvSpPr/>
          <p:nvPr/>
        </p:nvSpPr>
        <p:spPr>
          <a:xfrm>
            <a:off x="4846320" y="987552"/>
            <a:ext cx="3931920" cy="35661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25" name="Shape 23"/>
          <p:cNvSpPr/>
          <p:nvPr/>
        </p:nvSpPr>
        <p:spPr>
          <a:xfrm>
            <a:off x="4846320" y="987552"/>
            <a:ext cx="3931920" cy="384048"/>
          </a:xfrm>
          <a:prstGeom prst="rect">
            <a:avLst/>
          </a:prstGeom>
          <a:solidFill>
            <a:srgbClr val="0A8F8F"/>
          </a:solidFill>
          <a:ln w="12700">
            <a:solidFill>
              <a:srgbClr val="0A8F8F"/>
            </a:solidFill>
            <a:prstDash val="solid"/>
          </a:ln>
        </p:spPr>
        <p:txBody>
          <a:bodyPr/>
          <a:lstStyle/>
          <a:p>
            <a:endParaRPr lang="en-IN"/>
          </a:p>
        </p:txBody>
      </p:sp>
      <p:sp>
        <p:nvSpPr>
          <p:cNvPr id="26" name="Text 24"/>
          <p:cNvSpPr/>
          <p:nvPr/>
        </p:nvSpPr>
        <p:spPr>
          <a:xfrm>
            <a:off x="4846320" y="987552"/>
            <a:ext cx="393192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transactions</a:t>
            </a:r>
            <a:endParaRPr lang="en-US" sz="1400" dirty="0"/>
          </a:p>
        </p:txBody>
      </p:sp>
      <p:sp>
        <p:nvSpPr>
          <p:cNvPr id="27" name="Shape 25"/>
          <p:cNvSpPr/>
          <p:nvPr/>
        </p:nvSpPr>
        <p:spPr>
          <a:xfrm>
            <a:off x="4846320" y="1399032"/>
            <a:ext cx="3931920" cy="448056"/>
          </a:xfrm>
          <a:prstGeom prst="rect">
            <a:avLst/>
          </a:prstGeom>
          <a:solidFill>
            <a:srgbClr val="EEF4FB"/>
          </a:solidFill>
          <a:ln w="12700">
            <a:solidFill>
              <a:srgbClr val="EEF4FB"/>
            </a:solidFill>
            <a:prstDash val="solid"/>
          </a:ln>
        </p:spPr>
        <p:txBody>
          <a:bodyPr/>
          <a:lstStyle/>
          <a:p>
            <a:endParaRPr lang="en-IN"/>
          </a:p>
        </p:txBody>
      </p:sp>
      <p:sp>
        <p:nvSpPr>
          <p:cNvPr id="28" name="Text 26"/>
          <p:cNvSpPr/>
          <p:nvPr/>
        </p:nvSpPr>
        <p:spPr>
          <a:xfrm>
            <a:off x="4983480" y="1444752"/>
            <a:ext cx="1600200" cy="347472"/>
          </a:xfrm>
          <a:prstGeom prst="rect">
            <a:avLst/>
          </a:prstGeom>
          <a:noFill/>
          <a:ln/>
        </p:spPr>
        <p:txBody>
          <a:bodyPr wrap="square" lIns="0" tIns="0" rIns="0" bIns="0" rtlCol="0" anchor="ctr"/>
          <a:lstStyle/>
          <a:p>
            <a:pPr marL="0" indent="0">
              <a:buNone/>
            </a:pPr>
            <a:r>
              <a:rPr lang="en-US" sz="1000" b="1" dirty="0">
                <a:solidFill>
                  <a:srgbClr val="0D1B3E"/>
                </a:solidFill>
                <a:latin typeface="Consolas" pitchFamily="34" charset="0"/>
                <a:ea typeface="Consolas" pitchFamily="34" charset="-122"/>
                <a:cs typeface="Consolas" pitchFamily="34" charset="-120"/>
              </a:rPr>
              <a:t>transaction_id</a:t>
            </a:r>
            <a:endParaRPr lang="en-US" sz="1000" dirty="0"/>
          </a:p>
        </p:txBody>
      </p:sp>
      <p:sp>
        <p:nvSpPr>
          <p:cNvPr id="29" name="Text 27"/>
          <p:cNvSpPr/>
          <p:nvPr/>
        </p:nvSpPr>
        <p:spPr>
          <a:xfrm>
            <a:off x="6629400" y="1444752"/>
            <a:ext cx="2011680" cy="347472"/>
          </a:xfrm>
          <a:prstGeom prst="rect">
            <a:avLst/>
          </a:prstGeom>
          <a:noFill/>
          <a:ln/>
        </p:spPr>
        <p:txBody>
          <a:bodyPr wrap="square" lIns="0" tIns="0" rIns="0" bIns="0" rtlCol="0" anchor="ctr"/>
          <a:lstStyle/>
          <a:p>
            <a:pPr marL="0" indent="0">
              <a:buNone/>
            </a:pPr>
            <a:r>
              <a:rPr lang="en-US" sz="950" dirty="0">
                <a:solidFill>
                  <a:srgbClr val="334E70"/>
                </a:solidFill>
                <a:latin typeface="Consolas" pitchFamily="34" charset="0"/>
                <a:ea typeface="Consolas" pitchFamily="34" charset="-122"/>
                <a:cs typeface="Consolas" pitchFamily="34" charset="-120"/>
              </a:rPr>
              <a:t>INT, PRIMARY KEY, AUTO_INCREMENT</a:t>
            </a:r>
            <a:endParaRPr lang="en-US" sz="950" dirty="0"/>
          </a:p>
        </p:txBody>
      </p:sp>
      <p:sp>
        <p:nvSpPr>
          <p:cNvPr id="30" name="Text 28"/>
          <p:cNvSpPr/>
          <p:nvPr/>
        </p:nvSpPr>
        <p:spPr>
          <a:xfrm>
            <a:off x="4983480" y="1892808"/>
            <a:ext cx="1600200" cy="347472"/>
          </a:xfrm>
          <a:prstGeom prst="rect">
            <a:avLst/>
          </a:prstGeom>
          <a:noFill/>
          <a:ln/>
        </p:spPr>
        <p:txBody>
          <a:bodyPr wrap="square" lIns="0" tIns="0" rIns="0" bIns="0" rtlCol="0" anchor="ctr"/>
          <a:lstStyle/>
          <a:p>
            <a:pPr marL="0" indent="0">
              <a:buNone/>
            </a:pPr>
            <a:r>
              <a:rPr lang="en-US" sz="1000" b="1" dirty="0">
                <a:solidFill>
                  <a:srgbClr val="0D1B3E"/>
                </a:solidFill>
                <a:latin typeface="Consolas" pitchFamily="34" charset="0"/>
                <a:ea typeface="Consolas" pitchFamily="34" charset="-122"/>
                <a:cs typeface="Consolas" pitchFamily="34" charset="-120"/>
              </a:rPr>
              <a:t>account_id</a:t>
            </a:r>
            <a:endParaRPr lang="en-US" sz="1000" dirty="0"/>
          </a:p>
        </p:txBody>
      </p:sp>
      <p:sp>
        <p:nvSpPr>
          <p:cNvPr id="31" name="Text 29"/>
          <p:cNvSpPr/>
          <p:nvPr/>
        </p:nvSpPr>
        <p:spPr>
          <a:xfrm>
            <a:off x="6629400" y="1892808"/>
            <a:ext cx="2011680" cy="347472"/>
          </a:xfrm>
          <a:prstGeom prst="rect">
            <a:avLst/>
          </a:prstGeom>
          <a:noFill/>
          <a:ln/>
        </p:spPr>
        <p:txBody>
          <a:bodyPr wrap="square" lIns="0" tIns="0" rIns="0" bIns="0" rtlCol="0" anchor="ctr"/>
          <a:lstStyle/>
          <a:p>
            <a:pPr marL="0" indent="0">
              <a:buNone/>
            </a:pPr>
            <a:r>
              <a:rPr lang="en-US" sz="950" dirty="0">
                <a:solidFill>
                  <a:srgbClr val="334E70"/>
                </a:solidFill>
                <a:latin typeface="Consolas" pitchFamily="34" charset="0"/>
                <a:ea typeface="Consolas" pitchFamily="34" charset="-122"/>
                <a:cs typeface="Consolas" pitchFamily="34" charset="-120"/>
              </a:rPr>
              <a:t>INT, FK → accounts</a:t>
            </a:r>
            <a:endParaRPr lang="en-US" sz="950" dirty="0"/>
          </a:p>
        </p:txBody>
      </p:sp>
      <p:sp>
        <p:nvSpPr>
          <p:cNvPr id="32" name="Shape 30"/>
          <p:cNvSpPr/>
          <p:nvPr/>
        </p:nvSpPr>
        <p:spPr>
          <a:xfrm>
            <a:off x="4846320" y="2295144"/>
            <a:ext cx="3931920" cy="448056"/>
          </a:xfrm>
          <a:prstGeom prst="rect">
            <a:avLst/>
          </a:prstGeom>
          <a:solidFill>
            <a:srgbClr val="EEF4FB"/>
          </a:solidFill>
          <a:ln w="12700">
            <a:solidFill>
              <a:srgbClr val="EEF4FB"/>
            </a:solidFill>
            <a:prstDash val="solid"/>
          </a:ln>
        </p:spPr>
        <p:txBody>
          <a:bodyPr/>
          <a:lstStyle/>
          <a:p>
            <a:endParaRPr lang="en-IN"/>
          </a:p>
        </p:txBody>
      </p:sp>
      <p:sp>
        <p:nvSpPr>
          <p:cNvPr id="33" name="Text 31"/>
          <p:cNvSpPr/>
          <p:nvPr/>
        </p:nvSpPr>
        <p:spPr>
          <a:xfrm>
            <a:off x="4983480" y="2340864"/>
            <a:ext cx="1600200" cy="347472"/>
          </a:xfrm>
          <a:prstGeom prst="rect">
            <a:avLst/>
          </a:prstGeom>
          <a:noFill/>
          <a:ln/>
        </p:spPr>
        <p:txBody>
          <a:bodyPr wrap="square" lIns="0" tIns="0" rIns="0" bIns="0" rtlCol="0" anchor="ctr"/>
          <a:lstStyle/>
          <a:p>
            <a:pPr marL="0" indent="0">
              <a:buNone/>
            </a:pPr>
            <a:r>
              <a:rPr lang="en-US" sz="1000" b="1" dirty="0">
                <a:solidFill>
                  <a:srgbClr val="0D1B3E"/>
                </a:solidFill>
                <a:latin typeface="Consolas" pitchFamily="34" charset="0"/>
                <a:ea typeface="Consolas" pitchFamily="34" charset="-122"/>
                <a:cs typeface="Consolas" pitchFamily="34" charset="-120"/>
              </a:rPr>
              <a:t>type</a:t>
            </a:r>
            <a:endParaRPr lang="en-US" sz="1000" dirty="0"/>
          </a:p>
        </p:txBody>
      </p:sp>
      <p:sp>
        <p:nvSpPr>
          <p:cNvPr id="34" name="Text 32"/>
          <p:cNvSpPr/>
          <p:nvPr/>
        </p:nvSpPr>
        <p:spPr>
          <a:xfrm>
            <a:off x="6629400" y="2340864"/>
            <a:ext cx="2011680" cy="347472"/>
          </a:xfrm>
          <a:prstGeom prst="rect">
            <a:avLst/>
          </a:prstGeom>
          <a:noFill/>
          <a:ln/>
        </p:spPr>
        <p:txBody>
          <a:bodyPr wrap="square" lIns="0" tIns="0" rIns="0" bIns="0" rtlCol="0" anchor="ctr"/>
          <a:lstStyle/>
          <a:p>
            <a:pPr marL="0" indent="0">
              <a:buNone/>
            </a:pPr>
            <a:r>
              <a:rPr lang="en-US" sz="950" dirty="0">
                <a:solidFill>
                  <a:srgbClr val="334E70"/>
                </a:solidFill>
                <a:latin typeface="Consolas" pitchFamily="34" charset="0"/>
                <a:ea typeface="Consolas" pitchFamily="34" charset="-122"/>
                <a:cs typeface="Consolas" pitchFamily="34" charset="-120"/>
              </a:rPr>
              <a:t>ENUM(deposit, withdraw, transfer)</a:t>
            </a:r>
            <a:endParaRPr lang="en-US" sz="950" dirty="0"/>
          </a:p>
        </p:txBody>
      </p:sp>
      <p:sp>
        <p:nvSpPr>
          <p:cNvPr id="35" name="Text 33"/>
          <p:cNvSpPr/>
          <p:nvPr/>
        </p:nvSpPr>
        <p:spPr>
          <a:xfrm>
            <a:off x="4983480" y="2788920"/>
            <a:ext cx="1600200" cy="347472"/>
          </a:xfrm>
          <a:prstGeom prst="rect">
            <a:avLst/>
          </a:prstGeom>
          <a:noFill/>
          <a:ln/>
        </p:spPr>
        <p:txBody>
          <a:bodyPr wrap="square" lIns="0" tIns="0" rIns="0" bIns="0" rtlCol="0" anchor="ctr"/>
          <a:lstStyle/>
          <a:p>
            <a:pPr marL="0" indent="0">
              <a:buNone/>
            </a:pPr>
            <a:r>
              <a:rPr lang="en-US" sz="1000" b="1" dirty="0">
                <a:solidFill>
                  <a:srgbClr val="0D1B3E"/>
                </a:solidFill>
                <a:latin typeface="Consolas" pitchFamily="34" charset="0"/>
                <a:ea typeface="Consolas" pitchFamily="34" charset="-122"/>
                <a:cs typeface="Consolas" pitchFamily="34" charset="-120"/>
              </a:rPr>
              <a:t>amount</a:t>
            </a:r>
            <a:endParaRPr lang="en-US" sz="1000" dirty="0"/>
          </a:p>
        </p:txBody>
      </p:sp>
      <p:sp>
        <p:nvSpPr>
          <p:cNvPr id="36" name="Text 34"/>
          <p:cNvSpPr/>
          <p:nvPr/>
        </p:nvSpPr>
        <p:spPr>
          <a:xfrm>
            <a:off x="6629400" y="2788920"/>
            <a:ext cx="2011680" cy="347472"/>
          </a:xfrm>
          <a:prstGeom prst="rect">
            <a:avLst/>
          </a:prstGeom>
          <a:noFill/>
          <a:ln/>
        </p:spPr>
        <p:txBody>
          <a:bodyPr wrap="square" lIns="0" tIns="0" rIns="0" bIns="0" rtlCol="0" anchor="ctr"/>
          <a:lstStyle/>
          <a:p>
            <a:pPr marL="0" indent="0">
              <a:buNone/>
            </a:pPr>
            <a:r>
              <a:rPr lang="en-US" sz="950" dirty="0">
                <a:solidFill>
                  <a:srgbClr val="334E70"/>
                </a:solidFill>
                <a:latin typeface="Consolas" pitchFamily="34" charset="0"/>
                <a:ea typeface="Consolas" pitchFamily="34" charset="-122"/>
                <a:cs typeface="Consolas" pitchFamily="34" charset="-120"/>
              </a:rPr>
              <a:t>DECIMAL(15,2)</a:t>
            </a:r>
            <a:endParaRPr lang="en-US" sz="950" dirty="0"/>
          </a:p>
        </p:txBody>
      </p:sp>
      <p:sp>
        <p:nvSpPr>
          <p:cNvPr id="37" name="Shape 35"/>
          <p:cNvSpPr/>
          <p:nvPr/>
        </p:nvSpPr>
        <p:spPr>
          <a:xfrm>
            <a:off x="4846320" y="3191256"/>
            <a:ext cx="3931920" cy="448056"/>
          </a:xfrm>
          <a:prstGeom prst="rect">
            <a:avLst/>
          </a:prstGeom>
          <a:solidFill>
            <a:srgbClr val="EEF4FB"/>
          </a:solidFill>
          <a:ln w="12700">
            <a:solidFill>
              <a:srgbClr val="EEF4FB"/>
            </a:solidFill>
            <a:prstDash val="solid"/>
          </a:ln>
        </p:spPr>
        <p:txBody>
          <a:bodyPr/>
          <a:lstStyle/>
          <a:p>
            <a:endParaRPr lang="en-IN"/>
          </a:p>
        </p:txBody>
      </p:sp>
      <p:sp>
        <p:nvSpPr>
          <p:cNvPr id="38" name="Text 36"/>
          <p:cNvSpPr/>
          <p:nvPr/>
        </p:nvSpPr>
        <p:spPr>
          <a:xfrm>
            <a:off x="4983480" y="3236976"/>
            <a:ext cx="1600200" cy="347472"/>
          </a:xfrm>
          <a:prstGeom prst="rect">
            <a:avLst/>
          </a:prstGeom>
          <a:noFill/>
          <a:ln/>
        </p:spPr>
        <p:txBody>
          <a:bodyPr wrap="square" lIns="0" tIns="0" rIns="0" bIns="0" rtlCol="0" anchor="ctr"/>
          <a:lstStyle/>
          <a:p>
            <a:pPr marL="0" indent="0">
              <a:buNone/>
            </a:pPr>
            <a:r>
              <a:rPr lang="en-US" sz="1000" b="1" dirty="0">
                <a:solidFill>
                  <a:srgbClr val="0D1B3E"/>
                </a:solidFill>
                <a:latin typeface="Consolas" pitchFamily="34" charset="0"/>
                <a:ea typeface="Consolas" pitchFamily="34" charset="-122"/>
                <a:cs typeface="Consolas" pitchFamily="34" charset="-120"/>
              </a:rPr>
              <a:t>target_account_id</a:t>
            </a:r>
            <a:endParaRPr lang="en-US" sz="1000" dirty="0"/>
          </a:p>
        </p:txBody>
      </p:sp>
      <p:sp>
        <p:nvSpPr>
          <p:cNvPr id="39" name="Text 37"/>
          <p:cNvSpPr/>
          <p:nvPr/>
        </p:nvSpPr>
        <p:spPr>
          <a:xfrm>
            <a:off x="6629400" y="3236976"/>
            <a:ext cx="2011680" cy="347472"/>
          </a:xfrm>
          <a:prstGeom prst="rect">
            <a:avLst/>
          </a:prstGeom>
          <a:noFill/>
          <a:ln/>
        </p:spPr>
        <p:txBody>
          <a:bodyPr wrap="square" lIns="0" tIns="0" rIns="0" bIns="0" rtlCol="0" anchor="ctr"/>
          <a:lstStyle/>
          <a:p>
            <a:pPr marL="0" indent="0">
              <a:buNone/>
            </a:pPr>
            <a:r>
              <a:rPr lang="en-US" sz="950" dirty="0">
                <a:solidFill>
                  <a:srgbClr val="334E70"/>
                </a:solidFill>
                <a:latin typeface="Consolas" pitchFamily="34" charset="0"/>
                <a:ea typeface="Consolas" pitchFamily="34" charset="-122"/>
                <a:cs typeface="Consolas" pitchFamily="34" charset="-120"/>
              </a:rPr>
              <a:t>INT, NULLABLE</a:t>
            </a:r>
            <a:endParaRPr lang="en-US" sz="950" dirty="0"/>
          </a:p>
        </p:txBody>
      </p:sp>
      <p:sp>
        <p:nvSpPr>
          <p:cNvPr id="40" name="Text 38"/>
          <p:cNvSpPr/>
          <p:nvPr/>
        </p:nvSpPr>
        <p:spPr>
          <a:xfrm>
            <a:off x="4983480" y="3685032"/>
            <a:ext cx="1600200" cy="347472"/>
          </a:xfrm>
          <a:prstGeom prst="rect">
            <a:avLst/>
          </a:prstGeom>
          <a:noFill/>
          <a:ln/>
        </p:spPr>
        <p:txBody>
          <a:bodyPr wrap="square" lIns="0" tIns="0" rIns="0" bIns="0" rtlCol="0" anchor="ctr"/>
          <a:lstStyle/>
          <a:p>
            <a:pPr marL="0" indent="0">
              <a:buNone/>
            </a:pPr>
            <a:r>
              <a:rPr lang="en-US" sz="1000" b="1" dirty="0">
                <a:solidFill>
                  <a:srgbClr val="0D1B3E"/>
                </a:solidFill>
                <a:latin typeface="Consolas" pitchFamily="34" charset="0"/>
                <a:ea typeface="Consolas" pitchFamily="34" charset="-122"/>
                <a:cs typeface="Consolas" pitchFamily="34" charset="-120"/>
              </a:rPr>
              <a:t>created_at</a:t>
            </a:r>
            <a:endParaRPr lang="en-US" sz="1000" dirty="0"/>
          </a:p>
        </p:txBody>
      </p:sp>
      <p:sp>
        <p:nvSpPr>
          <p:cNvPr id="41" name="Text 39"/>
          <p:cNvSpPr/>
          <p:nvPr/>
        </p:nvSpPr>
        <p:spPr>
          <a:xfrm>
            <a:off x="6629400" y="3685032"/>
            <a:ext cx="2011680" cy="347472"/>
          </a:xfrm>
          <a:prstGeom prst="rect">
            <a:avLst/>
          </a:prstGeom>
          <a:noFill/>
          <a:ln/>
        </p:spPr>
        <p:txBody>
          <a:bodyPr wrap="square" lIns="0" tIns="0" rIns="0" bIns="0" rtlCol="0" anchor="ctr"/>
          <a:lstStyle/>
          <a:p>
            <a:pPr marL="0" indent="0">
              <a:buNone/>
            </a:pPr>
            <a:r>
              <a:rPr lang="en-US" sz="950" dirty="0">
                <a:solidFill>
                  <a:srgbClr val="334E70"/>
                </a:solidFill>
                <a:latin typeface="Consolas" pitchFamily="34" charset="0"/>
                <a:ea typeface="Consolas" pitchFamily="34" charset="-122"/>
                <a:cs typeface="Consolas" pitchFamily="34" charset="-120"/>
              </a:rPr>
              <a:t>TIMESTAMP, DEFAULT NOW()</a:t>
            </a:r>
            <a:endParaRPr lang="en-US" sz="950" dirty="0"/>
          </a:p>
        </p:txBody>
      </p:sp>
      <p:sp>
        <p:nvSpPr>
          <p:cNvPr id="42" name="Shape 40"/>
          <p:cNvSpPr/>
          <p:nvPr/>
        </p:nvSpPr>
        <p:spPr>
          <a:xfrm>
            <a:off x="4023360" y="1901952"/>
            <a:ext cx="822960" cy="36576"/>
          </a:xfrm>
          <a:prstGeom prst="rect">
            <a:avLst/>
          </a:prstGeom>
          <a:solidFill>
            <a:srgbClr val="F0A500"/>
          </a:solidFill>
          <a:ln w="12700">
            <a:solidFill>
              <a:srgbClr val="F0A500"/>
            </a:solidFill>
            <a:prstDash val="solid"/>
          </a:ln>
        </p:spPr>
        <p:txBody>
          <a:bodyPr/>
          <a:lstStyle/>
          <a:p>
            <a:endParaRPr lang="en-IN"/>
          </a:p>
        </p:txBody>
      </p:sp>
      <p:sp>
        <p:nvSpPr>
          <p:cNvPr id="43" name="Text 41"/>
          <p:cNvSpPr/>
          <p:nvPr/>
        </p:nvSpPr>
        <p:spPr>
          <a:xfrm>
            <a:off x="4041648" y="1664208"/>
            <a:ext cx="457200" cy="228600"/>
          </a:xfrm>
          <a:prstGeom prst="rect">
            <a:avLst/>
          </a:prstGeom>
          <a:noFill/>
          <a:ln/>
        </p:spPr>
        <p:txBody>
          <a:bodyPr wrap="square" lIns="0" tIns="0" rIns="0" bIns="0" rtlCol="0" anchor="ctr"/>
          <a:lstStyle/>
          <a:p>
            <a:pPr marL="0" indent="0">
              <a:buNone/>
            </a:pPr>
            <a:r>
              <a:rPr lang="en-US" sz="900" b="1" dirty="0">
                <a:solidFill>
                  <a:srgbClr val="F0A500"/>
                </a:solidFill>
                <a:latin typeface="Calibri" pitchFamily="34" charset="0"/>
                <a:ea typeface="Calibri" pitchFamily="34" charset="-122"/>
                <a:cs typeface="Calibri" pitchFamily="34" charset="-120"/>
              </a:rPr>
              <a:t>FK</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8F8F"/>
          </a:solidFill>
          <a:ln w="12700">
            <a:solidFill>
              <a:srgbClr val="0A8F8F"/>
            </a:solidFill>
            <a:prstDash val="solid"/>
          </a:ln>
        </p:spPr>
        <p:txBody>
          <a:bodyPr/>
          <a:lstStyle/>
          <a:p>
            <a:endParaRPr lang="en-IN"/>
          </a:p>
        </p:txBody>
      </p:sp>
      <p:sp>
        <p:nvSpPr>
          <p:cNvPr id="3" name="Text 1"/>
          <p:cNvSpPr/>
          <p:nvPr/>
        </p:nvSpPr>
        <p:spPr>
          <a:xfrm>
            <a:off x="411480" y="164592"/>
            <a:ext cx="8321040" cy="566928"/>
          </a:xfrm>
          <a:prstGeom prst="rect">
            <a:avLst/>
          </a:prstGeom>
          <a:noFill/>
          <a:ln/>
        </p:spPr>
        <p:txBody>
          <a:bodyPr wrap="square" lIns="0" tIns="0" rIns="0" bIns="0" rtlCol="0" anchor="ctr"/>
          <a:lstStyle/>
          <a:p>
            <a:pPr marL="0" indent="0">
              <a:buNone/>
            </a:pPr>
            <a:r>
              <a:rPr lang="en-US" sz="2600" b="1" dirty="0">
                <a:solidFill>
                  <a:srgbClr val="0D1B3E"/>
                </a:solidFill>
                <a:latin typeface="Calibri" pitchFamily="34" charset="0"/>
                <a:ea typeface="Calibri" pitchFamily="34" charset="-122"/>
                <a:cs typeface="Calibri" pitchFamily="34" charset="-120"/>
              </a:rPr>
              <a:t>API &amp; Backend Working</a:t>
            </a:r>
            <a:endParaRPr lang="en-US" sz="2600" dirty="0"/>
          </a:p>
        </p:txBody>
      </p:sp>
      <p:sp>
        <p:nvSpPr>
          <p:cNvPr id="4" name="Shape 2"/>
          <p:cNvSpPr/>
          <p:nvPr/>
        </p:nvSpPr>
        <p:spPr>
          <a:xfrm>
            <a:off x="411480" y="749808"/>
            <a:ext cx="8321040" cy="22860"/>
          </a:xfrm>
          <a:prstGeom prst="rect">
            <a:avLst/>
          </a:prstGeom>
          <a:solidFill>
            <a:srgbClr val="0A8F8F"/>
          </a:solidFill>
          <a:ln w="12700">
            <a:solidFill>
              <a:srgbClr val="0A8F8F"/>
            </a:solidFill>
            <a:prstDash val="solid"/>
          </a:ln>
        </p:spPr>
        <p:txBody>
          <a:bodyPr/>
          <a:lstStyle/>
          <a:p>
            <a:endParaRPr lang="en-IN"/>
          </a:p>
        </p:txBody>
      </p:sp>
      <p:sp>
        <p:nvSpPr>
          <p:cNvPr id="5" name="Shape 3"/>
          <p:cNvSpPr/>
          <p:nvPr/>
        </p:nvSpPr>
        <p:spPr>
          <a:xfrm>
            <a:off x="0" y="5001768"/>
            <a:ext cx="9144000" cy="141732"/>
          </a:xfrm>
          <a:prstGeom prst="rect">
            <a:avLst/>
          </a:prstGeom>
          <a:solidFill>
            <a:srgbClr val="0D1B3E"/>
          </a:solidFill>
          <a:ln w="12700">
            <a:solidFill>
              <a:srgbClr val="0D1B3E"/>
            </a:solidFill>
            <a:prstDash val="solid"/>
          </a:ln>
        </p:spPr>
        <p:txBody>
          <a:bodyPr/>
          <a:lstStyle/>
          <a:p>
            <a:endParaRPr lang="en-IN"/>
          </a:p>
        </p:txBody>
      </p:sp>
      <p:sp>
        <p:nvSpPr>
          <p:cNvPr id="6" name="Text 4"/>
          <p:cNvSpPr/>
          <p:nvPr/>
        </p:nvSpPr>
        <p:spPr>
          <a:xfrm>
            <a:off x="274320" y="5001768"/>
            <a:ext cx="6400800" cy="141732"/>
          </a:xfrm>
          <a:prstGeom prst="rect">
            <a:avLst/>
          </a:prstGeom>
          <a:noFill/>
          <a:ln/>
        </p:spPr>
        <p:txBody>
          <a:bodyPr wrap="square" lIns="0" tIns="0" rIns="0" bIns="0" rtlCol="0" anchor="ctr"/>
          <a:lstStyle/>
          <a:p>
            <a:pPr marL="0" indent="0">
              <a:buNone/>
            </a:pPr>
            <a:r>
              <a:rPr lang="en-US" sz="800" dirty="0">
                <a:solidFill>
                  <a:srgbClr val="8BAED4"/>
                </a:solidFill>
                <a:latin typeface="Calibri" pitchFamily="34" charset="0"/>
                <a:ea typeface="Calibri" pitchFamily="34" charset="-122"/>
                <a:cs typeface="Calibri" pitchFamily="34" charset="-120"/>
              </a:rPr>
              <a:t>Banking Application  |  Project Review</a:t>
            </a:r>
            <a:endParaRPr lang="en-US" sz="800" dirty="0"/>
          </a:p>
        </p:txBody>
      </p:sp>
      <p:sp>
        <p:nvSpPr>
          <p:cNvPr id="7" name="Text 5"/>
          <p:cNvSpPr/>
          <p:nvPr/>
        </p:nvSpPr>
        <p:spPr>
          <a:xfrm>
            <a:off x="8229600" y="5001768"/>
            <a:ext cx="731520" cy="141732"/>
          </a:xfrm>
          <a:prstGeom prst="rect">
            <a:avLst/>
          </a:prstGeom>
          <a:noFill/>
          <a:ln/>
        </p:spPr>
        <p:txBody>
          <a:bodyPr wrap="square" lIns="0" tIns="0" rIns="0" bIns="0" rtlCol="0" anchor="ctr"/>
          <a:lstStyle/>
          <a:p>
            <a:pPr marL="0" indent="0" algn="r">
              <a:buNone/>
            </a:pPr>
            <a:r>
              <a:rPr lang="en-US" sz="800" dirty="0">
                <a:solidFill>
                  <a:srgbClr val="8BAED4"/>
                </a:solidFill>
                <a:latin typeface="Calibri" pitchFamily="34" charset="0"/>
                <a:ea typeface="Calibri" pitchFamily="34" charset="-122"/>
                <a:cs typeface="Calibri" pitchFamily="34" charset="-120"/>
              </a:rPr>
              <a:t>9 / 16</a:t>
            </a:r>
            <a:endParaRPr lang="en-US" sz="800" dirty="0"/>
          </a:p>
        </p:txBody>
      </p:sp>
      <p:sp>
        <p:nvSpPr>
          <p:cNvPr id="8" name="Shape 6"/>
          <p:cNvSpPr/>
          <p:nvPr/>
        </p:nvSpPr>
        <p:spPr>
          <a:xfrm>
            <a:off x="365760" y="987552"/>
            <a:ext cx="8412480" cy="512064"/>
          </a:xfrm>
          <a:prstGeom prst="rect">
            <a:avLst/>
          </a:prstGeom>
          <a:solidFill>
            <a:srgbClr val="FFFFFF"/>
          </a:solidFill>
          <a:ln w="12700">
            <a:solidFill>
              <a:srgbClr val="CBD5E1"/>
            </a:solidFill>
            <a:prstDash val="solid"/>
          </a:ln>
        </p:spPr>
        <p:txBody>
          <a:bodyPr/>
          <a:lstStyle/>
          <a:p>
            <a:endParaRPr lang="en-IN"/>
          </a:p>
        </p:txBody>
      </p:sp>
      <p:sp>
        <p:nvSpPr>
          <p:cNvPr id="9" name="Shape 7"/>
          <p:cNvSpPr/>
          <p:nvPr/>
        </p:nvSpPr>
        <p:spPr>
          <a:xfrm>
            <a:off x="365760" y="987552"/>
            <a:ext cx="731520" cy="512064"/>
          </a:xfrm>
          <a:prstGeom prst="rect">
            <a:avLst/>
          </a:prstGeom>
          <a:solidFill>
            <a:srgbClr val="16A34A"/>
          </a:solidFill>
          <a:ln w="12700">
            <a:solidFill>
              <a:srgbClr val="16A34A"/>
            </a:solidFill>
            <a:prstDash val="solid"/>
          </a:ln>
        </p:spPr>
        <p:txBody>
          <a:bodyPr/>
          <a:lstStyle/>
          <a:p>
            <a:endParaRPr lang="en-IN"/>
          </a:p>
        </p:txBody>
      </p:sp>
      <p:sp>
        <p:nvSpPr>
          <p:cNvPr id="10" name="Text 8"/>
          <p:cNvSpPr/>
          <p:nvPr/>
        </p:nvSpPr>
        <p:spPr>
          <a:xfrm>
            <a:off x="365760" y="987552"/>
            <a:ext cx="731520" cy="512064"/>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POST</a:t>
            </a:r>
            <a:endParaRPr lang="en-US" sz="950" dirty="0"/>
          </a:p>
        </p:txBody>
      </p:sp>
      <p:sp>
        <p:nvSpPr>
          <p:cNvPr id="11" name="Text 9"/>
          <p:cNvSpPr/>
          <p:nvPr/>
        </p:nvSpPr>
        <p:spPr>
          <a:xfrm>
            <a:off x="1188720" y="987552"/>
            <a:ext cx="3017520" cy="512064"/>
          </a:xfrm>
          <a:prstGeom prst="rect">
            <a:avLst/>
          </a:prstGeom>
          <a:noFill/>
          <a:ln/>
        </p:spPr>
        <p:txBody>
          <a:bodyPr wrap="square" lIns="0" tIns="0" rIns="0" bIns="0" rtlCol="0" anchor="ctr"/>
          <a:lstStyle/>
          <a:p>
            <a:pPr marL="0" indent="0">
              <a:buNone/>
            </a:pPr>
            <a:r>
              <a:rPr lang="en-US" sz="1100" dirty="0">
                <a:solidFill>
                  <a:srgbClr val="0D1B3E"/>
                </a:solidFill>
                <a:latin typeface="Consolas" pitchFamily="34" charset="0"/>
                <a:ea typeface="Consolas" pitchFamily="34" charset="-122"/>
                <a:cs typeface="Consolas" pitchFamily="34" charset="-120"/>
              </a:rPr>
              <a:t>/accounts</a:t>
            </a:r>
            <a:endParaRPr lang="en-US" sz="1100" dirty="0"/>
          </a:p>
        </p:txBody>
      </p:sp>
      <p:sp>
        <p:nvSpPr>
          <p:cNvPr id="12" name="Text 10"/>
          <p:cNvSpPr/>
          <p:nvPr/>
        </p:nvSpPr>
        <p:spPr>
          <a:xfrm>
            <a:off x="4297680" y="987552"/>
            <a:ext cx="4297680" cy="512064"/>
          </a:xfrm>
          <a:prstGeom prst="rect">
            <a:avLst/>
          </a:prstGeom>
          <a:noFill/>
          <a:ln/>
        </p:spPr>
        <p:txBody>
          <a:bodyPr wrap="square" lIns="0" tIns="0" rIns="0" bIns="0" rtlCol="0" anchor="ctr"/>
          <a:lstStyle/>
          <a:p>
            <a:pPr marL="0" indent="0">
              <a:buNone/>
            </a:pPr>
            <a:r>
              <a:rPr lang="en-US" sz="1100" dirty="0">
                <a:solidFill>
                  <a:srgbClr val="334E70"/>
                </a:solidFill>
                <a:latin typeface="Calibri" pitchFamily="34" charset="0"/>
                <a:ea typeface="Calibri" pitchFamily="34" charset="-122"/>
                <a:cs typeface="Calibri" pitchFamily="34" charset="-120"/>
              </a:rPr>
              <a:t>Create new bank account</a:t>
            </a:r>
            <a:endParaRPr lang="en-US" sz="1100" dirty="0"/>
          </a:p>
        </p:txBody>
      </p:sp>
      <p:sp>
        <p:nvSpPr>
          <p:cNvPr id="13" name="Shape 11"/>
          <p:cNvSpPr/>
          <p:nvPr/>
        </p:nvSpPr>
        <p:spPr>
          <a:xfrm>
            <a:off x="365760" y="1563624"/>
            <a:ext cx="8412480" cy="512064"/>
          </a:xfrm>
          <a:prstGeom prst="rect">
            <a:avLst/>
          </a:prstGeom>
          <a:solidFill>
            <a:srgbClr val="EEF4FB"/>
          </a:solidFill>
          <a:ln w="12700">
            <a:solidFill>
              <a:srgbClr val="CBD5E1"/>
            </a:solidFill>
            <a:prstDash val="solid"/>
          </a:ln>
        </p:spPr>
        <p:txBody>
          <a:bodyPr/>
          <a:lstStyle/>
          <a:p>
            <a:endParaRPr lang="en-IN"/>
          </a:p>
        </p:txBody>
      </p:sp>
      <p:sp>
        <p:nvSpPr>
          <p:cNvPr id="14" name="Shape 12"/>
          <p:cNvSpPr/>
          <p:nvPr/>
        </p:nvSpPr>
        <p:spPr>
          <a:xfrm>
            <a:off x="365760" y="1563624"/>
            <a:ext cx="731520" cy="512064"/>
          </a:xfrm>
          <a:prstGeom prst="rect">
            <a:avLst/>
          </a:prstGeom>
          <a:solidFill>
            <a:srgbClr val="2563EB"/>
          </a:solidFill>
          <a:ln w="12700">
            <a:solidFill>
              <a:srgbClr val="2563EB"/>
            </a:solidFill>
            <a:prstDash val="solid"/>
          </a:ln>
        </p:spPr>
        <p:txBody>
          <a:bodyPr/>
          <a:lstStyle/>
          <a:p>
            <a:endParaRPr lang="en-IN"/>
          </a:p>
        </p:txBody>
      </p:sp>
      <p:sp>
        <p:nvSpPr>
          <p:cNvPr id="15" name="Text 13"/>
          <p:cNvSpPr/>
          <p:nvPr/>
        </p:nvSpPr>
        <p:spPr>
          <a:xfrm>
            <a:off x="365760" y="1563624"/>
            <a:ext cx="731520" cy="512064"/>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GET</a:t>
            </a:r>
            <a:endParaRPr lang="en-US" sz="950" dirty="0"/>
          </a:p>
        </p:txBody>
      </p:sp>
      <p:sp>
        <p:nvSpPr>
          <p:cNvPr id="16" name="Text 14"/>
          <p:cNvSpPr/>
          <p:nvPr/>
        </p:nvSpPr>
        <p:spPr>
          <a:xfrm>
            <a:off x="1188720" y="1563624"/>
            <a:ext cx="3017520" cy="512064"/>
          </a:xfrm>
          <a:prstGeom prst="rect">
            <a:avLst/>
          </a:prstGeom>
          <a:noFill/>
          <a:ln/>
        </p:spPr>
        <p:txBody>
          <a:bodyPr wrap="square" lIns="0" tIns="0" rIns="0" bIns="0" rtlCol="0" anchor="ctr"/>
          <a:lstStyle/>
          <a:p>
            <a:pPr marL="0" indent="0">
              <a:buNone/>
            </a:pPr>
            <a:r>
              <a:rPr lang="en-US" sz="1100" dirty="0">
                <a:solidFill>
                  <a:srgbClr val="0D1B3E"/>
                </a:solidFill>
                <a:latin typeface="Consolas" pitchFamily="34" charset="0"/>
                <a:ea typeface="Consolas" pitchFamily="34" charset="-122"/>
                <a:cs typeface="Consolas" pitchFamily="34" charset="-120"/>
              </a:rPr>
              <a:t>/accounts</a:t>
            </a:r>
            <a:endParaRPr lang="en-US" sz="1100" dirty="0"/>
          </a:p>
        </p:txBody>
      </p:sp>
      <p:sp>
        <p:nvSpPr>
          <p:cNvPr id="17" name="Text 15"/>
          <p:cNvSpPr/>
          <p:nvPr/>
        </p:nvSpPr>
        <p:spPr>
          <a:xfrm>
            <a:off x="4297680" y="1563624"/>
            <a:ext cx="4297680" cy="512064"/>
          </a:xfrm>
          <a:prstGeom prst="rect">
            <a:avLst/>
          </a:prstGeom>
          <a:noFill/>
          <a:ln/>
        </p:spPr>
        <p:txBody>
          <a:bodyPr wrap="square" lIns="0" tIns="0" rIns="0" bIns="0" rtlCol="0" anchor="ctr"/>
          <a:lstStyle/>
          <a:p>
            <a:pPr marL="0" indent="0">
              <a:buNone/>
            </a:pPr>
            <a:r>
              <a:rPr lang="en-US" sz="1100" dirty="0">
                <a:solidFill>
                  <a:srgbClr val="334E70"/>
                </a:solidFill>
                <a:latin typeface="Calibri" pitchFamily="34" charset="0"/>
                <a:ea typeface="Calibri" pitchFamily="34" charset="-122"/>
                <a:cs typeface="Calibri" pitchFamily="34" charset="-120"/>
              </a:rPr>
              <a:t>List all accounts</a:t>
            </a:r>
            <a:endParaRPr lang="en-US" sz="1100" dirty="0"/>
          </a:p>
        </p:txBody>
      </p:sp>
      <p:sp>
        <p:nvSpPr>
          <p:cNvPr id="18" name="Shape 16"/>
          <p:cNvSpPr/>
          <p:nvPr/>
        </p:nvSpPr>
        <p:spPr>
          <a:xfrm>
            <a:off x="365760" y="2139696"/>
            <a:ext cx="8412480" cy="512064"/>
          </a:xfrm>
          <a:prstGeom prst="rect">
            <a:avLst/>
          </a:prstGeom>
          <a:solidFill>
            <a:srgbClr val="FFFFFF"/>
          </a:solidFill>
          <a:ln w="12700">
            <a:solidFill>
              <a:srgbClr val="CBD5E1"/>
            </a:solidFill>
            <a:prstDash val="solid"/>
          </a:ln>
        </p:spPr>
        <p:txBody>
          <a:bodyPr/>
          <a:lstStyle/>
          <a:p>
            <a:endParaRPr lang="en-IN"/>
          </a:p>
        </p:txBody>
      </p:sp>
      <p:sp>
        <p:nvSpPr>
          <p:cNvPr id="19" name="Shape 17"/>
          <p:cNvSpPr/>
          <p:nvPr/>
        </p:nvSpPr>
        <p:spPr>
          <a:xfrm>
            <a:off x="365760" y="2139696"/>
            <a:ext cx="731520" cy="512064"/>
          </a:xfrm>
          <a:prstGeom prst="rect">
            <a:avLst/>
          </a:prstGeom>
          <a:solidFill>
            <a:srgbClr val="2563EB"/>
          </a:solidFill>
          <a:ln w="12700">
            <a:solidFill>
              <a:srgbClr val="2563EB"/>
            </a:solidFill>
            <a:prstDash val="solid"/>
          </a:ln>
        </p:spPr>
        <p:txBody>
          <a:bodyPr/>
          <a:lstStyle/>
          <a:p>
            <a:endParaRPr lang="en-IN"/>
          </a:p>
        </p:txBody>
      </p:sp>
      <p:sp>
        <p:nvSpPr>
          <p:cNvPr id="20" name="Text 18"/>
          <p:cNvSpPr/>
          <p:nvPr/>
        </p:nvSpPr>
        <p:spPr>
          <a:xfrm>
            <a:off x="365760" y="2139696"/>
            <a:ext cx="731520" cy="512064"/>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GET</a:t>
            </a:r>
            <a:endParaRPr lang="en-US" sz="950" dirty="0"/>
          </a:p>
        </p:txBody>
      </p:sp>
      <p:sp>
        <p:nvSpPr>
          <p:cNvPr id="21" name="Text 19"/>
          <p:cNvSpPr/>
          <p:nvPr/>
        </p:nvSpPr>
        <p:spPr>
          <a:xfrm>
            <a:off x="1188720" y="2139696"/>
            <a:ext cx="3017520" cy="512064"/>
          </a:xfrm>
          <a:prstGeom prst="rect">
            <a:avLst/>
          </a:prstGeom>
          <a:noFill/>
          <a:ln/>
        </p:spPr>
        <p:txBody>
          <a:bodyPr wrap="square" lIns="0" tIns="0" rIns="0" bIns="0" rtlCol="0" anchor="ctr"/>
          <a:lstStyle/>
          <a:p>
            <a:pPr marL="0" indent="0">
              <a:buNone/>
            </a:pPr>
            <a:r>
              <a:rPr lang="en-US" sz="1100" dirty="0">
                <a:solidFill>
                  <a:srgbClr val="0D1B3E"/>
                </a:solidFill>
                <a:latin typeface="Consolas" pitchFamily="34" charset="0"/>
                <a:ea typeface="Consolas" pitchFamily="34" charset="-122"/>
                <a:cs typeface="Consolas" pitchFamily="34" charset="-120"/>
              </a:rPr>
              <a:t>/accounts/:id</a:t>
            </a:r>
            <a:endParaRPr lang="en-US" sz="1100" dirty="0"/>
          </a:p>
        </p:txBody>
      </p:sp>
      <p:sp>
        <p:nvSpPr>
          <p:cNvPr id="22" name="Text 20"/>
          <p:cNvSpPr/>
          <p:nvPr/>
        </p:nvSpPr>
        <p:spPr>
          <a:xfrm>
            <a:off x="4297680" y="2139696"/>
            <a:ext cx="4297680" cy="512064"/>
          </a:xfrm>
          <a:prstGeom prst="rect">
            <a:avLst/>
          </a:prstGeom>
          <a:noFill/>
          <a:ln/>
        </p:spPr>
        <p:txBody>
          <a:bodyPr wrap="square" lIns="0" tIns="0" rIns="0" bIns="0" rtlCol="0" anchor="ctr"/>
          <a:lstStyle/>
          <a:p>
            <a:pPr marL="0" indent="0">
              <a:buNone/>
            </a:pPr>
            <a:r>
              <a:rPr lang="en-US" sz="1100" dirty="0">
                <a:solidFill>
                  <a:srgbClr val="334E70"/>
                </a:solidFill>
                <a:latin typeface="Calibri" pitchFamily="34" charset="0"/>
                <a:ea typeface="Calibri" pitchFamily="34" charset="-122"/>
                <a:cs typeface="Calibri" pitchFamily="34" charset="-120"/>
              </a:rPr>
              <a:t>Get account by ID</a:t>
            </a:r>
            <a:endParaRPr lang="en-US" sz="1100" dirty="0"/>
          </a:p>
        </p:txBody>
      </p:sp>
      <p:sp>
        <p:nvSpPr>
          <p:cNvPr id="23" name="Shape 21"/>
          <p:cNvSpPr/>
          <p:nvPr/>
        </p:nvSpPr>
        <p:spPr>
          <a:xfrm>
            <a:off x="365760" y="2715768"/>
            <a:ext cx="8412480" cy="512064"/>
          </a:xfrm>
          <a:prstGeom prst="rect">
            <a:avLst/>
          </a:prstGeom>
          <a:solidFill>
            <a:srgbClr val="EEF4FB"/>
          </a:solidFill>
          <a:ln w="12700">
            <a:solidFill>
              <a:srgbClr val="CBD5E1"/>
            </a:solidFill>
            <a:prstDash val="solid"/>
          </a:ln>
        </p:spPr>
        <p:txBody>
          <a:bodyPr/>
          <a:lstStyle/>
          <a:p>
            <a:endParaRPr lang="en-IN"/>
          </a:p>
        </p:txBody>
      </p:sp>
      <p:sp>
        <p:nvSpPr>
          <p:cNvPr id="24" name="Shape 22"/>
          <p:cNvSpPr/>
          <p:nvPr/>
        </p:nvSpPr>
        <p:spPr>
          <a:xfrm>
            <a:off x="365760" y="2715768"/>
            <a:ext cx="731520" cy="512064"/>
          </a:xfrm>
          <a:prstGeom prst="rect">
            <a:avLst/>
          </a:prstGeom>
          <a:solidFill>
            <a:srgbClr val="16A34A"/>
          </a:solidFill>
          <a:ln w="12700">
            <a:solidFill>
              <a:srgbClr val="16A34A"/>
            </a:solidFill>
            <a:prstDash val="solid"/>
          </a:ln>
        </p:spPr>
        <p:txBody>
          <a:bodyPr/>
          <a:lstStyle/>
          <a:p>
            <a:endParaRPr lang="en-IN"/>
          </a:p>
        </p:txBody>
      </p:sp>
      <p:sp>
        <p:nvSpPr>
          <p:cNvPr id="25" name="Text 23"/>
          <p:cNvSpPr/>
          <p:nvPr/>
        </p:nvSpPr>
        <p:spPr>
          <a:xfrm>
            <a:off x="365760" y="2715768"/>
            <a:ext cx="731520" cy="512064"/>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POST</a:t>
            </a:r>
            <a:endParaRPr lang="en-US" sz="950" dirty="0"/>
          </a:p>
        </p:txBody>
      </p:sp>
      <p:sp>
        <p:nvSpPr>
          <p:cNvPr id="26" name="Text 24"/>
          <p:cNvSpPr/>
          <p:nvPr/>
        </p:nvSpPr>
        <p:spPr>
          <a:xfrm>
            <a:off x="1188720" y="2715768"/>
            <a:ext cx="3017520" cy="512064"/>
          </a:xfrm>
          <a:prstGeom prst="rect">
            <a:avLst/>
          </a:prstGeom>
          <a:noFill/>
          <a:ln/>
        </p:spPr>
        <p:txBody>
          <a:bodyPr wrap="square" lIns="0" tIns="0" rIns="0" bIns="0" rtlCol="0" anchor="ctr"/>
          <a:lstStyle/>
          <a:p>
            <a:pPr marL="0" indent="0">
              <a:buNone/>
            </a:pPr>
            <a:r>
              <a:rPr lang="en-US" sz="1100" dirty="0">
                <a:solidFill>
                  <a:srgbClr val="0D1B3E"/>
                </a:solidFill>
                <a:latin typeface="Consolas" pitchFamily="34" charset="0"/>
                <a:ea typeface="Consolas" pitchFamily="34" charset="-122"/>
                <a:cs typeface="Consolas" pitchFamily="34" charset="-120"/>
              </a:rPr>
              <a:t>/accounts/:id/deposit</a:t>
            </a:r>
            <a:endParaRPr lang="en-US" sz="1100" dirty="0"/>
          </a:p>
        </p:txBody>
      </p:sp>
      <p:sp>
        <p:nvSpPr>
          <p:cNvPr id="27" name="Text 25"/>
          <p:cNvSpPr/>
          <p:nvPr/>
        </p:nvSpPr>
        <p:spPr>
          <a:xfrm>
            <a:off x="4297680" y="2715768"/>
            <a:ext cx="4297680" cy="512064"/>
          </a:xfrm>
          <a:prstGeom prst="rect">
            <a:avLst/>
          </a:prstGeom>
          <a:noFill/>
          <a:ln/>
        </p:spPr>
        <p:txBody>
          <a:bodyPr wrap="square" lIns="0" tIns="0" rIns="0" bIns="0" rtlCol="0" anchor="ctr"/>
          <a:lstStyle/>
          <a:p>
            <a:pPr marL="0" indent="0">
              <a:buNone/>
            </a:pPr>
            <a:r>
              <a:rPr lang="en-US" sz="1100" dirty="0">
                <a:solidFill>
                  <a:srgbClr val="334E70"/>
                </a:solidFill>
                <a:latin typeface="Calibri" pitchFamily="34" charset="0"/>
                <a:ea typeface="Calibri" pitchFamily="34" charset="-122"/>
                <a:cs typeface="Calibri" pitchFamily="34" charset="-120"/>
              </a:rPr>
              <a:t>Deposit amount to account</a:t>
            </a:r>
            <a:endParaRPr lang="en-US" sz="1100" dirty="0"/>
          </a:p>
        </p:txBody>
      </p:sp>
      <p:sp>
        <p:nvSpPr>
          <p:cNvPr id="28" name="Shape 26"/>
          <p:cNvSpPr/>
          <p:nvPr/>
        </p:nvSpPr>
        <p:spPr>
          <a:xfrm>
            <a:off x="365760" y="3291840"/>
            <a:ext cx="8412480" cy="512064"/>
          </a:xfrm>
          <a:prstGeom prst="rect">
            <a:avLst/>
          </a:prstGeom>
          <a:solidFill>
            <a:srgbClr val="FFFFFF"/>
          </a:solidFill>
          <a:ln w="12700">
            <a:solidFill>
              <a:srgbClr val="CBD5E1"/>
            </a:solidFill>
            <a:prstDash val="solid"/>
          </a:ln>
        </p:spPr>
        <p:txBody>
          <a:bodyPr/>
          <a:lstStyle/>
          <a:p>
            <a:endParaRPr lang="en-IN"/>
          </a:p>
        </p:txBody>
      </p:sp>
      <p:sp>
        <p:nvSpPr>
          <p:cNvPr id="29" name="Shape 27"/>
          <p:cNvSpPr/>
          <p:nvPr/>
        </p:nvSpPr>
        <p:spPr>
          <a:xfrm>
            <a:off x="365760" y="3291840"/>
            <a:ext cx="731520" cy="512064"/>
          </a:xfrm>
          <a:prstGeom prst="rect">
            <a:avLst/>
          </a:prstGeom>
          <a:solidFill>
            <a:srgbClr val="D64040"/>
          </a:solidFill>
          <a:ln w="12700">
            <a:solidFill>
              <a:srgbClr val="D64040"/>
            </a:solidFill>
            <a:prstDash val="solid"/>
          </a:ln>
        </p:spPr>
        <p:txBody>
          <a:bodyPr/>
          <a:lstStyle/>
          <a:p>
            <a:endParaRPr lang="en-IN"/>
          </a:p>
        </p:txBody>
      </p:sp>
      <p:sp>
        <p:nvSpPr>
          <p:cNvPr id="30" name="Text 28"/>
          <p:cNvSpPr/>
          <p:nvPr/>
        </p:nvSpPr>
        <p:spPr>
          <a:xfrm>
            <a:off x="365760" y="3291840"/>
            <a:ext cx="731520" cy="512064"/>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POST</a:t>
            </a:r>
            <a:endParaRPr lang="en-US" sz="950" dirty="0"/>
          </a:p>
        </p:txBody>
      </p:sp>
      <p:sp>
        <p:nvSpPr>
          <p:cNvPr id="31" name="Text 29"/>
          <p:cNvSpPr/>
          <p:nvPr/>
        </p:nvSpPr>
        <p:spPr>
          <a:xfrm>
            <a:off x="1188720" y="3291840"/>
            <a:ext cx="3017520" cy="512064"/>
          </a:xfrm>
          <a:prstGeom prst="rect">
            <a:avLst/>
          </a:prstGeom>
          <a:noFill/>
          <a:ln/>
        </p:spPr>
        <p:txBody>
          <a:bodyPr wrap="square" lIns="0" tIns="0" rIns="0" bIns="0" rtlCol="0" anchor="ctr"/>
          <a:lstStyle/>
          <a:p>
            <a:pPr marL="0" indent="0">
              <a:buNone/>
            </a:pPr>
            <a:r>
              <a:rPr lang="en-US" sz="1100" dirty="0">
                <a:solidFill>
                  <a:srgbClr val="0D1B3E"/>
                </a:solidFill>
                <a:latin typeface="Consolas" pitchFamily="34" charset="0"/>
                <a:ea typeface="Consolas" pitchFamily="34" charset="-122"/>
                <a:cs typeface="Consolas" pitchFamily="34" charset="-120"/>
              </a:rPr>
              <a:t>/accounts/:id/withdraw</a:t>
            </a:r>
            <a:endParaRPr lang="en-US" sz="1100" dirty="0"/>
          </a:p>
        </p:txBody>
      </p:sp>
      <p:sp>
        <p:nvSpPr>
          <p:cNvPr id="32" name="Text 30"/>
          <p:cNvSpPr/>
          <p:nvPr/>
        </p:nvSpPr>
        <p:spPr>
          <a:xfrm>
            <a:off x="4297680" y="3291840"/>
            <a:ext cx="4297680" cy="512064"/>
          </a:xfrm>
          <a:prstGeom prst="rect">
            <a:avLst/>
          </a:prstGeom>
          <a:noFill/>
          <a:ln/>
        </p:spPr>
        <p:txBody>
          <a:bodyPr wrap="square" lIns="0" tIns="0" rIns="0" bIns="0" rtlCol="0" anchor="ctr"/>
          <a:lstStyle/>
          <a:p>
            <a:pPr marL="0" indent="0">
              <a:buNone/>
            </a:pPr>
            <a:r>
              <a:rPr lang="en-US" sz="1100" dirty="0">
                <a:solidFill>
                  <a:srgbClr val="334E70"/>
                </a:solidFill>
                <a:latin typeface="Calibri" pitchFamily="34" charset="0"/>
                <a:ea typeface="Calibri" pitchFamily="34" charset="-122"/>
                <a:cs typeface="Calibri" pitchFamily="34" charset="-120"/>
              </a:rPr>
              <a:t>Withdraw amount from account</a:t>
            </a:r>
            <a:endParaRPr lang="en-US" sz="1100" dirty="0"/>
          </a:p>
        </p:txBody>
      </p:sp>
      <p:sp>
        <p:nvSpPr>
          <p:cNvPr id="33" name="Shape 31"/>
          <p:cNvSpPr/>
          <p:nvPr/>
        </p:nvSpPr>
        <p:spPr>
          <a:xfrm>
            <a:off x="365760" y="3867912"/>
            <a:ext cx="8412480" cy="512064"/>
          </a:xfrm>
          <a:prstGeom prst="rect">
            <a:avLst/>
          </a:prstGeom>
          <a:solidFill>
            <a:srgbClr val="EEF4FB"/>
          </a:solidFill>
          <a:ln w="12700">
            <a:solidFill>
              <a:srgbClr val="CBD5E1"/>
            </a:solidFill>
            <a:prstDash val="solid"/>
          </a:ln>
        </p:spPr>
        <p:txBody>
          <a:bodyPr/>
          <a:lstStyle/>
          <a:p>
            <a:endParaRPr lang="en-IN"/>
          </a:p>
        </p:txBody>
      </p:sp>
      <p:sp>
        <p:nvSpPr>
          <p:cNvPr id="34" name="Shape 32"/>
          <p:cNvSpPr/>
          <p:nvPr/>
        </p:nvSpPr>
        <p:spPr>
          <a:xfrm>
            <a:off x="365760" y="3867912"/>
            <a:ext cx="731520" cy="512064"/>
          </a:xfrm>
          <a:prstGeom prst="rect">
            <a:avLst/>
          </a:prstGeom>
          <a:solidFill>
            <a:srgbClr val="7C3AED"/>
          </a:solidFill>
          <a:ln w="12700">
            <a:solidFill>
              <a:srgbClr val="7C3AED"/>
            </a:solidFill>
            <a:prstDash val="solid"/>
          </a:ln>
        </p:spPr>
        <p:txBody>
          <a:bodyPr/>
          <a:lstStyle/>
          <a:p>
            <a:endParaRPr lang="en-IN"/>
          </a:p>
        </p:txBody>
      </p:sp>
      <p:sp>
        <p:nvSpPr>
          <p:cNvPr id="35" name="Text 33"/>
          <p:cNvSpPr/>
          <p:nvPr/>
        </p:nvSpPr>
        <p:spPr>
          <a:xfrm>
            <a:off x="365760" y="3867912"/>
            <a:ext cx="731520" cy="512064"/>
          </a:xfrm>
          <a:prstGeom prst="rect">
            <a:avLst/>
          </a:prstGeom>
          <a:noFill/>
          <a:ln/>
        </p:spPr>
        <p:txBody>
          <a:bodyPr wrap="square" lIns="0" tIns="0" rIns="0" bIns="0" rtlCol="0" anchor="ctr"/>
          <a:lstStyle/>
          <a:p>
            <a:pPr marL="0" indent="0" algn="ctr">
              <a:buNone/>
            </a:pPr>
            <a:r>
              <a:rPr lang="en-US" sz="950" b="1" dirty="0">
                <a:solidFill>
                  <a:srgbClr val="FFFFFF"/>
                </a:solidFill>
                <a:latin typeface="Consolas" pitchFamily="34" charset="0"/>
                <a:ea typeface="Consolas" pitchFamily="34" charset="-122"/>
                <a:cs typeface="Consolas" pitchFamily="34" charset="-120"/>
              </a:rPr>
              <a:t>POST</a:t>
            </a:r>
            <a:endParaRPr lang="en-US" sz="950" dirty="0"/>
          </a:p>
        </p:txBody>
      </p:sp>
      <p:sp>
        <p:nvSpPr>
          <p:cNvPr id="36" name="Text 34"/>
          <p:cNvSpPr/>
          <p:nvPr/>
        </p:nvSpPr>
        <p:spPr>
          <a:xfrm>
            <a:off x="1188720" y="3867912"/>
            <a:ext cx="3017520" cy="512064"/>
          </a:xfrm>
          <a:prstGeom prst="rect">
            <a:avLst/>
          </a:prstGeom>
          <a:noFill/>
          <a:ln/>
        </p:spPr>
        <p:txBody>
          <a:bodyPr wrap="square" lIns="0" tIns="0" rIns="0" bIns="0" rtlCol="0" anchor="ctr"/>
          <a:lstStyle/>
          <a:p>
            <a:pPr marL="0" indent="0">
              <a:buNone/>
            </a:pPr>
            <a:r>
              <a:rPr lang="en-US" sz="1100" dirty="0">
                <a:solidFill>
                  <a:srgbClr val="0D1B3E"/>
                </a:solidFill>
                <a:latin typeface="Consolas" pitchFamily="34" charset="0"/>
                <a:ea typeface="Consolas" pitchFamily="34" charset="-122"/>
                <a:cs typeface="Consolas" pitchFamily="34" charset="-120"/>
              </a:rPr>
              <a:t>/transfer</a:t>
            </a:r>
            <a:endParaRPr lang="en-US" sz="1100" dirty="0"/>
          </a:p>
        </p:txBody>
      </p:sp>
      <p:sp>
        <p:nvSpPr>
          <p:cNvPr id="37" name="Text 35"/>
          <p:cNvSpPr/>
          <p:nvPr/>
        </p:nvSpPr>
        <p:spPr>
          <a:xfrm>
            <a:off x="4297680" y="3867912"/>
            <a:ext cx="4297680" cy="512064"/>
          </a:xfrm>
          <a:prstGeom prst="rect">
            <a:avLst/>
          </a:prstGeom>
          <a:noFill/>
          <a:ln/>
        </p:spPr>
        <p:txBody>
          <a:bodyPr wrap="square" lIns="0" tIns="0" rIns="0" bIns="0" rtlCol="0" anchor="ctr"/>
          <a:lstStyle/>
          <a:p>
            <a:pPr marL="0" indent="0">
              <a:buNone/>
            </a:pPr>
            <a:r>
              <a:rPr lang="en-US" sz="1100" dirty="0">
                <a:solidFill>
                  <a:srgbClr val="334E70"/>
                </a:solidFill>
                <a:latin typeface="Calibri" pitchFamily="34" charset="0"/>
                <a:ea typeface="Calibri" pitchFamily="34" charset="-122"/>
                <a:cs typeface="Calibri" pitchFamily="34" charset="-120"/>
              </a:rPr>
              <a:t>Transfer between two accounts</a:t>
            </a:r>
            <a:endParaRPr lang="en-US" sz="1100" dirty="0"/>
          </a:p>
        </p:txBody>
      </p:sp>
      <p:sp>
        <p:nvSpPr>
          <p:cNvPr id="38" name="Text 36"/>
          <p:cNvSpPr/>
          <p:nvPr/>
        </p:nvSpPr>
        <p:spPr>
          <a:xfrm>
            <a:off x="365760" y="4498848"/>
            <a:ext cx="8412480" cy="347472"/>
          </a:xfrm>
          <a:prstGeom prst="rect">
            <a:avLst/>
          </a:prstGeom>
          <a:noFill/>
          <a:ln/>
        </p:spPr>
        <p:txBody>
          <a:bodyPr wrap="square" lIns="0" tIns="0" rIns="0" bIns="0" rtlCol="0" anchor="ctr"/>
          <a:lstStyle/>
          <a:p>
            <a:pPr marL="0" indent="0">
              <a:buNone/>
            </a:pPr>
            <a:r>
              <a:rPr lang="en-US" sz="1050" i="1" dirty="0">
                <a:solidFill>
                  <a:srgbClr val="0A8F8F"/>
                </a:solidFill>
                <a:latin typeface="Calibri" pitchFamily="34" charset="0"/>
                <a:ea typeface="Calibri" pitchFamily="34" charset="-122"/>
                <a:cs typeface="Calibri" pitchFamily="34" charset="-120"/>
              </a:rPr>
              <a:t>Backend Flow: HTTP Request → Spark Route Handler → Business Logic → JDBC → MySQL → JSON Response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8F8F"/>
          </a:solidFill>
          <a:ln w="12700">
            <a:solidFill>
              <a:srgbClr val="0A8F8F"/>
            </a:solidFill>
            <a:prstDash val="solid"/>
          </a:ln>
        </p:spPr>
        <p:txBody>
          <a:bodyPr/>
          <a:lstStyle/>
          <a:p>
            <a:endParaRPr lang="en-IN"/>
          </a:p>
        </p:txBody>
      </p:sp>
      <p:sp>
        <p:nvSpPr>
          <p:cNvPr id="3" name="Text 1"/>
          <p:cNvSpPr/>
          <p:nvPr/>
        </p:nvSpPr>
        <p:spPr>
          <a:xfrm>
            <a:off x="411480" y="164592"/>
            <a:ext cx="8321040" cy="566928"/>
          </a:xfrm>
          <a:prstGeom prst="rect">
            <a:avLst/>
          </a:prstGeom>
          <a:noFill/>
          <a:ln/>
        </p:spPr>
        <p:txBody>
          <a:bodyPr wrap="square" lIns="0" tIns="0" rIns="0" bIns="0" rtlCol="0" anchor="ctr"/>
          <a:lstStyle/>
          <a:p>
            <a:pPr marL="0" indent="0">
              <a:buNone/>
            </a:pPr>
            <a:r>
              <a:rPr lang="en-US" sz="2600" b="1" dirty="0">
                <a:solidFill>
                  <a:srgbClr val="0D1B3E"/>
                </a:solidFill>
                <a:latin typeface="Calibri" pitchFamily="34" charset="0"/>
                <a:ea typeface="Calibri" pitchFamily="34" charset="-122"/>
                <a:cs typeface="Calibri" pitchFamily="34" charset="-120"/>
              </a:rPr>
              <a:t>Frontend Working</a:t>
            </a:r>
            <a:endParaRPr lang="en-US" sz="2600" dirty="0"/>
          </a:p>
        </p:txBody>
      </p:sp>
      <p:sp>
        <p:nvSpPr>
          <p:cNvPr id="4" name="Shape 2"/>
          <p:cNvSpPr/>
          <p:nvPr/>
        </p:nvSpPr>
        <p:spPr>
          <a:xfrm>
            <a:off x="411480" y="749808"/>
            <a:ext cx="8321040" cy="22860"/>
          </a:xfrm>
          <a:prstGeom prst="rect">
            <a:avLst/>
          </a:prstGeom>
          <a:solidFill>
            <a:srgbClr val="0A8F8F"/>
          </a:solidFill>
          <a:ln w="12700">
            <a:solidFill>
              <a:srgbClr val="0A8F8F"/>
            </a:solidFill>
            <a:prstDash val="solid"/>
          </a:ln>
        </p:spPr>
        <p:txBody>
          <a:bodyPr/>
          <a:lstStyle/>
          <a:p>
            <a:endParaRPr lang="en-IN"/>
          </a:p>
        </p:txBody>
      </p:sp>
      <p:sp>
        <p:nvSpPr>
          <p:cNvPr id="5" name="Shape 3"/>
          <p:cNvSpPr/>
          <p:nvPr/>
        </p:nvSpPr>
        <p:spPr>
          <a:xfrm>
            <a:off x="0" y="5001768"/>
            <a:ext cx="9144000" cy="141732"/>
          </a:xfrm>
          <a:prstGeom prst="rect">
            <a:avLst/>
          </a:prstGeom>
          <a:solidFill>
            <a:srgbClr val="0D1B3E"/>
          </a:solidFill>
          <a:ln w="12700">
            <a:solidFill>
              <a:srgbClr val="0D1B3E"/>
            </a:solidFill>
            <a:prstDash val="solid"/>
          </a:ln>
        </p:spPr>
        <p:txBody>
          <a:bodyPr/>
          <a:lstStyle/>
          <a:p>
            <a:endParaRPr lang="en-IN"/>
          </a:p>
        </p:txBody>
      </p:sp>
      <p:sp>
        <p:nvSpPr>
          <p:cNvPr id="6" name="Text 4"/>
          <p:cNvSpPr/>
          <p:nvPr/>
        </p:nvSpPr>
        <p:spPr>
          <a:xfrm>
            <a:off x="274320" y="5001768"/>
            <a:ext cx="6400800" cy="141732"/>
          </a:xfrm>
          <a:prstGeom prst="rect">
            <a:avLst/>
          </a:prstGeom>
          <a:noFill/>
          <a:ln/>
        </p:spPr>
        <p:txBody>
          <a:bodyPr wrap="square" lIns="0" tIns="0" rIns="0" bIns="0" rtlCol="0" anchor="ctr"/>
          <a:lstStyle/>
          <a:p>
            <a:pPr marL="0" indent="0">
              <a:buNone/>
            </a:pPr>
            <a:r>
              <a:rPr lang="en-US" sz="800" dirty="0">
                <a:solidFill>
                  <a:srgbClr val="8BAED4"/>
                </a:solidFill>
                <a:latin typeface="Calibri" pitchFamily="34" charset="0"/>
                <a:ea typeface="Calibri" pitchFamily="34" charset="-122"/>
                <a:cs typeface="Calibri" pitchFamily="34" charset="-120"/>
              </a:rPr>
              <a:t>Banking Application  |  Project Review</a:t>
            </a:r>
            <a:endParaRPr lang="en-US" sz="800" dirty="0"/>
          </a:p>
        </p:txBody>
      </p:sp>
      <p:sp>
        <p:nvSpPr>
          <p:cNvPr id="7" name="Text 5"/>
          <p:cNvSpPr/>
          <p:nvPr/>
        </p:nvSpPr>
        <p:spPr>
          <a:xfrm>
            <a:off x="8229600" y="5001768"/>
            <a:ext cx="731520" cy="141732"/>
          </a:xfrm>
          <a:prstGeom prst="rect">
            <a:avLst/>
          </a:prstGeom>
          <a:noFill/>
          <a:ln/>
        </p:spPr>
        <p:txBody>
          <a:bodyPr wrap="square" lIns="0" tIns="0" rIns="0" bIns="0" rtlCol="0" anchor="ctr"/>
          <a:lstStyle/>
          <a:p>
            <a:pPr marL="0" indent="0" algn="r">
              <a:buNone/>
            </a:pPr>
            <a:r>
              <a:rPr lang="en-US" sz="800" dirty="0">
                <a:solidFill>
                  <a:srgbClr val="8BAED4"/>
                </a:solidFill>
                <a:latin typeface="Calibri" pitchFamily="34" charset="0"/>
                <a:ea typeface="Calibri" pitchFamily="34" charset="-122"/>
                <a:cs typeface="Calibri" pitchFamily="34" charset="-120"/>
              </a:rPr>
              <a:t>10 / 16</a:t>
            </a:r>
            <a:endParaRPr lang="en-US" sz="800" dirty="0"/>
          </a:p>
        </p:txBody>
      </p:sp>
      <p:sp>
        <p:nvSpPr>
          <p:cNvPr id="8" name="Text 6"/>
          <p:cNvSpPr/>
          <p:nvPr/>
        </p:nvSpPr>
        <p:spPr>
          <a:xfrm>
            <a:off x="411480" y="960120"/>
            <a:ext cx="5120640" cy="3566160"/>
          </a:xfrm>
          <a:prstGeom prst="rect">
            <a:avLst/>
          </a:prstGeom>
          <a:noFill/>
          <a:ln/>
        </p:spPr>
        <p:txBody>
          <a:bodyPr wrap="square" rtlCol="0" anchor="t"/>
          <a:lstStyle/>
          <a:p>
            <a:pPr marL="342900" indent="-342900">
              <a:spcAft>
                <a:spcPts val="600"/>
              </a:spcAft>
              <a:buSzPct val="100000"/>
              <a:buChar char="•"/>
            </a:pPr>
            <a:r>
              <a:rPr lang="en-US" sz="1450" dirty="0">
                <a:solidFill>
                  <a:srgbClr val="1A2640"/>
                </a:solidFill>
                <a:latin typeface="Calibri" pitchFamily="34" charset="0"/>
                <a:ea typeface="Calibri" pitchFamily="34" charset="-122"/>
                <a:cs typeface="Calibri" pitchFamily="34" charset="-120"/>
              </a:rPr>
              <a:t>Pure HTML/CSS/JavaScript — no frontend framework, works in any modern browser</a:t>
            </a:r>
            <a:endParaRPr lang="en-US" sz="1450" dirty="0"/>
          </a:p>
          <a:p>
            <a:pPr marL="342900" indent="-342900">
              <a:spcAft>
                <a:spcPts val="600"/>
              </a:spcAft>
              <a:buSzPct val="100000"/>
              <a:buChar char="•"/>
            </a:pPr>
            <a:r>
              <a:rPr lang="en-US" sz="1450" dirty="0">
                <a:solidFill>
                  <a:srgbClr val="1A2640"/>
                </a:solidFill>
                <a:latin typeface="Calibri" pitchFamily="34" charset="0"/>
                <a:ea typeface="Calibri" pitchFamily="34" charset="-122"/>
                <a:cs typeface="Calibri" pitchFamily="34" charset="-120"/>
              </a:rPr>
              <a:t>Single-page layout with sections for each banking operation (Create, Deposit, Withdraw, Transfer, View)</a:t>
            </a:r>
            <a:endParaRPr lang="en-US" sz="1450" dirty="0"/>
          </a:p>
          <a:p>
            <a:pPr marL="342900" indent="-342900">
              <a:spcAft>
                <a:spcPts val="600"/>
              </a:spcAft>
              <a:buSzPct val="100000"/>
              <a:buChar char="•"/>
            </a:pPr>
            <a:r>
              <a:rPr lang="en-US" sz="1450" dirty="0">
                <a:solidFill>
                  <a:srgbClr val="1A2640"/>
                </a:solidFill>
                <a:latin typeface="Calibri" pitchFamily="34" charset="0"/>
                <a:ea typeface="Calibri" pitchFamily="34" charset="-122"/>
                <a:cs typeface="Calibri" pitchFamily="34" charset="-120"/>
              </a:rPr>
              <a:t>JavaScript fetch() sends JSON payloads to backend endpoints on localhost:8080</a:t>
            </a:r>
            <a:endParaRPr lang="en-US" sz="1450" dirty="0"/>
          </a:p>
          <a:p>
            <a:pPr marL="342900" indent="-342900">
              <a:spcAft>
                <a:spcPts val="600"/>
              </a:spcAft>
              <a:buSzPct val="100000"/>
              <a:buChar char="•"/>
            </a:pPr>
            <a:r>
              <a:rPr lang="en-US" sz="1450" dirty="0">
                <a:solidFill>
                  <a:srgbClr val="1A2640"/>
                </a:solidFill>
                <a:latin typeface="Calibri" pitchFamily="34" charset="0"/>
                <a:ea typeface="Calibri" pitchFamily="34" charset="-122"/>
                <a:cs typeface="Calibri" pitchFamily="34" charset="-120"/>
              </a:rPr>
              <a:t>Dynamic DOM updates display API responses (account details, success/error messages) without page reload</a:t>
            </a:r>
            <a:endParaRPr lang="en-US" sz="1450" dirty="0"/>
          </a:p>
          <a:p>
            <a:pPr marL="342900" indent="-342900">
              <a:spcAft>
                <a:spcPts val="600"/>
              </a:spcAft>
              <a:buSzPct val="100000"/>
              <a:buChar char="•"/>
            </a:pPr>
            <a:r>
              <a:rPr lang="en-US" sz="1450" dirty="0">
                <a:solidFill>
                  <a:srgbClr val="1A2640"/>
                </a:solidFill>
                <a:latin typeface="Calibri" pitchFamily="34" charset="0"/>
                <a:ea typeface="Calibri" pitchFamily="34" charset="-122"/>
                <a:cs typeface="Calibri" pitchFamily="34" charset="-120"/>
              </a:rPr>
              <a:t>Form validation prevents empty submissions; HTTP error codes mapped to user-friendly messages</a:t>
            </a:r>
            <a:endParaRPr lang="en-US" sz="1450" dirty="0"/>
          </a:p>
        </p:txBody>
      </p:sp>
      <p:sp>
        <p:nvSpPr>
          <p:cNvPr id="9" name="Shape 7"/>
          <p:cNvSpPr/>
          <p:nvPr/>
        </p:nvSpPr>
        <p:spPr>
          <a:xfrm>
            <a:off x="5806440" y="914400"/>
            <a:ext cx="3017520" cy="393192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10" name="Shape 8"/>
          <p:cNvSpPr/>
          <p:nvPr/>
        </p:nvSpPr>
        <p:spPr>
          <a:xfrm>
            <a:off x="5806440" y="914400"/>
            <a:ext cx="3017520" cy="365760"/>
          </a:xfrm>
          <a:prstGeom prst="rect">
            <a:avLst/>
          </a:prstGeom>
          <a:solidFill>
            <a:srgbClr val="0D1B3E"/>
          </a:solidFill>
          <a:ln w="12700">
            <a:solidFill>
              <a:srgbClr val="0D1B3E"/>
            </a:solidFill>
            <a:prstDash val="solid"/>
          </a:ln>
        </p:spPr>
        <p:txBody>
          <a:bodyPr/>
          <a:lstStyle/>
          <a:p>
            <a:endParaRPr lang="en-IN"/>
          </a:p>
        </p:txBody>
      </p:sp>
      <p:sp>
        <p:nvSpPr>
          <p:cNvPr id="11" name="Text 9"/>
          <p:cNvSpPr/>
          <p:nvPr/>
        </p:nvSpPr>
        <p:spPr>
          <a:xfrm>
            <a:off x="5852160" y="914400"/>
            <a:ext cx="2926080" cy="36576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  Banking App</a:t>
            </a:r>
            <a:endParaRPr lang="en-US" sz="1000" dirty="0"/>
          </a:p>
        </p:txBody>
      </p:sp>
      <p:sp>
        <p:nvSpPr>
          <p:cNvPr id="12" name="Shape 10"/>
          <p:cNvSpPr/>
          <p:nvPr/>
        </p:nvSpPr>
        <p:spPr>
          <a:xfrm>
            <a:off x="5989320" y="1417320"/>
            <a:ext cx="2651760" cy="594360"/>
          </a:xfrm>
          <a:prstGeom prst="rect">
            <a:avLst/>
          </a:prstGeom>
          <a:solidFill>
            <a:srgbClr val="EEF4FB"/>
          </a:solidFill>
          <a:ln w="12700">
            <a:solidFill>
              <a:srgbClr val="CBD5E1"/>
            </a:solidFill>
            <a:prstDash val="solid"/>
          </a:ln>
        </p:spPr>
        <p:txBody>
          <a:bodyPr/>
          <a:lstStyle/>
          <a:p>
            <a:endParaRPr lang="en-IN"/>
          </a:p>
        </p:txBody>
      </p:sp>
      <p:sp>
        <p:nvSpPr>
          <p:cNvPr id="13" name="Shape 11"/>
          <p:cNvSpPr/>
          <p:nvPr/>
        </p:nvSpPr>
        <p:spPr>
          <a:xfrm>
            <a:off x="5989320" y="1417320"/>
            <a:ext cx="54864" cy="594360"/>
          </a:xfrm>
          <a:prstGeom prst="rect">
            <a:avLst/>
          </a:prstGeom>
          <a:solidFill>
            <a:srgbClr val="2563EB"/>
          </a:solidFill>
          <a:ln w="12700">
            <a:solidFill>
              <a:srgbClr val="2563EB"/>
            </a:solidFill>
            <a:prstDash val="solid"/>
          </a:ln>
        </p:spPr>
        <p:txBody>
          <a:bodyPr/>
          <a:lstStyle/>
          <a:p>
            <a:endParaRPr lang="en-IN"/>
          </a:p>
        </p:txBody>
      </p:sp>
      <p:sp>
        <p:nvSpPr>
          <p:cNvPr id="14" name="Text 12"/>
          <p:cNvSpPr/>
          <p:nvPr/>
        </p:nvSpPr>
        <p:spPr>
          <a:xfrm>
            <a:off x="6126480" y="1417320"/>
            <a:ext cx="2423160" cy="594360"/>
          </a:xfrm>
          <a:prstGeom prst="rect">
            <a:avLst/>
          </a:prstGeom>
          <a:noFill/>
          <a:ln/>
        </p:spPr>
        <p:txBody>
          <a:bodyPr wrap="square" lIns="0" tIns="0" rIns="0" bIns="0" rtlCol="0" anchor="ctr"/>
          <a:lstStyle/>
          <a:p>
            <a:pPr marL="0" indent="0">
              <a:buNone/>
            </a:pPr>
            <a:r>
              <a:rPr lang="en-US" sz="1050" dirty="0">
                <a:solidFill>
                  <a:srgbClr val="1A2640"/>
                </a:solidFill>
                <a:latin typeface="Calibri" pitchFamily="34" charset="0"/>
                <a:ea typeface="Calibri" pitchFamily="34" charset="-122"/>
                <a:cs typeface="Calibri" pitchFamily="34" charset="-120"/>
              </a:rPr>
              <a:t>Create Account</a:t>
            </a:r>
            <a:endParaRPr lang="en-US" sz="1050" dirty="0"/>
          </a:p>
        </p:txBody>
      </p:sp>
      <p:sp>
        <p:nvSpPr>
          <p:cNvPr id="15" name="Shape 13"/>
          <p:cNvSpPr/>
          <p:nvPr/>
        </p:nvSpPr>
        <p:spPr>
          <a:xfrm>
            <a:off x="5989320" y="2167128"/>
            <a:ext cx="2651760" cy="594360"/>
          </a:xfrm>
          <a:prstGeom prst="rect">
            <a:avLst/>
          </a:prstGeom>
          <a:solidFill>
            <a:srgbClr val="EEF4FB"/>
          </a:solidFill>
          <a:ln w="12700">
            <a:solidFill>
              <a:srgbClr val="CBD5E1"/>
            </a:solidFill>
            <a:prstDash val="solid"/>
          </a:ln>
        </p:spPr>
        <p:txBody>
          <a:bodyPr/>
          <a:lstStyle/>
          <a:p>
            <a:endParaRPr lang="en-IN"/>
          </a:p>
        </p:txBody>
      </p:sp>
      <p:sp>
        <p:nvSpPr>
          <p:cNvPr id="16" name="Shape 14"/>
          <p:cNvSpPr/>
          <p:nvPr/>
        </p:nvSpPr>
        <p:spPr>
          <a:xfrm>
            <a:off x="5989320" y="2167128"/>
            <a:ext cx="54864" cy="594360"/>
          </a:xfrm>
          <a:prstGeom prst="rect">
            <a:avLst/>
          </a:prstGeom>
          <a:solidFill>
            <a:srgbClr val="0A8F8F"/>
          </a:solidFill>
          <a:ln w="12700">
            <a:solidFill>
              <a:srgbClr val="0A8F8F"/>
            </a:solidFill>
            <a:prstDash val="solid"/>
          </a:ln>
        </p:spPr>
        <p:txBody>
          <a:bodyPr/>
          <a:lstStyle/>
          <a:p>
            <a:endParaRPr lang="en-IN"/>
          </a:p>
        </p:txBody>
      </p:sp>
      <p:sp>
        <p:nvSpPr>
          <p:cNvPr id="17" name="Text 15"/>
          <p:cNvSpPr/>
          <p:nvPr/>
        </p:nvSpPr>
        <p:spPr>
          <a:xfrm>
            <a:off x="6126480" y="2167128"/>
            <a:ext cx="2423160" cy="594360"/>
          </a:xfrm>
          <a:prstGeom prst="rect">
            <a:avLst/>
          </a:prstGeom>
          <a:noFill/>
          <a:ln/>
        </p:spPr>
        <p:txBody>
          <a:bodyPr wrap="square" lIns="0" tIns="0" rIns="0" bIns="0" rtlCol="0" anchor="ctr"/>
          <a:lstStyle/>
          <a:p>
            <a:pPr marL="0" indent="0">
              <a:buNone/>
            </a:pPr>
            <a:r>
              <a:rPr lang="en-US" sz="1050" dirty="0">
                <a:solidFill>
                  <a:srgbClr val="1A2640"/>
                </a:solidFill>
                <a:latin typeface="Calibri" pitchFamily="34" charset="0"/>
                <a:ea typeface="Calibri" pitchFamily="34" charset="-122"/>
                <a:cs typeface="Calibri" pitchFamily="34" charset="-120"/>
              </a:rPr>
              <a:t>Deposit / Withdraw</a:t>
            </a:r>
            <a:endParaRPr lang="en-US" sz="1050" dirty="0"/>
          </a:p>
        </p:txBody>
      </p:sp>
      <p:sp>
        <p:nvSpPr>
          <p:cNvPr id="18" name="Shape 16"/>
          <p:cNvSpPr/>
          <p:nvPr/>
        </p:nvSpPr>
        <p:spPr>
          <a:xfrm>
            <a:off x="5989320" y="2916936"/>
            <a:ext cx="2651760" cy="594360"/>
          </a:xfrm>
          <a:prstGeom prst="rect">
            <a:avLst/>
          </a:prstGeom>
          <a:solidFill>
            <a:srgbClr val="EEF4FB"/>
          </a:solidFill>
          <a:ln w="12700">
            <a:solidFill>
              <a:srgbClr val="CBD5E1"/>
            </a:solidFill>
            <a:prstDash val="solid"/>
          </a:ln>
        </p:spPr>
        <p:txBody>
          <a:bodyPr/>
          <a:lstStyle/>
          <a:p>
            <a:endParaRPr lang="en-IN"/>
          </a:p>
        </p:txBody>
      </p:sp>
      <p:sp>
        <p:nvSpPr>
          <p:cNvPr id="19" name="Shape 17"/>
          <p:cNvSpPr/>
          <p:nvPr/>
        </p:nvSpPr>
        <p:spPr>
          <a:xfrm>
            <a:off x="5989320" y="2916936"/>
            <a:ext cx="54864" cy="594360"/>
          </a:xfrm>
          <a:prstGeom prst="rect">
            <a:avLst/>
          </a:prstGeom>
          <a:solidFill>
            <a:srgbClr val="7C3AED"/>
          </a:solidFill>
          <a:ln w="12700">
            <a:solidFill>
              <a:srgbClr val="7C3AED"/>
            </a:solidFill>
            <a:prstDash val="solid"/>
          </a:ln>
        </p:spPr>
        <p:txBody>
          <a:bodyPr/>
          <a:lstStyle/>
          <a:p>
            <a:endParaRPr lang="en-IN"/>
          </a:p>
        </p:txBody>
      </p:sp>
      <p:sp>
        <p:nvSpPr>
          <p:cNvPr id="20" name="Text 18"/>
          <p:cNvSpPr/>
          <p:nvPr/>
        </p:nvSpPr>
        <p:spPr>
          <a:xfrm>
            <a:off x="6126480" y="2916936"/>
            <a:ext cx="2423160" cy="594360"/>
          </a:xfrm>
          <a:prstGeom prst="rect">
            <a:avLst/>
          </a:prstGeom>
          <a:noFill/>
          <a:ln/>
        </p:spPr>
        <p:txBody>
          <a:bodyPr wrap="square" lIns="0" tIns="0" rIns="0" bIns="0" rtlCol="0" anchor="ctr"/>
          <a:lstStyle/>
          <a:p>
            <a:pPr marL="0" indent="0">
              <a:buNone/>
            </a:pPr>
            <a:r>
              <a:rPr lang="en-US" sz="1050" dirty="0">
                <a:solidFill>
                  <a:srgbClr val="1A2640"/>
                </a:solidFill>
                <a:latin typeface="Calibri" pitchFamily="34" charset="0"/>
                <a:ea typeface="Calibri" pitchFamily="34" charset="-122"/>
                <a:cs typeface="Calibri" pitchFamily="34" charset="-120"/>
              </a:rPr>
              <a:t>Transfer Funds</a:t>
            </a:r>
            <a:endParaRPr lang="en-US" sz="1050" dirty="0"/>
          </a:p>
        </p:txBody>
      </p:sp>
      <p:sp>
        <p:nvSpPr>
          <p:cNvPr id="21" name="Shape 19"/>
          <p:cNvSpPr/>
          <p:nvPr/>
        </p:nvSpPr>
        <p:spPr>
          <a:xfrm>
            <a:off x="5989320" y="3666744"/>
            <a:ext cx="2651760" cy="594360"/>
          </a:xfrm>
          <a:prstGeom prst="rect">
            <a:avLst/>
          </a:prstGeom>
          <a:solidFill>
            <a:srgbClr val="EEF4FB"/>
          </a:solidFill>
          <a:ln w="12700">
            <a:solidFill>
              <a:srgbClr val="CBD5E1"/>
            </a:solidFill>
            <a:prstDash val="solid"/>
          </a:ln>
        </p:spPr>
        <p:txBody>
          <a:bodyPr/>
          <a:lstStyle/>
          <a:p>
            <a:endParaRPr lang="en-IN"/>
          </a:p>
        </p:txBody>
      </p:sp>
      <p:sp>
        <p:nvSpPr>
          <p:cNvPr id="22" name="Shape 20"/>
          <p:cNvSpPr/>
          <p:nvPr/>
        </p:nvSpPr>
        <p:spPr>
          <a:xfrm>
            <a:off x="5989320" y="3666744"/>
            <a:ext cx="54864" cy="594360"/>
          </a:xfrm>
          <a:prstGeom prst="rect">
            <a:avLst/>
          </a:prstGeom>
          <a:solidFill>
            <a:srgbClr val="F0A500"/>
          </a:solidFill>
          <a:ln w="12700">
            <a:solidFill>
              <a:srgbClr val="F0A500"/>
            </a:solidFill>
            <a:prstDash val="solid"/>
          </a:ln>
        </p:spPr>
        <p:txBody>
          <a:bodyPr/>
          <a:lstStyle/>
          <a:p>
            <a:endParaRPr lang="en-IN"/>
          </a:p>
        </p:txBody>
      </p:sp>
      <p:sp>
        <p:nvSpPr>
          <p:cNvPr id="23" name="Text 21"/>
          <p:cNvSpPr/>
          <p:nvPr/>
        </p:nvSpPr>
        <p:spPr>
          <a:xfrm>
            <a:off x="6126480" y="3666744"/>
            <a:ext cx="2423160" cy="594360"/>
          </a:xfrm>
          <a:prstGeom prst="rect">
            <a:avLst/>
          </a:prstGeom>
          <a:noFill/>
          <a:ln/>
        </p:spPr>
        <p:txBody>
          <a:bodyPr wrap="square" lIns="0" tIns="0" rIns="0" bIns="0" rtlCol="0" anchor="ctr"/>
          <a:lstStyle/>
          <a:p>
            <a:pPr marL="0" indent="0">
              <a:buNone/>
            </a:pPr>
            <a:r>
              <a:rPr lang="en-US" sz="1050" dirty="0">
                <a:solidFill>
                  <a:srgbClr val="1A2640"/>
                </a:solidFill>
                <a:latin typeface="Calibri" pitchFamily="34" charset="0"/>
                <a:ea typeface="Calibri" pitchFamily="34" charset="-122"/>
                <a:cs typeface="Calibri" pitchFamily="34" charset="-120"/>
              </a:rPr>
              <a:t>View Account / All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8F8F"/>
          </a:solidFill>
          <a:ln w="12700">
            <a:solidFill>
              <a:srgbClr val="0A8F8F"/>
            </a:solidFill>
            <a:prstDash val="solid"/>
          </a:ln>
        </p:spPr>
        <p:txBody>
          <a:bodyPr/>
          <a:lstStyle/>
          <a:p>
            <a:endParaRPr lang="en-IN"/>
          </a:p>
        </p:txBody>
      </p:sp>
      <p:sp>
        <p:nvSpPr>
          <p:cNvPr id="3" name="Text 1"/>
          <p:cNvSpPr/>
          <p:nvPr/>
        </p:nvSpPr>
        <p:spPr>
          <a:xfrm>
            <a:off x="411480" y="164592"/>
            <a:ext cx="8321040" cy="566928"/>
          </a:xfrm>
          <a:prstGeom prst="rect">
            <a:avLst/>
          </a:prstGeom>
          <a:noFill/>
          <a:ln/>
        </p:spPr>
        <p:txBody>
          <a:bodyPr wrap="square" lIns="0" tIns="0" rIns="0" bIns="0" rtlCol="0" anchor="ctr"/>
          <a:lstStyle/>
          <a:p>
            <a:pPr marL="0" indent="0">
              <a:buNone/>
            </a:pPr>
            <a:r>
              <a:rPr lang="en-US" sz="2600" b="1" dirty="0">
                <a:solidFill>
                  <a:srgbClr val="0D1B3E"/>
                </a:solidFill>
                <a:latin typeface="Calibri" pitchFamily="34" charset="0"/>
                <a:ea typeface="Calibri" pitchFamily="34" charset="-122"/>
                <a:cs typeface="Calibri" pitchFamily="34" charset="-120"/>
              </a:rPr>
              <a:t>Email Alert Feature</a:t>
            </a:r>
            <a:endParaRPr lang="en-US" sz="2600" dirty="0"/>
          </a:p>
        </p:txBody>
      </p:sp>
      <p:sp>
        <p:nvSpPr>
          <p:cNvPr id="4" name="Shape 2"/>
          <p:cNvSpPr/>
          <p:nvPr/>
        </p:nvSpPr>
        <p:spPr>
          <a:xfrm>
            <a:off x="411480" y="749808"/>
            <a:ext cx="8321040" cy="22860"/>
          </a:xfrm>
          <a:prstGeom prst="rect">
            <a:avLst/>
          </a:prstGeom>
          <a:solidFill>
            <a:srgbClr val="0A8F8F"/>
          </a:solidFill>
          <a:ln w="12700">
            <a:solidFill>
              <a:srgbClr val="0A8F8F"/>
            </a:solidFill>
            <a:prstDash val="solid"/>
          </a:ln>
        </p:spPr>
        <p:txBody>
          <a:bodyPr/>
          <a:lstStyle/>
          <a:p>
            <a:endParaRPr lang="en-IN"/>
          </a:p>
        </p:txBody>
      </p:sp>
      <p:sp>
        <p:nvSpPr>
          <p:cNvPr id="5" name="Shape 3"/>
          <p:cNvSpPr/>
          <p:nvPr/>
        </p:nvSpPr>
        <p:spPr>
          <a:xfrm>
            <a:off x="0" y="5001768"/>
            <a:ext cx="9144000" cy="141732"/>
          </a:xfrm>
          <a:prstGeom prst="rect">
            <a:avLst/>
          </a:prstGeom>
          <a:solidFill>
            <a:srgbClr val="0D1B3E"/>
          </a:solidFill>
          <a:ln w="12700">
            <a:solidFill>
              <a:srgbClr val="0D1B3E"/>
            </a:solidFill>
            <a:prstDash val="solid"/>
          </a:ln>
        </p:spPr>
        <p:txBody>
          <a:bodyPr/>
          <a:lstStyle/>
          <a:p>
            <a:endParaRPr lang="en-IN"/>
          </a:p>
        </p:txBody>
      </p:sp>
      <p:sp>
        <p:nvSpPr>
          <p:cNvPr id="6" name="Text 4"/>
          <p:cNvSpPr/>
          <p:nvPr/>
        </p:nvSpPr>
        <p:spPr>
          <a:xfrm>
            <a:off x="274320" y="5001768"/>
            <a:ext cx="6400800" cy="141732"/>
          </a:xfrm>
          <a:prstGeom prst="rect">
            <a:avLst/>
          </a:prstGeom>
          <a:noFill/>
          <a:ln/>
        </p:spPr>
        <p:txBody>
          <a:bodyPr wrap="square" lIns="0" tIns="0" rIns="0" bIns="0" rtlCol="0" anchor="ctr"/>
          <a:lstStyle/>
          <a:p>
            <a:pPr marL="0" indent="0">
              <a:buNone/>
            </a:pPr>
            <a:r>
              <a:rPr lang="en-US" sz="800" dirty="0">
                <a:solidFill>
                  <a:srgbClr val="8BAED4"/>
                </a:solidFill>
                <a:latin typeface="Calibri" pitchFamily="34" charset="0"/>
                <a:ea typeface="Calibri" pitchFamily="34" charset="-122"/>
                <a:cs typeface="Calibri" pitchFamily="34" charset="-120"/>
              </a:rPr>
              <a:t>Banking Application  |  Project Review</a:t>
            </a:r>
            <a:endParaRPr lang="en-US" sz="800" dirty="0"/>
          </a:p>
        </p:txBody>
      </p:sp>
      <p:sp>
        <p:nvSpPr>
          <p:cNvPr id="7" name="Text 5"/>
          <p:cNvSpPr/>
          <p:nvPr/>
        </p:nvSpPr>
        <p:spPr>
          <a:xfrm>
            <a:off x="8229600" y="5001768"/>
            <a:ext cx="731520" cy="141732"/>
          </a:xfrm>
          <a:prstGeom prst="rect">
            <a:avLst/>
          </a:prstGeom>
          <a:noFill/>
          <a:ln/>
        </p:spPr>
        <p:txBody>
          <a:bodyPr wrap="square" lIns="0" tIns="0" rIns="0" bIns="0" rtlCol="0" anchor="ctr"/>
          <a:lstStyle/>
          <a:p>
            <a:pPr marL="0" indent="0" algn="r">
              <a:buNone/>
            </a:pPr>
            <a:r>
              <a:rPr lang="en-US" sz="800" dirty="0">
                <a:solidFill>
                  <a:srgbClr val="8BAED4"/>
                </a:solidFill>
                <a:latin typeface="Calibri" pitchFamily="34" charset="0"/>
                <a:ea typeface="Calibri" pitchFamily="34" charset="-122"/>
                <a:cs typeface="Calibri" pitchFamily="34" charset="-120"/>
              </a:rPr>
              <a:t>11 / 16</a:t>
            </a:r>
            <a:endParaRPr lang="en-US" sz="800" dirty="0"/>
          </a:p>
        </p:txBody>
      </p:sp>
      <p:sp>
        <p:nvSpPr>
          <p:cNvPr id="8" name="Text 6"/>
          <p:cNvSpPr/>
          <p:nvPr/>
        </p:nvSpPr>
        <p:spPr>
          <a:xfrm>
            <a:off x="411480" y="960120"/>
            <a:ext cx="5120640" cy="3566160"/>
          </a:xfrm>
          <a:prstGeom prst="rect">
            <a:avLst/>
          </a:prstGeom>
          <a:noFill/>
          <a:ln/>
        </p:spPr>
        <p:txBody>
          <a:bodyPr wrap="square" rtlCol="0" anchor="t"/>
          <a:lstStyle/>
          <a:p>
            <a:pPr marL="342900" indent="-342900">
              <a:spcAft>
                <a:spcPts val="600"/>
              </a:spcAft>
              <a:buSzPct val="100000"/>
              <a:buChar char="•"/>
            </a:pPr>
            <a:r>
              <a:rPr lang="en-US" sz="1450" dirty="0">
                <a:solidFill>
                  <a:srgbClr val="1A2640"/>
                </a:solidFill>
                <a:latin typeface="Calibri" pitchFamily="34" charset="0"/>
                <a:ea typeface="Calibri" pitchFamily="34" charset="-122"/>
                <a:cs typeface="Calibri" pitchFamily="34" charset="-120"/>
              </a:rPr>
              <a:t>After every Deposit, Withdraw, or Transfer — backend checks if resulting balance ≤ threshold</a:t>
            </a:r>
            <a:endParaRPr lang="en-US" sz="1450" dirty="0"/>
          </a:p>
          <a:p>
            <a:pPr marL="342900" indent="-342900">
              <a:spcAft>
                <a:spcPts val="600"/>
              </a:spcAft>
              <a:buSzPct val="100000"/>
              <a:buChar char="•"/>
            </a:pPr>
            <a:r>
              <a:rPr lang="en-US" sz="1450" dirty="0">
                <a:solidFill>
                  <a:srgbClr val="1A2640"/>
                </a:solidFill>
                <a:latin typeface="Calibri" pitchFamily="34" charset="0"/>
                <a:ea typeface="Calibri" pitchFamily="34" charset="-122"/>
                <a:cs typeface="Calibri" pitchFamily="34" charset="-120"/>
              </a:rPr>
              <a:t>If threshold is breached, JavaMail API sends an alert email to the account holder's registered email</a:t>
            </a:r>
            <a:endParaRPr lang="en-US" sz="1450" dirty="0"/>
          </a:p>
          <a:p>
            <a:pPr marL="342900" indent="-342900">
              <a:spcAft>
                <a:spcPts val="600"/>
              </a:spcAft>
              <a:buSzPct val="100000"/>
              <a:buChar char="•"/>
            </a:pPr>
            <a:r>
              <a:rPr lang="en-US" sz="1450" dirty="0">
                <a:solidFill>
                  <a:srgbClr val="1A2640"/>
                </a:solidFill>
                <a:latin typeface="Calibri" pitchFamily="34" charset="0"/>
                <a:ea typeface="Calibri" pitchFamily="34" charset="-122"/>
                <a:cs typeface="Calibri" pitchFamily="34" charset="-120"/>
              </a:rPr>
              <a:t>SMTP credentials and alert threshold stored in .env — no hardcoded values in source code</a:t>
            </a:r>
            <a:endParaRPr lang="en-US" sz="1450" dirty="0"/>
          </a:p>
          <a:p>
            <a:pPr marL="342900" indent="-342900">
              <a:spcAft>
                <a:spcPts val="600"/>
              </a:spcAft>
              <a:buSzPct val="100000"/>
              <a:buChar char="•"/>
            </a:pPr>
            <a:r>
              <a:rPr lang="en-US" sz="1450" dirty="0">
                <a:solidFill>
                  <a:srgbClr val="1A2640"/>
                </a:solidFill>
                <a:latin typeface="Calibri" pitchFamily="34" charset="0"/>
                <a:ea typeface="Calibri" pitchFamily="34" charset="-122"/>
                <a:cs typeface="Calibri" pitchFamily="34" charset="-120"/>
              </a:rPr>
              <a:t>Email contains: account name, current balance, and a clear low-balance warning message</a:t>
            </a:r>
            <a:endParaRPr lang="en-US" sz="1450" dirty="0"/>
          </a:p>
          <a:p>
            <a:pPr marL="342900" indent="-342900">
              <a:spcAft>
                <a:spcPts val="600"/>
              </a:spcAft>
              <a:buSzPct val="100000"/>
              <a:buChar char="•"/>
            </a:pPr>
            <a:r>
              <a:rPr lang="en-US" sz="1450" dirty="0">
                <a:solidFill>
                  <a:srgbClr val="1A2640"/>
                </a:solidFill>
                <a:latin typeface="Calibri" pitchFamily="34" charset="0"/>
                <a:ea typeface="Calibri" pitchFamily="34" charset="-122"/>
                <a:cs typeface="Calibri" pitchFamily="34" charset="-120"/>
              </a:rPr>
              <a:t>Gmail SMTP (smtp.gmail.com:587) used with App Password — works out of the box without OAuth setup</a:t>
            </a:r>
            <a:endParaRPr lang="en-US" sz="1450" dirty="0"/>
          </a:p>
        </p:txBody>
      </p:sp>
      <p:sp>
        <p:nvSpPr>
          <p:cNvPr id="9" name="Shape 7"/>
          <p:cNvSpPr/>
          <p:nvPr/>
        </p:nvSpPr>
        <p:spPr>
          <a:xfrm>
            <a:off x="5760720" y="914400"/>
            <a:ext cx="3108960" cy="39776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10" name="Shape 8"/>
          <p:cNvSpPr/>
          <p:nvPr/>
        </p:nvSpPr>
        <p:spPr>
          <a:xfrm>
            <a:off x="6126480" y="1005840"/>
            <a:ext cx="2377440" cy="594360"/>
          </a:xfrm>
          <a:prstGeom prst="rect">
            <a:avLst/>
          </a:prstGeom>
          <a:solidFill>
            <a:srgbClr val="0A8F8F"/>
          </a:solidFill>
          <a:ln w="12700">
            <a:solidFill>
              <a:srgbClr val="0A8F8F"/>
            </a:solidFill>
            <a:prstDash val="solid"/>
          </a:ln>
        </p:spPr>
        <p:txBody>
          <a:bodyPr/>
          <a:lstStyle/>
          <a:p>
            <a:endParaRPr lang="en-IN"/>
          </a:p>
        </p:txBody>
      </p:sp>
      <p:sp>
        <p:nvSpPr>
          <p:cNvPr id="11" name="Text 9"/>
          <p:cNvSpPr/>
          <p:nvPr/>
        </p:nvSpPr>
        <p:spPr>
          <a:xfrm>
            <a:off x="6126480" y="1005840"/>
            <a:ext cx="2377440" cy="5943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Transaction</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Executed</a:t>
            </a:r>
            <a:endParaRPr lang="en-US" sz="1050" dirty="0"/>
          </a:p>
        </p:txBody>
      </p:sp>
      <p:sp>
        <p:nvSpPr>
          <p:cNvPr id="12" name="Shape 10"/>
          <p:cNvSpPr/>
          <p:nvPr/>
        </p:nvSpPr>
        <p:spPr>
          <a:xfrm>
            <a:off x="7251192" y="1600200"/>
            <a:ext cx="137160" cy="256032"/>
          </a:xfrm>
          <a:prstGeom prst="rect">
            <a:avLst/>
          </a:prstGeom>
          <a:solidFill>
            <a:srgbClr val="CBD5E1"/>
          </a:solidFill>
          <a:ln w="12700">
            <a:solidFill>
              <a:srgbClr val="CBD5E1"/>
            </a:solidFill>
            <a:prstDash val="solid"/>
          </a:ln>
        </p:spPr>
        <p:txBody>
          <a:bodyPr/>
          <a:lstStyle/>
          <a:p>
            <a:endParaRPr lang="en-IN"/>
          </a:p>
        </p:txBody>
      </p:sp>
      <p:sp>
        <p:nvSpPr>
          <p:cNvPr id="13" name="Shape 11"/>
          <p:cNvSpPr/>
          <p:nvPr/>
        </p:nvSpPr>
        <p:spPr>
          <a:xfrm>
            <a:off x="6126480" y="1901952"/>
            <a:ext cx="2377440" cy="594360"/>
          </a:xfrm>
          <a:prstGeom prst="rect">
            <a:avLst/>
          </a:prstGeom>
          <a:solidFill>
            <a:srgbClr val="2563EB"/>
          </a:solidFill>
          <a:ln w="12700">
            <a:solidFill>
              <a:srgbClr val="2563EB"/>
            </a:solidFill>
            <a:prstDash val="solid"/>
          </a:ln>
        </p:spPr>
        <p:txBody>
          <a:bodyPr/>
          <a:lstStyle/>
          <a:p>
            <a:endParaRPr lang="en-IN"/>
          </a:p>
        </p:txBody>
      </p:sp>
      <p:sp>
        <p:nvSpPr>
          <p:cNvPr id="14" name="Text 12"/>
          <p:cNvSpPr/>
          <p:nvPr/>
        </p:nvSpPr>
        <p:spPr>
          <a:xfrm>
            <a:off x="6126480" y="1901952"/>
            <a:ext cx="2377440" cy="5943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Balance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Checked</a:t>
            </a:r>
            <a:endParaRPr lang="en-US" sz="1050" dirty="0"/>
          </a:p>
        </p:txBody>
      </p:sp>
      <p:sp>
        <p:nvSpPr>
          <p:cNvPr id="15" name="Shape 13"/>
          <p:cNvSpPr/>
          <p:nvPr/>
        </p:nvSpPr>
        <p:spPr>
          <a:xfrm>
            <a:off x="7251192" y="2496312"/>
            <a:ext cx="137160" cy="256032"/>
          </a:xfrm>
          <a:prstGeom prst="rect">
            <a:avLst/>
          </a:prstGeom>
          <a:solidFill>
            <a:srgbClr val="CBD5E1"/>
          </a:solidFill>
          <a:ln w="12700">
            <a:solidFill>
              <a:srgbClr val="CBD5E1"/>
            </a:solidFill>
            <a:prstDash val="solid"/>
          </a:ln>
        </p:spPr>
        <p:txBody>
          <a:bodyPr/>
          <a:lstStyle/>
          <a:p>
            <a:endParaRPr lang="en-IN"/>
          </a:p>
        </p:txBody>
      </p:sp>
      <p:sp>
        <p:nvSpPr>
          <p:cNvPr id="16" name="Shape 14"/>
          <p:cNvSpPr/>
          <p:nvPr/>
        </p:nvSpPr>
        <p:spPr>
          <a:xfrm>
            <a:off x="6126480" y="2798064"/>
            <a:ext cx="2377440" cy="594360"/>
          </a:xfrm>
          <a:prstGeom prst="rect">
            <a:avLst/>
          </a:prstGeom>
          <a:solidFill>
            <a:srgbClr val="F0A500"/>
          </a:solidFill>
          <a:ln w="12700">
            <a:solidFill>
              <a:srgbClr val="F0A500"/>
            </a:solidFill>
            <a:prstDash val="solid"/>
          </a:ln>
        </p:spPr>
        <p:txBody>
          <a:bodyPr/>
          <a:lstStyle/>
          <a:p>
            <a:endParaRPr lang="en-IN"/>
          </a:p>
        </p:txBody>
      </p:sp>
      <p:sp>
        <p:nvSpPr>
          <p:cNvPr id="17" name="Text 15"/>
          <p:cNvSpPr/>
          <p:nvPr/>
        </p:nvSpPr>
        <p:spPr>
          <a:xfrm>
            <a:off x="6126480" y="2798064"/>
            <a:ext cx="2377440" cy="5943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Threshold</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Breached?</a:t>
            </a:r>
            <a:endParaRPr lang="en-US" sz="1050" dirty="0"/>
          </a:p>
        </p:txBody>
      </p:sp>
      <p:sp>
        <p:nvSpPr>
          <p:cNvPr id="18" name="Shape 16"/>
          <p:cNvSpPr/>
          <p:nvPr/>
        </p:nvSpPr>
        <p:spPr>
          <a:xfrm>
            <a:off x="7251192" y="3392424"/>
            <a:ext cx="137160" cy="256032"/>
          </a:xfrm>
          <a:prstGeom prst="rect">
            <a:avLst/>
          </a:prstGeom>
          <a:solidFill>
            <a:srgbClr val="CBD5E1"/>
          </a:solidFill>
          <a:ln w="12700">
            <a:solidFill>
              <a:srgbClr val="CBD5E1"/>
            </a:solidFill>
            <a:prstDash val="solid"/>
          </a:ln>
        </p:spPr>
        <p:txBody>
          <a:bodyPr/>
          <a:lstStyle/>
          <a:p>
            <a:endParaRPr lang="en-IN"/>
          </a:p>
        </p:txBody>
      </p:sp>
      <p:sp>
        <p:nvSpPr>
          <p:cNvPr id="19" name="Shape 17"/>
          <p:cNvSpPr/>
          <p:nvPr/>
        </p:nvSpPr>
        <p:spPr>
          <a:xfrm>
            <a:off x="6126480" y="3694176"/>
            <a:ext cx="2377440" cy="594360"/>
          </a:xfrm>
          <a:prstGeom prst="rect">
            <a:avLst/>
          </a:prstGeom>
          <a:solidFill>
            <a:srgbClr val="DB2777"/>
          </a:solidFill>
          <a:ln w="12700">
            <a:solidFill>
              <a:srgbClr val="DB2777"/>
            </a:solidFill>
            <a:prstDash val="solid"/>
          </a:ln>
        </p:spPr>
        <p:txBody>
          <a:bodyPr/>
          <a:lstStyle/>
          <a:p>
            <a:endParaRPr lang="en-IN"/>
          </a:p>
        </p:txBody>
      </p:sp>
      <p:sp>
        <p:nvSpPr>
          <p:cNvPr id="20" name="Text 18"/>
          <p:cNvSpPr/>
          <p:nvPr/>
        </p:nvSpPr>
        <p:spPr>
          <a:xfrm>
            <a:off x="6126480" y="3694176"/>
            <a:ext cx="2377440" cy="594360"/>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Email Alert</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Sent ✉️</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8F8F"/>
          </a:solidFill>
          <a:ln w="12700">
            <a:solidFill>
              <a:srgbClr val="0A8F8F"/>
            </a:solidFill>
            <a:prstDash val="solid"/>
          </a:ln>
        </p:spPr>
        <p:txBody>
          <a:bodyPr/>
          <a:lstStyle/>
          <a:p>
            <a:endParaRPr lang="en-IN"/>
          </a:p>
        </p:txBody>
      </p:sp>
      <p:sp>
        <p:nvSpPr>
          <p:cNvPr id="3" name="Text 1"/>
          <p:cNvSpPr/>
          <p:nvPr/>
        </p:nvSpPr>
        <p:spPr>
          <a:xfrm>
            <a:off x="411480" y="164592"/>
            <a:ext cx="8321040" cy="566928"/>
          </a:xfrm>
          <a:prstGeom prst="rect">
            <a:avLst/>
          </a:prstGeom>
          <a:noFill/>
          <a:ln/>
        </p:spPr>
        <p:txBody>
          <a:bodyPr wrap="square" lIns="0" tIns="0" rIns="0" bIns="0" rtlCol="0" anchor="ctr"/>
          <a:lstStyle/>
          <a:p>
            <a:pPr marL="0" indent="0">
              <a:buNone/>
            </a:pPr>
            <a:r>
              <a:rPr lang="en-US" sz="2600" b="1" dirty="0">
                <a:solidFill>
                  <a:srgbClr val="0D1B3E"/>
                </a:solidFill>
                <a:latin typeface="Calibri" pitchFamily="34" charset="0"/>
                <a:ea typeface="Calibri" pitchFamily="34" charset="-122"/>
                <a:cs typeface="Calibri" pitchFamily="34" charset="-120"/>
              </a:rPr>
              <a:t>Challenges Faced</a:t>
            </a:r>
            <a:endParaRPr lang="en-US" sz="2600" dirty="0"/>
          </a:p>
        </p:txBody>
      </p:sp>
      <p:sp>
        <p:nvSpPr>
          <p:cNvPr id="4" name="Shape 2"/>
          <p:cNvSpPr/>
          <p:nvPr/>
        </p:nvSpPr>
        <p:spPr>
          <a:xfrm>
            <a:off x="411480" y="749808"/>
            <a:ext cx="8321040" cy="22860"/>
          </a:xfrm>
          <a:prstGeom prst="rect">
            <a:avLst/>
          </a:prstGeom>
          <a:solidFill>
            <a:srgbClr val="0A8F8F"/>
          </a:solidFill>
          <a:ln w="12700">
            <a:solidFill>
              <a:srgbClr val="0A8F8F"/>
            </a:solidFill>
            <a:prstDash val="solid"/>
          </a:ln>
        </p:spPr>
        <p:txBody>
          <a:bodyPr/>
          <a:lstStyle/>
          <a:p>
            <a:endParaRPr lang="en-IN"/>
          </a:p>
        </p:txBody>
      </p:sp>
      <p:sp>
        <p:nvSpPr>
          <p:cNvPr id="5" name="Shape 3"/>
          <p:cNvSpPr/>
          <p:nvPr/>
        </p:nvSpPr>
        <p:spPr>
          <a:xfrm>
            <a:off x="0" y="5001768"/>
            <a:ext cx="9144000" cy="141732"/>
          </a:xfrm>
          <a:prstGeom prst="rect">
            <a:avLst/>
          </a:prstGeom>
          <a:solidFill>
            <a:srgbClr val="0D1B3E"/>
          </a:solidFill>
          <a:ln w="12700">
            <a:solidFill>
              <a:srgbClr val="0D1B3E"/>
            </a:solidFill>
            <a:prstDash val="solid"/>
          </a:ln>
        </p:spPr>
        <p:txBody>
          <a:bodyPr/>
          <a:lstStyle/>
          <a:p>
            <a:endParaRPr lang="en-IN"/>
          </a:p>
        </p:txBody>
      </p:sp>
      <p:sp>
        <p:nvSpPr>
          <p:cNvPr id="6" name="Text 4"/>
          <p:cNvSpPr/>
          <p:nvPr/>
        </p:nvSpPr>
        <p:spPr>
          <a:xfrm>
            <a:off x="274320" y="5001768"/>
            <a:ext cx="6400800" cy="141732"/>
          </a:xfrm>
          <a:prstGeom prst="rect">
            <a:avLst/>
          </a:prstGeom>
          <a:noFill/>
          <a:ln/>
        </p:spPr>
        <p:txBody>
          <a:bodyPr wrap="square" lIns="0" tIns="0" rIns="0" bIns="0" rtlCol="0" anchor="ctr"/>
          <a:lstStyle/>
          <a:p>
            <a:pPr marL="0" indent="0">
              <a:buNone/>
            </a:pPr>
            <a:r>
              <a:rPr lang="en-US" sz="800" dirty="0">
                <a:solidFill>
                  <a:srgbClr val="8BAED4"/>
                </a:solidFill>
                <a:latin typeface="Calibri" pitchFamily="34" charset="0"/>
                <a:ea typeface="Calibri" pitchFamily="34" charset="-122"/>
                <a:cs typeface="Calibri" pitchFamily="34" charset="-120"/>
              </a:rPr>
              <a:t>Banking Application  |  Project Review</a:t>
            </a:r>
            <a:endParaRPr lang="en-US" sz="800" dirty="0"/>
          </a:p>
        </p:txBody>
      </p:sp>
      <p:sp>
        <p:nvSpPr>
          <p:cNvPr id="7" name="Text 5"/>
          <p:cNvSpPr/>
          <p:nvPr/>
        </p:nvSpPr>
        <p:spPr>
          <a:xfrm>
            <a:off x="8229600" y="5001768"/>
            <a:ext cx="731520" cy="141732"/>
          </a:xfrm>
          <a:prstGeom prst="rect">
            <a:avLst/>
          </a:prstGeom>
          <a:noFill/>
          <a:ln/>
        </p:spPr>
        <p:txBody>
          <a:bodyPr wrap="square" lIns="0" tIns="0" rIns="0" bIns="0" rtlCol="0" anchor="ctr"/>
          <a:lstStyle/>
          <a:p>
            <a:pPr marL="0" indent="0" algn="r">
              <a:buNone/>
            </a:pPr>
            <a:r>
              <a:rPr lang="en-US" sz="800" dirty="0">
                <a:solidFill>
                  <a:srgbClr val="8BAED4"/>
                </a:solidFill>
                <a:latin typeface="Calibri" pitchFamily="34" charset="0"/>
                <a:ea typeface="Calibri" pitchFamily="34" charset="-122"/>
                <a:cs typeface="Calibri" pitchFamily="34" charset="-120"/>
              </a:rPr>
              <a:t>13 / 16</a:t>
            </a:r>
            <a:endParaRPr lang="en-US" sz="800" dirty="0"/>
          </a:p>
        </p:txBody>
      </p:sp>
      <p:sp>
        <p:nvSpPr>
          <p:cNvPr id="8" name="Shape 6"/>
          <p:cNvSpPr/>
          <p:nvPr/>
        </p:nvSpPr>
        <p:spPr>
          <a:xfrm>
            <a:off x="320040" y="1005840"/>
            <a:ext cx="4206240" cy="16916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9" name="Shape 7"/>
          <p:cNvSpPr/>
          <p:nvPr/>
        </p:nvSpPr>
        <p:spPr>
          <a:xfrm>
            <a:off x="320040" y="1005840"/>
            <a:ext cx="54864" cy="1691640"/>
          </a:xfrm>
          <a:prstGeom prst="rect">
            <a:avLst/>
          </a:prstGeom>
          <a:solidFill>
            <a:srgbClr val="D64040"/>
          </a:solidFill>
          <a:ln w="12700">
            <a:solidFill>
              <a:srgbClr val="D64040"/>
            </a:solidFill>
            <a:prstDash val="solid"/>
          </a:ln>
        </p:spPr>
        <p:txBody>
          <a:bodyPr/>
          <a:lstStyle/>
          <a:p>
            <a:endParaRPr lang="en-IN"/>
          </a:p>
        </p:txBody>
      </p:sp>
      <p:sp>
        <p:nvSpPr>
          <p:cNvPr id="10" name="Text 8"/>
          <p:cNvSpPr/>
          <p:nvPr/>
        </p:nvSpPr>
        <p:spPr>
          <a:xfrm>
            <a:off x="457200" y="1078992"/>
            <a:ext cx="3931920" cy="274320"/>
          </a:xfrm>
          <a:prstGeom prst="rect">
            <a:avLst/>
          </a:prstGeom>
          <a:noFill/>
          <a:ln/>
        </p:spPr>
        <p:txBody>
          <a:bodyPr wrap="square" lIns="0" tIns="0" rIns="0" bIns="0" rtlCol="0" anchor="ctr"/>
          <a:lstStyle/>
          <a:p>
            <a:pPr marL="0" indent="0">
              <a:buNone/>
            </a:pPr>
            <a:r>
              <a:rPr lang="en-US" sz="1150" b="1" dirty="0">
                <a:solidFill>
                  <a:srgbClr val="D64040"/>
                </a:solidFill>
                <a:latin typeface="Calibri" pitchFamily="34" charset="0"/>
                <a:ea typeface="Calibri" pitchFamily="34" charset="-122"/>
                <a:cs typeface="Calibri" pitchFamily="34" charset="-120"/>
              </a:rPr>
              <a:t>CORS Configuration</a:t>
            </a:r>
            <a:endParaRPr lang="en-US" sz="1150" dirty="0"/>
          </a:p>
        </p:txBody>
      </p:sp>
      <p:sp>
        <p:nvSpPr>
          <p:cNvPr id="11" name="Text 9"/>
          <p:cNvSpPr/>
          <p:nvPr/>
        </p:nvSpPr>
        <p:spPr>
          <a:xfrm>
            <a:off x="457200" y="1389888"/>
            <a:ext cx="3931920" cy="475488"/>
          </a:xfrm>
          <a:prstGeom prst="rect">
            <a:avLst/>
          </a:prstGeom>
          <a:noFill/>
          <a:ln/>
        </p:spPr>
        <p:txBody>
          <a:bodyPr wrap="square" lIns="0" tIns="0" rIns="0" bIns="0" rtlCol="0" anchor="ctr"/>
          <a:lstStyle/>
          <a:p>
            <a:pPr marL="0" indent="0">
              <a:buNone/>
            </a:pPr>
            <a:r>
              <a:rPr lang="en-US" sz="1000" dirty="0">
                <a:solidFill>
                  <a:srgbClr val="1A2640"/>
                </a:solidFill>
                <a:latin typeface="Calibri" pitchFamily="34" charset="0"/>
                <a:ea typeface="Calibri" pitchFamily="34" charset="-122"/>
                <a:cs typeface="Calibri" pitchFamily="34" charset="-120"/>
              </a:rPr>
              <a:t>⚠  Browser blocked API calls from static HTML file to localhost:8080</a:t>
            </a:r>
            <a:endParaRPr lang="en-US" sz="1000" dirty="0"/>
          </a:p>
        </p:txBody>
      </p:sp>
      <p:sp>
        <p:nvSpPr>
          <p:cNvPr id="12" name="Text 10"/>
          <p:cNvSpPr/>
          <p:nvPr/>
        </p:nvSpPr>
        <p:spPr>
          <a:xfrm>
            <a:off x="457200" y="1901952"/>
            <a:ext cx="3931920" cy="658368"/>
          </a:xfrm>
          <a:prstGeom prst="rect">
            <a:avLst/>
          </a:prstGeom>
          <a:noFill/>
          <a:ln/>
        </p:spPr>
        <p:txBody>
          <a:bodyPr wrap="square" lIns="0" tIns="0" rIns="0" bIns="0" rtlCol="0" anchor="ctr"/>
          <a:lstStyle/>
          <a:p>
            <a:pPr marL="0" indent="0">
              <a:buNone/>
            </a:pPr>
            <a:r>
              <a:rPr lang="en-US" sz="1000" dirty="0">
                <a:solidFill>
                  <a:srgbClr val="15803D"/>
                </a:solidFill>
                <a:latin typeface="Calibri" pitchFamily="34" charset="0"/>
                <a:ea typeface="Calibri" pitchFamily="34" charset="-122"/>
                <a:cs typeface="Calibri" pitchFamily="34" charset="-120"/>
              </a:rPr>
              <a:t>✅  Added Access-Control-Allow-Origin header globally in Spark before() filter</a:t>
            </a:r>
            <a:endParaRPr lang="en-US" sz="1000" dirty="0"/>
          </a:p>
        </p:txBody>
      </p:sp>
      <p:sp>
        <p:nvSpPr>
          <p:cNvPr id="13" name="Shape 11"/>
          <p:cNvSpPr/>
          <p:nvPr/>
        </p:nvSpPr>
        <p:spPr>
          <a:xfrm>
            <a:off x="4754880" y="1005840"/>
            <a:ext cx="4206240" cy="16916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14" name="Shape 12"/>
          <p:cNvSpPr/>
          <p:nvPr/>
        </p:nvSpPr>
        <p:spPr>
          <a:xfrm>
            <a:off x="4754880" y="1005840"/>
            <a:ext cx="54864" cy="1691640"/>
          </a:xfrm>
          <a:prstGeom prst="rect">
            <a:avLst/>
          </a:prstGeom>
          <a:solidFill>
            <a:srgbClr val="7C3AED"/>
          </a:solidFill>
          <a:ln w="12700">
            <a:solidFill>
              <a:srgbClr val="7C3AED"/>
            </a:solidFill>
            <a:prstDash val="solid"/>
          </a:ln>
        </p:spPr>
        <p:txBody>
          <a:bodyPr/>
          <a:lstStyle/>
          <a:p>
            <a:endParaRPr lang="en-IN"/>
          </a:p>
        </p:txBody>
      </p:sp>
      <p:sp>
        <p:nvSpPr>
          <p:cNvPr id="15" name="Text 13"/>
          <p:cNvSpPr/>
          <p:nvPr/>
        </p:nvSpPr>
        <p:spPr>
          <a:xfrm>
            <a:off x="4892040" y="1078992"/>
            <a:ext cx="3931920" cy="274320"/>
          </a:xfrm>
          <a:prstGeom prst="rect">
            <a:avLst/>
          </a:prstGeom>
          <a:noFill/>
          <a:ln/>
        </p:spPr>
        <p:txBody>
          <a:bodyPr wrap="square" lIns="0" tIns="0" rIns="0" bIns="0" rtlCol="0" anchor="ctr"/>
          <a:lstStyle/>
          <a:p>
            <a:pPr marL="0" indent="0">
              <a:buNone/>
            </a:pPr>
            <a:r>
              <a:rPr lang="en-US" sz="1150" b="1" dirty="0">
                <a:solidFill>
                  <a:srgbClr val="7C3AED"/>
                </a:solidFill>
                <a:latin typeface="Calibri" pitchFamily="34" charset="0"/>
                <a:ea typeface="Calibri" pitchFamily="34" charset="-122"/>
                <a:cs typeface="Calibri" pitchFamily="34" charset="-120"/>
              </a:rPr>
              <a:t>Transfer Atomicity</a:t>
            </a:r>
            <a:endParaRPr lang="en-US" sz="1150" dirty="0"/>
          </a:p>
        </p:txBody>
      </p:sp>
      <p:sp>
        <p:nvSpPr>
          <p:cNvPr id="16" name="Text 14"/>
          <p:cNvSpPr/>
          <p:nvPr/>
        </p:nvSpPr>
        <p:spPr>
          <a:xfrm>
            <a:off x="4892040" y="1389888"/>
            <a:ext cx="3931920" cy="475488"/>
          </a:xfrm>
          <a:prstGeom prst="rect">
            <a:avLst/>
          </a:prstGeom>
          <a:noFill/>
          <a:ln/>
        </p:spPr>
        <p:txBody>
          <a:bodyPr wrap="square" lIns="0" tIns="0" rIns="0" bIns="0" rtlCol="0" anchor="ctr"/>
          <a:lstStyle/>
          <a:p>
            <a:pPr marL="0" indent="0">
              <a:buNone/>
            </a:pPr>
            <a:r>
              <a:rPr lang="en-US" sz="1000" dirty="0">
                <a:solidFill>
                  <a:srgbClr val="1A2640"/>
                </a:solidFill>
                <a:latin typeface="Calibri" pitchFamily="34" charset="0"/>
                <a:ea typeface="Calibri" pitchFamily="34" charset="-122"/>
                <a:cs typeface="Calibri" pitchFamily="34" charset="-120"/>
              </a:rPr>
              <a:t>⚠  Debit succeeds but credit fails — leaves accounts in inconsistent state</a:t>
            </a:r>
            <a:endParaRPr lang="en-US" sz="1000" dirty="0"/>
          </a:p>
        </p:txBody>
      </p:sp>
      <p:sp>
        <p:nvSpPr>
          <p:cNvPr id="17" name="Text 15"/>
          <p:cNvSpPr/>
          <p:nvPr/>
        </p:nvSpPr>
        <p:spPr>
          <a:xfrm>
            <a:off x="4892040" y="1901952"/>
            <a:ext cx="3931920" cy="658368"/>
          </a:xfrm>
          <a:prstGeom prst="rect">
            <a:avLst/>
          </a:prstGeom>
          <a:noFill/>
          <a:ln/>
        </p:spPr>
        <p:txBody>
          <a:bodyPr wrap="square" lIns="0" tIns="0" rIns="0" bIns="0" rtlCol="0" anchor="ctr"/>
          <a:lstStyle/>
          <a:p>
            <a:pPr marL="0" indent="0">
              <a:buNone/>
            </a:pPr>
            <a:r>
              <a:rPr lang="en-US" sz="1000" dirty="0">
                <a:solidFill>
                  <a:srgbClr val="15803D"/>
                </a:solidFill>
                <a:latin typeface="Calibri" pitchFamily="34" charset="0"/>
                <a:ea typeface="Calibri" pitchFamily="34" charset="-122"/>
                <a:cs typeface="Calibri" pitchFamily="34" charset="-120"/>
              </a:rPr>
              <a:t>✅  Wrapped debit+credit in a single JDBC transaction with rollback on failure</a:t>
            </a:r>
            <a:endParaRPr lang="en-US" sz="1000" dirty="0"/>
          </a:p>
        </p:txBody>
      </p:sp>
      <p:sp>
        <p:nvSpPr>
          <p:cNvPr id="18" name="Shape 16"/>
          <p:cNvSpPr/>
          <p:nvPr/>
        </p:nvSpPr>
        <p:spPr>
          <a:xfrm>
            <a:off x="320040" y="2834640"/>
            <a:ext cx="4206240" cy="16916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19" name="Shape 17"/>
          <p:cNvSpPr/>
          <p:nvPr/>
        </p:nvSpPr>
        <p:spPr>
          <a:xfrm>
            <a:off x="320040" y="2834640"/>
            <a:ext cx="54864" cy="1691640"/>
          </a:xfrm>
          <a:prstGeom prst="rect">
            <a:avLst/>
          </a:prstGeom>
          <a:solidFill>
            <a:srgbClr val="C2560C"/>
          </a:solidFill>
          <a:ln w="12700">
            <a:solidFill>
              <a:srgbClr val="C2560C"/>
            </a:solidFill>
            <a:prstDash val="solid"/>
          </a:ln>
        </p:spPr>
        <p:txBody>
          <a:bodyPr/>
          <a:lstStyle/>
          <a:p>
            <a:endParaRPr lang="en-IN"/>
          </a:p>
        </p:txBody>
      </p:sp>
      <p:sp>
        <p:nvSpPr>
          <p:cNvPr id="20" name="Text 18"/>
          <p:cNvSpPr/>
          <p:nvPr/>
        </p:nvSpPr>
        <p:spPr>
          <a:xfrm>
            <a:off x="457200" y="2907792"/>
            <a:ext cx="3931920" cy="274320"/>
          </a:xfrm>
          <a:prstGeom prst="rect">
            <a:avLst/>
          </a:prstGeom>
          <a:noFill/>
          <a:ln/>
        </p:spPr>
        <p:txBody>
          <a:bodyPr wrap="square" lIns="0" tIns="0" rIns="0" bIns="0" rtlCol="0" anchor="ctr"/>
          <a:lstStyle/>
          <a:p>
            <a:pPr marL="0" indent="0">
              <a:buNone/>
            </a:pPr>
            <a:r>
              <a:rPr lang="en-US" sz="1150" b="1" dirty="0">
                <a:solidFill>
                  <a:srgbClr val="C2560C"/>
                </a:solidFill>
                <a:latin typeface="Calibri" pitchFamily="34" charset="0"/>
                <a:ea typeface="Calibri" pitchFamily="34" charset="-122"/>
                <a:cs typeface="Calibri" pitchFamily="34" charset="-120"/>
              </a:rPr>
              <a:t>MySQL JDBC Connection</a:t>
            </a:r>
            <a:endParaRPr lang="en-US" sz="1150" dirty="0"/>
          </a:p>
        </p:txBody>
      </p:sp>
      <p:sp>
        <p:nvSpPr>
          <p:cNvPr id="21" name="Text 19"/>
          <p:cNvSpPr/>
          <p:nvPr/>
        </p:nvSpPr>
        <p:spPr>
          <a:xfrm>
            <a:off x="457200" y="3218688"/>
            <a:ext cx="3931920" cy="475488"/>
          </a:xfrm>
          <a:prstGeom prst="rect">
            <a:avLst/>
          </a:prstGeom>
          <a:noFill/>
          <a:ln/>
        </p:spPr>
        <p:txBody>
          <a:bodyPr wrap="square" lIns="0" tIns="0" rIns="0" bIns="0" rtlCol="0" anchor="ctr"/>
          <a:lstStyle/>
          <a:p>
            <a:pPr marL="0" indent="0">
              <a:buNone/>
            </a:pPr>
            <a:r>
              <a:rPr lang="en-US" sz="1000" dirty="0">
                <a:solidFill>
                  <a:srgbClr val="1A2640"/>
                </a:solidFill>
                <a:latin typeface="Calibri" pitchFamily="34" charset="0"/>
                <a:ea typeface="Calibri" pitchFamily="34" charset="-122"/>
                <a:cs typeface="Calibri" pitchFamily="34" charset="-120"/>
              </a:rPr>
              <a:t>⚠  Connection string, driver class, and .env parsing caused startup failures</a:t>
            </a:r>
            <a:endParaRPr lang="en-US" sz="1000" dirty="0"/>
          </a:p>
        </p:txBody>
      </p:sp>
      <p:sp>
        <p:nvSpPr>
          <p:cNvPr id="22" name="Text 20"/>
          <p:cNvSpPr/>
          <p:nvPr/>
        </p:nvSpPr>
        <p:spPr>
          <a:xfrm>
            <a:off x="457200" y="3730752"/>
            <a:ext cx="3931920" cy="658368"/>
          </a:xfrm>
          <a:prstGeom prst="rect">
            <a:avLst/>
          </a:prstGeom>
          <a:noFill/>
          <a:ln/>
        </p:spPr>
        <p:txBody>
          <a:bodyPr wrap="square" lIns="0" tIns="0" rIns="0" bIns="0" rtlCol="0" anchor="ctr"/>
          <a:lstStyle/>
          <a:p>
            <a:pPr marL="0" indent="0">
              <a:buNone/>
            </a:pPr>
            <a:r>
              <a:rPr lang="en-US" sz="1000" dirty="0">
                <a:solidFill>
                  <a:srgbClr val="15803D"/>
                </a:solidFill>
                <a:latin typeface="Calibri" pitchFamily="34" charset="0"/>
                <a:ea typeface="Calibri" pitchFamily="34" charset="-122"/>
                <a:cs typeface="Calibri" pitchFamily="34" charset="-120"/>
              </a:rPr>
              <a:t>✅  Used dotenv-java library and verified JDBC URL format with connection pool</a:t>
            </a:r>
            <a:endParaRPr lang="en-US" sz="1000" dirty="0"/>
          </a:p>
        </p:txBody>
      </p:sp>
      <p:sp>
        <p:nvSpPr>
          <p:cNvPr id="23" name="Shape 21"/>
          <p:cNvSpPr/>
          <p:nvPr/>
        </p:nvSpPr>
        <p:spPr>
          <a:xfrm>
            <a:off x="4754880" y="2834640"/>
            <a:ext cx="4206240" cy="169164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24" name="Shape 22"/>
          <p:cNvSpPr/>
          <p:nvPr/>
        </p:nvSpPr>
        <p:spPr>
          <a:xfrm>
            <a:off x="4754880" y="2834640"/>
            <a:ext cx="54864" cy="1691640"/>
          </a:xfrm>
          <a:prstGeom prst="rect">
            <a:avLst/>
          </a:prstGeom>
          <a:solidFill>
            <a:srgbClr val="DB2777"/>
          </a:solidFill>
          <a:ln w="12700">
            <a:solidFill>
              <a:srgbClr val="DB2777"/>
            </a:solidFill>
            <a:prstDash val="solid"/>
          </a:ln>
        </p:spPr>
        <p:txBody>
          <a:bodyPr/>
          <a:lstStyle/>
          <a:p>
            <a:endParaRPr lang="en-IN"/>
          </a:p>
        </p:txBody>
      </p:sp>
      <p:sp>
        <p:nvSpPr>
          <p:cNvPr id="25" name="Text 23"/>
          <p:cNvSpPr/>
          <p:nvPr/>
        </p:nvSpPr>
        <p:spPr>
          <a:xfrm>
            <a:off x="4892040" y="2907792"/>
            <a:ext cx="3931920" cy="274320"/>
          </a:xfrm>
          <a:prstGeom prst="rect">
            <a:avLst/>
          </a:prstGeom>
          <a:noFill/>
          <a:ln/>
        </p:spPr>
        <p:txBody>
          <a:bodyPr wrap="square" lIns="0" tIns="0" rIns="0" bIns="0" rtlCol="0" anchor="ctr"/>
          <a:lstStyle/>
          <a:p>
            <a:pPr marL="0" indent="0">
              <a:buNone/>
            </a:pPr>
            <a:r>
              <a:rPr lang="en-US" sz="1150" b="1" dirty="0">
                <a:solidFill>
                  <a:srgbClr val="DB2777"/>
                </a:solidFill>
                <a:latin typeface="Calibri" pitchFamily="34" charset="0"/>
                <a:ea typeface="Calibri" pitchFamily="34" charset="-122"/>
                <a:cs typeface="Calibri" pitchFamily="34" charset="-120"/>
              </a:rPr>
              <a:t>Email SMTP Auth</a:t>
            </a:r>
            <a:endParaRPr lang="en-US" sz="1150" dirty="0"/>
          </a:p>
        </p:txBody>
      </p:sp>
      <p:sp>
        <p:nvSpPr>
          <p:cNvPr id="26" name="Text 24"/>
          <p:cNvSpPr/>
          <p:nvPr/>
        </p:nvSpPr>
        <p:spPr>
          <a:xfrm>
            <a:off x="4892040" y="3218688"/>
            <a:ext cx="3931920" cy="475488"/>
          </a:xfrm>
          <a:prstGeom prst="rect">
            <a:avLst/>
          </a:prstGeom>
          <a:noFill/>
          <a:ln/>
        </p:spPr>
        <p:txBody>
          <a:bodyPr wrap="square" lIns="0" tIns="0" rIns="0" bIns="0" rtlCol="0" anchor="ctr"/>
          <a:lstStyle/>
          <a:p>
            <a:pPr marL="0" indent="0">
              <a:buNone/>
            </a:pPr>
            <a:r>
              <a:rPr lang="en-US" sz="1000" dirty="0">
                <a:solidFill>
                  <a:srgbClr val="1A2640"/>
                </a:solidFill>
                <a:latin typeface="Calibri" pitchFamily="34" charset="0"/>
                <a:ea typeface="Calibri" pitchFamily="34" charset="-122"/>
                <a:cs typeface="Calibri" pitchFamily="34" charset="-120"/>
              </a:rPr>
              <a:t>⚠  Gmail blocked plain password — authentication errors with JavaMail</a:t>
            </a:r>
            <a:endParaRPr lang="en-US" sz="1000" dirty="0"/>
          </a:p>
        </p:txBody>
      </p:sp>
      <p:sp>
        <p:nvSpPr>
          <p:cNvPr id="27" name="Text 25"/>
          <p:cNvSpPr/>
          <p:nvPr/>
        </p:nvSpPr>
        <p:spPr>
          <a:xfrm>
            <a:off x="4892040" y="3730752"/>
            <a:ext cx="3931920" cy="658368"/>
          </a:xfrm>
          <a:prstGeom prst="rect">
            <a:avLst/>
          </a:prstGeom>
          <a:noFill/>
          <a:ln/>
        </p:spPr>
        <p:txBody>
          <a:bodyPr wrap="square" lIns="0" tIns="0" rIns="0" bIns="0" rtlCol="0" anchor="ctr"/>
          <a:lstStyle/>
          <a:p>
            <a:pPr marL="0" indent="0">
              <a:buNone/>
            </a:pPr>
            <a:r>
              <a:rPr lang="en-US" sz="1000" dirty="0">
                <a:solidFill>
                  <a:srgbClr val="15803D"/>
                </a:solidFill>
                <a:latin typeface="Calibri" pitchFamily="34" charset="0"/>
                <a:ea typeface="Calibri" pitchFamily="34" charset="-122"/>
                <a:cs typeface="Calibri" pitchFamily="34" charset="-120"/>
              </a:rPr>
              <a:t>✅  Switched to App Passwords with 2FA — configured STARTTLS on port 587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bg>
      <p:bgPr>
        <a:solidFill>
          <a:srgbClr val="F4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A8F8F"/>
          </a:solidFill>
          <a:ln w="12700">
            <a:solidFill>
              <a:srgbClr val="0A8F8F"/>
            </a:solidFill>
            <a:prstDash val="solid"/>
          </a:ln>
        </p:spPr>
        <p:txBody>
          <a:bodyPr/>
          <a:lstStyle/>
          <a:p>
            <a:endParaRPr lang="en-IN"/>
          </a:p>
        </p:txBody>
      </p:sp>
      <p:sp>
        <p:nvSpPr>
          <p:cNvPr id="3" name="Text 1"/>
          <p:cNvSpPr/>
          <p:nvPr/>
        </p:nvSpPr>
        <p:spPr>
          <a:xfrm>
            <a:off x="411480" y="164592"/>
            <a:ext cx="8321040" cy="566928"/>
          </a:xfrm>
          <a:prstGeom prst="rect">
            <a:avLst/>
          </a:prstGeom>
          <a:noFill/>
          <a:ln/>
        </p:spPr>
        <p:txBody>
          <a:bodyPr wrap="square" lIns="0" tIns="0" rIns="0" bIns="0" rtlCol="0" anchor="ctr"/>
          <a:lstStyle/>
          <a:p>
            <a:pPr marL="0" indent="0">
              <a:buNone/>
            </a:pPr>
            <a:r>
              <a:rPr lang="en-US" sz="2600" b="1" dirty="0">
                <a:solidFill>
                  <a:srgbClr val="0D1B3E"/>
                </a:solidFill>
                <a:latin typeface="Calibri" pitchFamily="34" charset="0"/>
                <a:ea typeface="Calibri" pitchFamily="34" charset="-122"/>
                <a:cs typeface="Calibri" pitchFamily="34" charset="-120"/>
              </a:rPr>
              <a:t>Future Enhancements</a:t>
            </a:r>
            <a:endParaRPr lang="en-US" sz="2600" dirty="0"/>
          </a:p>
        </p:txBody>
      </p:sp>
      <p:sp>
        <p:nvSpPr>
          <p:cNvPr id="4" name="Shape 2"/>
          <p:cNvSpPr/>
          <p:nvPr/>
        </p:nvSpPr>
        <p:spPr>
          <a:xfrm>
            <a:off x="411480" y="749808"/>
            <a:ext cx="8321040" cy="22860"/>
          </a:xfrm>
          <a:prstGeom prst="rect">
            <a:avLst/>
          </a:prstGeom>
          <a:solidFill>
            <a:srgbClr val="0A8F8F"/>
          </a:solidFill>
          <a:ln w="12700">
            <a:solidFill>
              <a:srgbClr val="0A8F8F"/>
            </a:solidFill>
            <a:prstDash val="solid"/>
          </a:ln>
        </p:spPr>
        <p:txBody>
          <a:bodyPr/>
          <a:lstStyle/>
          <a:p>
            <a:endParaRPr lang="en-IN"/>
          </a:p>
        </p:txBody>
      </p:sp>
      <p:sp>
        <p:nvSpPr>
          <p:cNvPr id="5" name="Shape 3"/>
          <p:cNvSpPr/>
          <p:nvPr/>
        </p:nvSpPr>
        <p:spPr>
          <a:xfrm>
            <a:off x="0" y="5001768"/>
            <a:ext cx="9144000" cy="141732"/>
          </a:xfrm>
          <a:prstGeom prst="rect">
            <a:avLst/>
          </a:prstGeom>
          <a:solidFill>
            <a:srgbClr val="0D1B3E"/>
          </a:solidFill>
          <a:ln w="12700">
            <a:solidFill>
              <a:srgbClr val="0D1B3E"/>
            </a:solidFill>
            <a:prstDash val="solid"/>
          </a:ln>
        </p:spPr>
        <p:txBody>
          <a:bodyPr/>
          <a:lstStyle/>
          <a:p>
            <a:endParaRPr lang="en-IN"/>
          </a:p>
        </p:txBody>
      </p:sp>
      <p:sp>
        <p:nvSpPr>
          <p:cNvPr id="6" name="Text 4"/>
          <p:cNvSpPr/>
          <p:nvPr/>
        </p:nvSpPr>
        <p:spPr>
          <a:xfrm>
            <a:off x="274320" y="5001768"/>
            <a:ext cx="6400800" cy="141732"/>
          </a:xfrm>
          <a:prstGeom prst="rect">
            <a:avLst/>
          </a:prstGeom>
          <a:noFill/>
          <a:ln/>
        </p:spPr>
        <p:txBody>
          <a:bodyPr wrap="square" lIns="0" tIns="0" rIns="0" bIns="0" rtlCol="0" anchor="ctr"/>
          <a:lstStyle/>
          <a:p>
            <a:pPr marL="0" indent="0">
              <a:buNone/>
            </a:pPr>
            <a:r>
              <a:rPr lang="en-US" sz="800" dirty="0">
                <a:solidFill>
                  <a:srgbClr val="8BAED4"/>
                </a:solidFill>
                <a:latin typeface="Calibri" pitchFamily="34" charset="0"/>
                <a:ea typeface="Calibri" pitchFamily="34" charset="-122"/>
                <a:cs typeface="Calibri" pitchFamily="34" charset="-120"/>
              </a:rPr>
              <a:t>Banking Application  |  Project Review</a:t>
            </a:r>
            <a:endParaRPr lang="en-US" sz="800" dirty="0"/>
          </a:p>
        </p:txBody>
      </p:sp>
      <p:sp>
        <p:nvSpPr>
          <p:cNvPr id="7" name="Text 5"/>
          <p:cNvSpPr/>
          <p:nvPr/>
        </p:nvSpPr>
        <p:spPr>
          <a:xfrm>
            <a:off x="8229600" y="5001768"/>
            <a:ext cx="731520" cy="141732"/>
          </a:xfrm>
          <a:prstGeom prst="rect">
            <a:avLst/>
          </a:prstGeom>
          <a:noFill/>
          <a:ln/>
        </p:spPr>
        <p:txBody>
          <a:bodyPr wrap="square" lIns="0" tIns="0" rIns="0" bIns="0" rtlCol="0" anchor="ctr"/>
          <a:lstStyle/>
          <a:p>
            <a:pPr marL="0" indent="0" algn="r">
              <a:buNone/>
            </a:pPr>
            <a:r>
              <a:rPr lang="en-US" sz="800" dirty="0">
                <a:solidFill>
                  <a:srgbClr val="8BAED4"/>
                </a:solidFill>
                <a:latin typeface="Calibri" pitchFamily="34" charset="0"/>
                <a:ea typeface="Calibri" pitchFamily="34" charset="-122"/>
                <a:cs typeface="Calibri" pitchFamily="34" charset="-120"/>
              </a:rPr>
              <a:t>15 / 16</a:t>
            </a:r>
            <a:endParaRPr lang="en-US" sz="800" dirty="0"/>
          </a:p>
        </p:txBody>
      </p:sp>
      <p:sp>
        <p:nvSpPr>
          <p:cNvPr id="8" name="Shape 6"/>
          <p:cNvSpPr/>
          <p:nvPr/>
        </p:nvSpPr>
        <p:spPr>
          <a:xfrm>
            <a:off x="320040" y="987552"/>
            <a:ext cx="2743200" cy="17373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9" name="Shape 7"/>
          <p:cNvSpPr/>
          <p:nvPr/>
        </p:nvSpPr>
        <p:spPr>
          <a:xfrm>
            <a:off x="320040" y="987552"/>
            <a:ext cx="2743200" cy="54864"/>
          </a:xfrm>
          <a:prstGeom prst="rect">
            <a:avLst/>
          </a:prstGeom>
          <a:solidFill>
            <a:srgbClr val="2563EB"/>
          </a:solidFill>
          <a:ln w="12700">
            <a:solidFill>
              <a:srgbClr val="2563EB"/>
            </a:solidFill>
            <a:prstDash val="solid"/>
          </a:ln>
        </p:spPr>
        <p:txBody>
          <a:bodyPr/>
          <a:lstStyle/>
          <a:p>
            <a:endParaRPr lang="en-IN"/>
          </a:p>
        </p:txBody>
      </p:sp>
      <p:sp>
        <p:nvSpPr>
          <p:cNvPr id="10" name="Text 8"/>
          <p:cNvSpPr/>
          <p:nvPr/>
        </p:nvSpPr>
        <p:spPr>
          <a:xfrm>
            <a:off x="320040" y="1078992"/>
            <a:ext cx="274320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1" name="Text 9"/>
          <p:cNvSpPr/>
          <p:nvPr/>
        </p:nvSpPr>
        <p:spPr>
          <a:xfrm>
            <a:off x="393192" y="1554480"/>
            <a:ext cx="2606040" cy="292608"/>
          </a:xfrm>
          <a:prstGeom prst="rect">
            <a:avLst/>
          </a:prstGeom>
          <a:noFill/>
          <a:ln/>
        </p:spPr>
        <p:txBody>
          <a:bodyPr wrap="square" lIns="0" tIns="0" rIns="0" bIns="0" rtlCol="0" anchor="ctr"/>
          <a:lstStyle/>
          <a:p>
            <a:pPr marL="0" indent="0" algn="ctr">
              <a:buNone/>
            </a:pPr>
            <a:r>
              <a:rPr lang="en-US" sz="1150" b="1" dirty="0">
                <a:solidFill>
                  <a:srgbClr val="2563EB"/>
                </a:solidFill>
                <a:latin typeface="Calibri" pitchFamily="34" charset="0"/>
                <a:ea typeface="Calibri" pitchFamily="34" charset="-122"/>
                <a:cs typeface="Calibri" pitchFamily="34" charset="-120"/>
              </a:rPr>
              <a:t>User Authentication</a:t>
            </a:r>
            <a:endParaRPr lang="en-US" sz="1150" dirty="0"/>
          </a:p>
        </p:txBody>
      </p:sp>
      <p:sp>
        <p:nvSpPr>
          <p:cNvPr id="12" name="Text 10"/>
          <p:cNvSpPr/>
          <p:nvPr/>
        </p:nvSpPr>
        <p:spPr>
          <a:xfrm>
            <a:off x="411480" y="1874520"/>
            <a:ext cx="2560320" cy="777240"/>
          </a:xfrm>
          <a:prstGeom prst="rect">
            <a:avLst/>
          </a:prstGeom>
          <a:noFill/>
          <a:ln/>
        </p:spPr>
        <p:txBody>
          <a:bodyPr wrap="square" lIns="0" tIns="0" rIns="0" bIns="0" rtlCol="0" anchor="ctr"/>
          <a:lstStyle/>
          <a:p>
            <a:pPr marL="0" indent="0" algn="ctr">
              <a:buNone/>
            </a:pPr>
            <a:r>
              <a:rPr lang="en-US" sz="1000" dirty="0">
                <a:solidFill>
                  <a:srgbClr val="334E70"/>
                </a:solidFill>
                <a:latin typeface="Calibri" pitchFamily="34" charset="0"/>
                <a:ea typeface="Calibri" pitchFamily="34" charset="-122"/>
                <a:cs typeface="Calibri" pitchFamily="34" charset="-120"/>
              </a:rPr>
              <a:t>JWT-based login/signup so each user only sees their own accounts</a:t>
            </a:r>
            <a:endParaRPr lang="en-US" sz="1000" dirty="0"/>
          </a:p>
        </p:txBody>
      </p:sp>
      <p:sp>
        <p:nvSpPr>
          <p:cNvPr id="13" name="Shape 11"/>
          <p:cNvSpPr/>
          <p:nvPr/>
        </p:nvSpPr>
        <p:spPr>
          <a:xfrm>
            <a:off x="3246120" y="987552"/>
            <a:ext cx="2743200" cy="17373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14" name="Shape 12"/>
          <p:cNvSpPr/>
          <p:nvPr/>
        </p:nvSpPr>
        <p:spPr>
          <a:xfrm>
            <a:off x="3246120" y="987552"/>
            <a:ext cx="2743200" cy="54864"/>
          </a:xfrm>
          <a:prstGeom prst="rect">
            <a:avLst/>
          </a:prstGeom>
          <a:solidFill>
            <a:srgbClr val="0A8F8F"/>
          </a:solidFill>
          <a:ln w="12700">
            <a:solidFill>
              <a:srgbClr val="0A8F8F"/>
            </a:solidFill>
            <a:prstDash val="solid"/>
          </a:ln>
        </p:spPr>
        <p:txBody>
          <a:bodyPr/>
          <a:lstStyle/>
          <a:p>
            <a:endParaRPr lang="en-IN"/>
          </a:p>
        </p:txBody>
      </p:sp>
      <p:sp>
        <p:nvSpPr>
          <p:cNvPr id="15" name="Text 13"/>
          <p:cNvSpPr/>
          <p:nvPr/>
        </p:nvSpPr>
        <p:spPr>
          <a:xfrm>
            <a:off x="3246120" y="1078992"/>
            <a:ext cx="274320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6" name="Text 14"/>
          <p:cNvSpPr/>
          <p:nvPr/>
        </p:nvSpPr>
        <p:spPr>
          <a:xfrm>
            <a:off x="3319272" y="1554480"/>
            <a:ext cx="2606040" cy="292608"/>
          </a:xfrm>
          <a:prstGeom prst="rect">
            <a:avLst/>
          </a:prstGeom>
          <a:noFill/>
          <a:ln/>
        </p:spPr>
        <p:txBody>
          <a:bodyPr wrap="square" lIns="0" tIns="0" rIns="0" bIns="0" rtlCol="0" anchor="ctr"/>
          <a:lstStyle/>
          <a:p>
            <a:pPr marL="0" indent="0" algn="ctr">
              <a:buNone/>
            </a:pPr>
            <a:r>
              <a:rPr lang="en-US" sz="1150" b="1" dirty="0">
                <a:solidFill>
                  <a:srgbClr val="0A8F8F"/>
                </a:solidFill>
                <a:latin typeface="Calibri" pitchFamily="34" charset="0"/>
                <a:ea typeface="Calibri" pitchFamily="34" charset="-122"/>
                <a:cs typeface="Calibri" pitchFamily="34" charset="-120"/>
              </a:rPr>
              <a:t>Transaction History UI</a:t>
            </a:r>
            <a:endParaRPr lang="en-US" sz="1150" dirty="0"/>
          </a:p>
        </p:txBody>
      </p:sp>
      <p:sp>
        <p:nvSpPr>
          <p:cNvPr id="17" name="Text 15"/>
          <p:cNvSpPr/>
          <p:nvPr/>
        </p:nvSpPr>
        <p:spPr>
          <a:xfrm>
            <a:off x="3337560" y="1874520"/>
            <a:ext cx="2560320" cy="777240"/>
          </a:xfrm>
          <a:prstGeom prst="rect">
            <a:avLst/>
          </a:prstGeom>
          <a:noFill/>
          <a:ln/>
        </p:spPr>
        <p:txBody>
          <a:bodyPr wrap="square" lIns="0" tIns="0" rIns="0" bIns="0" rtlCol="0" anchor="ctr"/>
          <a:lstStyle/>
          <a:p>
            <a:pPr marL="0" indent="0" algn="ctr">
              <a:buNone/>
            </a:pPr>
            <a:r>
              <a:rPr lang="en-US" sz="1000" dirty="0">
                <a:solidFill>
                  <a:srgbClr val="334E70"/>
                </a:solidFill>
                <a:latin typeface="Calibri" pitchFamily="34" charset="0"/>
                <a:ea typeface="Calibri" pitchFamily="34" charset="-122"/>
                <a:cs typeface="Calibri" pitchFamily="34" charset="-120"/>
              </a:rPr>
              <a:t>Paginated transaction log view with date/type filters on the frontend</a:t>
            </a:r>
            <a:endParaRPr lang="en-US" sz="1000" dirty="0"/>
          </a:p>
        </p:txBody>
      </p:sp>
      <p:sp>
        <p:nvSpPr>
          <p:cNvPr id="18" name="Shape 16"/>
          <p:cNvSpPr/>
          <p:nvPr/>
        </p:nvSpPr>
        <p:spPr>
          <a:xfrm>
            <a:off x="6172200" y="987552"/>
            <a:ext cx="2743200" cy="17373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19" name="Shape 17"/>
          <p:cNvSpPr/>
          <p:nvPr/>
        </p:nvSpPr>
        <p:spPr>
          <a:xfrm>
            <a:off x="6172200" y="987552"/>
            <a:ext cx="2743200" cy="54864"/>
          </a:xfrm>
          <a:prstGeom prst="rect">
            <a:avLst/>
          </a:prstGeom>
          <a:solidFill>
            <a:srgbClr val="7C3AED"/>
          </a:solidFill>
          <a:ln w="12700">
            <a:solidFill>
              <a:srgbClr val="7C3AED"/>
            </a:solidFill>
            <a:prstDash val="solid"/>
          </a:ln>
        </p:spPr>
        <p:txBody>
          <a:bodyPr/>
          <a:lstStyle/>
          <a:p>
            <a:endParaRPr lang="en-IN"/>
          </a:p>
        </p:txBody>
      </p:sp>
      <p:sp>
        <p:nvSpPr>
          <p:cNvPr id="20" name="Text 18"/>
          <p:cNvSpPr/>
          <p:nvPr/>
        </p:nvSpPr>
        <p:spPr>
          <a:xfrm>
            <a:off x="6172200" y="1078992"/>
            <a:ext cx="274320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1" name="Text 19"/>
          <p:cNvSpPr/>
          <p:nvPr/>
        </p:nvSpPr>
        <p:spPr>
          <a:xfrm>
            <a:off x="6245352" y="1554480"/>
            <a:ext cx="2606040" cy="292608"/>
          </a:xfrm>
          <a:prstGeom prst="rect">
            <a:avLst/>
          </a:prstGeom>
          <a:noFill/>
          <a:ln/>
        </p:spPr>
        <p:txBody>
          <a:bodyPr wrap="square" lIns="0" tIns="0" rIns="0" bIns="0" rtlCol="0" anchor="ctr"/>
          <a:lstStyle/>
          <a:p>
            <a:pPr marL="0" indent="0" algn="ctr">
              <a:buNone/>
            </a:pPr>
            <a:r>
              <a:rPr lang="en-US" sz="1150" b="1" dirty="0">
                <a:solidFill>
                  <a:srgbClr val="7C3AED"/>
                </a:solidFill>
                <a:latin typeface="Calibri" pitchFamily="34" charset="0"/>
                <a:ea typeface="Calibri" pitchFamily="34" charset="-122"/>
                <a:cs typeface="Calibri" pitchFamily="34" charset="-120"/>
              </a:rPr>
              <a:t>Cloud Deployment</a:t>
            </a:r>
            <a:endParaRPr lang="en-US" sz="1150" dirty="0"/>
          </a:p>
        </p:txBody>
      </p:sp>
      <p:sp>
        <p:nvSpPr>
          <p:cNvPr id="22" name="Text 20"/>
          <p:cNvSpPr/>
          <p:nvPr/>
        </p:nvSpPr>
        <p:spPr>
          <a:xfrm>
            <a:off x="6263640" y="1874520"/>
            <a:ext cx="2560320" cy="777240"/>
          </a:xfrm>
          <a:prstGeom prst="rect">
            <a:avLst/>
          </a:prstGeom>
          <a:noFill/>
          <a:ln/>
        </p:spPr>
        <p:txBody>
          <a:bodyPr wrap="square" lIns="0" tIns="0" rIns="0" bIns="0" rtlCol="0" anchor="ctr"/>
          <a:lstStyle/>
          <a:p>
            <a:pPr marL="0" indent="0" algn="ctr">
              <a:buNone/>
            </a:pPr>
            <a:r>
              <a:rPr lang="en-US" sz="1000" dirty="0">
                <a:solidFill>
                  <a:srgbClr val="334E70"/>
                </a:solidFill>
                <a:latin typeface="Calibri" pitchFamily="34" charset="0"/>
                <a:ea typeface="Calibri" pitchFamily="34" charset="-122"/>
                <a:cs typeface="Calibri" pitchFamily="34" charset="-120"/>
              </a:rPr>
              <a:t>Deploy backend to AWS EC2 / Railway, database to RDS for remote access</a:t>
            </a:r>
            <a:endParaRPr lang="en-US" sz="1000" dirty="0"/>
          </a:p>
        </p:txBody>
      </p:sp>
      <p:sp>
        <p:nvSpPr>
          <p:cNvPr id="23" name="Shape 21"/>
          <p:cNvSpPr/>
          <p:nvPr/>
        </p:nvSpPr>
        <p:spPr>
          <a:xfrm>
            <a:off x="320040" y="2907792"/>
            <a:ext cx="2743200" cy="17373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24" name="Shape 22"/>
          <p:cNvSpPr/>
          <p:nvPr/>
        </p:nvSpPr>
        <p:spPr>
          <a:xfrm>
            <a:off x="320040" y="2907792"/>
            <a:ext cx="2743200" cy="54864"/>
          </a:xfrm>
          <a:prstGeom prst="rect">
            <a:avLst/>
          </a:prstGeom>
          <a:solidFill>
            <a:srgbClr val="F0A500"/>
          </a:solidFill>
          <a:ln w="12700">
            <a:solidFill>
              <a:srgbClr val="F0A500"/>
            </a:solidFill>
            <a:prstDash val="solid"/>
          </a:ln>
        </p:spPr>
        <p:txBody>
          <a:bodyPr/>
          <a:lstStyle/>
          <a:p>
            <a:endParaRPr lang="en-IN"/>
          </a:p>
        </p:txBody>
      </p:sp>
      <p:sp>
        <p:nvSpPr>
          <p:cNvPr id="25" name="Text 23"/>
          <p:cNvSpPr/>
          <p:nvPr/>
        </p:nvSpPr>
        <p:spPr>
          <a:xfrm>
            <a:off x="320040" y="2999232"/>
            <a:ext cx="274320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6" name="Text 24"/>
          <p:cNvSpPr/>
          <p:nvPr/>
        </p:nvSpPr>
        <p:spPr>
          <a:xfrm>
            <a:off x="393192" y="3474720"/>
            <a:ext cx="2606040" cy="292608"/>
          </a:xfrm>
          <a:prstGeom prst="rect">
            <a:avLst/>
          </a:prstGeom>
          <a:noFill/>
          <a:ln/>
        </p:spPr>
        <p:txBody>
          <a:bodyPr wrap="square" lIns="0" tIns="0" rIns="0" bIns="0" rtlCol="0" anchor="ctr"/>
          <a:lstStyle/>
          <a:p>
            <a:pPr marL="0" indent="0" algn="ctr">
              <a:buNone/>
            </a:pPr>
            <a:r>
              <a:rPr lang="en-US" sz="1150" b="1" dirty="0">
                <a:solidFill>
                  <a:srgbClr val="F0A500"/>
                </a:solidFill>
                <a:latin typeface="Calibri" pitchFamily="34" charset="0"/>
                <a:ea typeface="Calibri" pitchFamily="34" charset="-122"/>
                <a:cs typeface="Calibri" pitchFamily="34" charset="-120"/>
              </a:rPr>
              <a:t>Mobile Interface</a:t>
            </a:r>
            <a:endParaRPr lang="en-US" sz="1150" dirty="0"/>
          </a:p>
        </p:txBody>
      </p:sp>
      <p:sp>
        <p:nvSpPr>
          <p:cNvPr id="27" name="Text 25"/>
          <p:cNvSpPr/>
          <p:nvPr/>
        </p:nvSpPr>
        <p:spPr>
          <a:xfrm>
            <a:off x="411480" y="3794760"/>
            <a:ext cx="2560320" cy="777240"/>
          </a:xfrm>
          <a:prstGeom prst="rect">
            <a:avLst/>
          </a:prstGeom>
          <a:noFill/>
          <a:ln/>
        </p:spPr>
        <p:txBody>
          <a:bodyPr wrap="square" lIns="0" tIns="0" rIns="0" bIns="0" rtlCol="0" anchor="ctr"/>
          <a:lstStyle/>
          <a:p>
            <a:pPr marL="0" indent="0" algn="ctr">
              <a:buNone/>
            </a:pPr>
            <a:r>
              <a:rPr lang="en-US" sz="1000" dirty="0">
                <a:solidFill>
                  <a:srgbClr val="334E70"/>
                </a:solidFill>
                <a:latin typeface="Calibri" pitchFamily="34" charset="0"/>
                <a:ea typeface="Calibri" pitchFamily="34" charset="-122"/>
                <a:cs typeface="Calibri" pitchFamily="34" charset="-120"/>
              </a:rPr>
              <a:t>Responsive redesign or React Native companion app for mobile banking</a:t>
            </a:r>
            <a:endParaRPr lang="en-US" sz="1000" dirty="0"/>
          </a:p>
        </p:txBody>
      </p:sp>
      <p:sp>
        <p:nvSpPr>
          <p:cNvPr id="28" name="Shape 26"/>
          <p:cNvSpPr/>
          <p:nvPr/>
        </p:nvSpPr>
        <p:spPr>
          <a:xfrm>
            <a:off x="3246120" y="2907792"/>
            <a:ext cx="2743200" cy="17373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29" name="Shape 27"/>
          <p:cNvSpPr/>
          <p:nvPr/>
        </p:nvSpPr>
        <p:spPr>
          <a:xfrm>
            <a:off x="3246120" y="2907792"/>
            <a:ext cx="2743200" cy="54864"/>
          </a:xfrm>
          <a:prstGeom prst="rect">
            <a:avLst/>
          </a:prstGeom>
          <a:solidFill>
            <a:srgbClr val="DB2777"/>
          </a:solidFill>
          <a:ln w="12700">
            <a:solidFill>
              <a:srgbClr val="DB2777"/>
            </a:solidFill>
            <a:prstDash val="solid"/>
          </a:ln>
        </p:spPr>
        <p:txBody>
          <a:bodyPr/>
          <a:lstStyle/>
          <a:p>
            <a:endParaRPr lang="en-IN"/>
          </a:p>
        </p:txBody>
      </p:sp>
      <p:sp>
        <p:nvSpPr>
          <p:cNvPr id="30" name="Text 28"/>
          <p:cNvSpPr/>
          <p:nvPr/>
        </p:nvSpPr>
        <p:spPr>
          <a:xfrm>
            <a:off x="3246120" y="2999232"/>
            <a:ext cx="274320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1" name="Text 29"/>
          <p:cNvSpPr/>
          <p:nvPr/>
        </p:nvSpPr>
        <p:spPr>
          <a:xfrm>
            <a:off x="3319272" y="3474720"/>
            <a:ext cx="2606040" cy="292608"/>
          </a:xfrm>
          <a:prstGeom prst="rect">
            <a:avLst/>
          </a:prstGeom>
          <a:noFill/>
          <a:ln/>
        </p:spPr>
        <p:txBody>
          <a:bodyPr wrap="square" lIns="0" tIns="0" rIns="0" bIns="0" rtlCol="0" anchor="ctr"/>
          <a:lstStyle/>
          <a:p>
            <a:pPr marL="0" indent="0" algn="ctr">
              <a:buNone/>
            </a:pPr>
            <a:r>
              <a:rPr lang="en-US" sz="1150" b="1" dirty="0">
                <a:solidFill>
                  <a:srgbClr val="DB2777"/>
                </a:solidFill>
                <a:latin typeface="Calibri" pitchFamily="34" charset="0"/>
                <a:ea typeface="Calibri" pitchFamily="34" charset="-122"/>
                <a:cs typeface="Calibri" pitchFamily="34" charset="-120"/>
              </a:rPr>
              <a:t>OTP Verification</a:t>
            </a:r>
            <a:endParaRPr lang="en-US" sz="1150" dirty="0"/>
          </a:p>
        </p:txBody>
      </p:sp>
      <p:sp>
        <p:nvSpPr>
          <p:cNvPr id="32" name="Text 30"/>
          <p:cNvSpPr/>
          <p:nvPr/>
        </p:nvSpPr>
        <p:spPr>
          <a:xfrm>
            <a:off x="3337560" y="3794760"/>
            <a:ext cx="2560320" cy="777240"/>
          </a:xfrm>
          <a:prstGeom prst="rect">
            <a:avLst/>
          </a:prstGeom>
          <a:noFill/>
          <a:ln/>
        </p:spPr>
        <p:txBody>
          <a:bodyPr wrap="square" lIns="0" tIns="0" rIns="0" bIns="0" rtlCol="0" anchor="ctr"/>
          <a:lstStyle/>
          <a:p>
            <a:pPr marL="0" indent="0" algn="ctr">
              <a:buNone/>
            </a:pPr>
            <a:r>
              <a:rPr lang="en-US" sz="1000" dirty="0">
                <a:solidFill>
                  <a:srgbClr val="334E70"/>
                </a:solidFill>
                <a:latin typeface="Calibri" pitchFamily="34" charset="0"/>
                <a:ea typeface="Calibri" pitchFamily="34" charset="-122"/>
                <a:cs typeface="Calibri" pitchFamily="34" charset="-120"/>
              </a:rPr>
              <a:t>Send OTP via email for high-value transactions as a 2FA layer</a:t>
            </a:r>
            <a:endParaRPr lang="en-US" sz="1000" dirty="0"/>
          </a:p>
        </p:txBody>
      </p:sp>
      <p:sp>
        <p:nvSpPr>
          <p:cNvPr id="33" name="Shape 31"/>
          <p:cNvSpPr/>
          <p:nvPr/>
        </p:nvSpPr>
        <p:spPr>
          <a:xfrm>
            <a:off x="6172200" y="2907792"/>
            <a:ext cx="2743200" cy="1737360"/>
          </a:xfrm>
          <a:prstGeom prst="rect">
            <a:avLst/>
          </a:prstGeom>
          <a:solidFill>
            <a:srgbClr val="FFFFFF"/>
          </a:solidFill>
          <a:ln w="12700">
            <a:solidFill>
              <a:srgbClr val="CBD5E1"/>
            </a:solidFill>
            <a:prstDash val="solid"/>
          </a:ln>
          <a:effectLst>
            <a:outerShdw blurRad="101600" dist="38100" dir="8100000" algn="bl" rotWithShape="0">
              <a:srgbClr val="000000">
                <a:alpha val="12000"/>
              </a:srgbClr>
            </a:outerShdw>
          </a:effectLst>
        </p:spPr>
        <p:txBody>
          <a:bodyPr/>
          <a:lstStyle/>
          <a:p>
            <a:endParaRPr lang="en-IN"/>
          </a:p>
        </p:txBody>
      </p:sp>
      <p:sp>
        <p:nvSpPr>
          <p:cNvPr id="34" name="Shape 32"/>
          <p:cNvSpPr/>
          <p:nvPr/>
        </p:nvSpPr>
        <p:spPr>
          <a:xfrm>
            <a:off x="6172200" y="2907792"/>
            <a:ext cx="2743200" cy="54864"/>
          </a:xfrm>
          <a:prstGeom prst="rect">
            <a:avLst/>
          </a:prstGeom>
          <a:solidFill>
            <a:srgbClr val="C2560C"/>
          </a:solidFill>
          <a:ln w="12700">
            <a:solidFill>
              <a:srgbClr val="C2560C"/>
            </a:solidFill>
            <a:prstDash val="solid"/>
          </a:ln>
        </p:spPr>
        <p:txBody>
          <a:bodyPr/>
          <a:lstStyle/>
          <a:p>
            <a:endParaRPr lang="en-IN"/>
          </a:p>
        </p:txBody>
      </p:sp>
      <p:sp>
        <p:nvSpPr>
          <p:cNvPr id="35" name="Text 33"/>
          <p:cNvSpPr/>
          <p:nvPr/>
        </p:nvSpPr>
        <p:spPr>
          <a:xfrm>
            <a:off x="6172200" y="2999232"/>
            <a:ext cx="2743200" cy="45720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6" name="Text 34"/>
          <p:cNvSpPr/>
          <p:nvPr/>
        </p:nvSpPr>
        <p:spPr>
          <a:xfrm>
            <a:off x="6245352" y="3474720"/>
            <a:ext cx="2606040" cy="292608"/>
          </a:xfrm>
          <a:prstGeom prst="rect">
            <a:avLst/>
          </a:prstGeom>
          <a:noFill/>
          <a:ln/>
        </p:spPr>
        <p:txBody>
          <a:bodyPr wrap="square" lIns="0" tIns="0" rIns="0" bIns="0" rtlCol="0" anchor="ctr"/>
          <a:lstStyle/>
          <a:p>
            <a:pPr marL="0" indent="0" algn="ctr">
              <a:buNone/>
            </a:pPr>
            <a:r>
              <a:rPr lang="en-US" sz="1150" b="1" dirty="0">
                <a:solidFill>
                  <a:srgbClr val="C2560C"/>
                </a:solidFill>
                <a:latin typeface="Calibri" pitchFamily="34" charset="0"/>
                <a:ea typeface="Calibri" pitchFamily="34" charset="-122"/>
                <a:cs typeface="Calibri" pitchFamily="34" charset="-120"/>
              </a:rPr>
              <a:t>Analytics Dashboard</a:t>
            </a:r>
            <a:endParaRPr lang="en-US" sz="1150" dirty="0"/>
          </a:p>
        </p:txBody>
      </p:sp>
      <p:sp>
        <p:nvSpPr>
          <p:cNvPr id="37" name="Text 35"/>
          <p:cNvSpPr/>
          <p:nvPr/>
        </p:nvSpPr>
        <p:spPr>
          <a:xfrm>
            <a:off x="6263640" y="3794760"/>
            <a:ext cx="2560320" cy="777240"/>
          </a:xfrm>
          <a:prstGeom prst="rect">
            <a:avLst/>
          </a:prstGeom>
          <a:noFill/>
          <a:ln/>
        </p:spPr>
        <p:txBody>
          <a:bodyPr wrap="square" lIns="0" tIns="0" rIns="0" bIns="0" rtlCol="0" anchor="ctr"/>
          <a:lstStyle/>
          <a:p>
            <a:pPr marL="0" indent="0" algn="ctr">
              <a:buNone/>
            </a:pPr>
            <a:r>
              <a:rPr lang="en-US" sz="1000" dirty="0">
                <a:solidFill>
                  <a:srgbClr val="334E70"/>
                </a:solidFill>
                <a:latin typeface="Calibri" pitchFamily="34" charset="0"/>
                <a:ea typeface="Calibri" pitchFamily="34" charset="-122"/>
                <a:cs typeface="Calibri" pitchFamily="34" charset="-120"/>
              </a:rPr>
              <a:t>Admin view showing total deposits, withdrawals, and account growth over time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A8F8F"/>
          </a:solidFill>
          <a:ln w="12700">
            <a:solidFill>
              <a:srgbClr val="0A8F8F"/>
            </a:solidFill>
            <a:prstDash val="solid"/>
          </a:ln>
        </p:spPr>
        <p:txBody>
          <a:bodyPr/>
          <a:lstStyle/>
          <a:p>
            <a:endParaRPr lang="en-IN"/>
          </a:p>
        </p:txBody>
      </p:sp>
      <p:sp>
        <p:nvSpPr>
          <p:cNvPr id="3" name="Shape 1"/>
          <p:cNvSpPr/>
          <p:nvPr/>
        </p:nvSpPr>
        <p:spPr>
          <a:xfrm>
            <a:off x="-1097280" y="3474720"/>
            <a:ext cx="4572000" cy="4572000"/>
          </a:xfrm>
          <a:prstGeom prst="ellipse">
            <a:avLst/>
          </a:prstGeom>
          <a:solidFill>
            <a:srgbClr val="122350">
              <a:alpha val="60000"/>
            </a:srgbClr>
          </a:solidFill>
          <a:ln w="12700">
            <a:solidFill>
              <a:srgbClr val="122350"/>
            </a:solidFill>
            <a:prstDash val="solid"/>
          </a:ln>
        </p:spPr>
        <p:txBody>
          <a:bodyPr/>
          <a:lstStyle/>
          <a:p>
            <a:endParaRPr lang="en-IN"/>
          </a:p>
        </p:txBody>
      </p:sp>
      <p:sp>
        <p:nvSpPr>
          <p:cNvPr id="4" name="Shape 2"/>
          <p:cNvSpPr/>
          <p:nvPr/>
        </p:nvSpPr>
        <p:spPr>
          <a:xfrm>
            <a:off x="7132320" y="-1097280"/>
            <a:ext cx="3200400" cy="3200400"/>
          </a:xfrm>
          <a:prstGeom prst="ellipse">
            <a:avLst/>
          </a:prstGeom>
          <a:solidFill>
            <a:srgbClr val="0A8F8F">
              <a:alpha val="30000"/>
            </a:srgbClr>
          </a:solidFill>
          <a:ln w="12700">
            <a:solidFill>
              <a:srgbClr val="0A8F8F"/>
            </a:solidFill>
            <a:prstDash val="solid"/>
          </a:ln>
        </p:spPr>
        <p:txBody>
          <a:bodyPr/>
          <a:lstStyle/>
          <a:p>
            <a:endParaRPr lang="en-IN"/>
          </a:p>
        </p:txBody>
      </p:sp>
      <p:sp>
        <p:nvSpPr>
          <p:cNvPr id="5" name="Text 3"/>
          <p:cNvSpPr/>
          <p:nvPr/>
        </p:nvSpPr>
        <p:spPr>
          <a:xfrm>
            <a:off x="457200" y="320040"/>
            <a:ext cx="8229600" cy="59436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Conclusion</a:t>
            </a:r>
            <a:endParaRPr lang="en-US" sz="3000" dirty="0"/>
          </a:p>
        </p:txBody>
      </p:sp>
      <p:sp>
        <p:nvSpPr>
          <p:cNvPr id="6" name="Shape 4"/>
          <p:cNvSpPr/>
          <p:nvPr/>
        </p:nvSpPr>
        <p:spPr>
          <a:xfrm>
            <a:off x="457200" y="896112"/>
            <a:ext cx="3657600" cy="36576"/>
          </a:xfrm>
          <a:prstGeom prst="rect">
            <a:avLst/>
          </a:prstGeom>
          <a:solidFill>
            <a:srgbClr val="0A8F8F"/>
          </a:solidFill>
          <a:ln w="12700">
            <a:solidFill>
              <a:srgbClr val="0A8F8F"/>
            </a:solidFill>
            <a:prstDash val="solid"/>
          </a:ln>
        </p:spPr>
        <p:txBody>
          <a:bodyPr/>
          <a:lstStyle/>
          <a:p>
            <a:endParaRPr lang="en-IN"/>
          </a:p>
        </p:txBody>
      </p:sp>
      <p:sp>
        <p:nvSpPr>
          <p:cNvPr id="7" name="Shape 5"/>
          <p:cNvSpPr/>
          <p:nvPr/>
        </p:nvSpPr>
        <p:spPr>
          <a:xfrm>
            <a:off x="457200" y="1097280"/>
            <a:ext cx="54864" cy="329184"/>
          </a:xfrm>
          <a:prstGeom prst="rect">
            <a:avLst/>
          </a:prstGeom>
          <a:solidFill>
            <a:srgbClr val="0A8F8F"/>
          </a:solidFill>
          <a:ln w="12700">
            <a:solidFill>
              <a:srgbClr val="0A8F8F"/>
            </a:solidFill>
            <a:prstDash val="solid"/>
          </a:ln>
        </p:spPr>
        <p:txBody>
          <a:bodyPr/>
          <a:lstStyle/>
          <a:p>
            <a:endParaRPr lang="en-IN"/>
          </a:p>
        </p:txBody>
      </p:sp>
      <p:sp>
        <p:nvSpPr>
          <p:cNvPr id="8" name="Text 6"/>
          <p:cNvSpPr/>
          <p:nvPr/>
        </p:nvSpPr>
        <p:spPr>
          <a:xfrm>
            <a:off x="640080" y="1078992"/>
            <a:ext cx="5760720" cy="365760"/>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Built a fully functional full-stack Banking Application from scratch</a:t>
            </a:r>
            <a:endParaRPr lang="en-US" sz="1250" dirty="0"/>
          </a:p>
        </p:txBody>
      </p:sp>
      <p:sp>
        <p:nvSpPr>
          <p:cNvPr id="9" name="Shape 7"/>
          <p:cNvSpPr/>
          <p:nvPr/>
        </p:nvSpPr>
        <p:spPr>
          <a:xfrm>
            <a:off x="457200" y="1709928"/>
            <a:ext cx="54864" cy="329184"/>
          </a:xfrm>
          <a:prstGeom prst="rect">
            <a:avLst/>
          </a:prstGeom>
          <a:solidFill>
            <a:srgbClr val="0A8F8F"/>
          </a:solidFill>
          <a:ln w="12700">
            <a:solidFill>
              <a:srgbClr val="0A8F8F"/>
            </a:solidFill>
            <a:prstDash val="solid"/>
          </a:ln>
        </p:spPr>
        <p:txBody>
          <a:bodyPr/>
          <a:lstStyle/>
          <a:p>
            <a:endParaRPr lang="en-IN"/>
          </a:p>
        </p:txBody>
      </p:sp>
      <p:sp>
        <p:nvSpPr>
          <p:cNvPr id="10" name="Text 8"/>
          <p:cNvSpPr/>
          <p:nvPr/>
        </p:nvSpPr>
        <p:spPr>
          <a:xfrm>
            <a:off x="640080" y="1691640"/>
            <a:ext cx="5760720" cy="365760"/>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Demonstrated end-to-end integration: Browser → Java API → MySQL</a:t>
            </a:r>
            <a:endParaRPr lang="en-US" sz="1250" dirty="0"/>
          </a:p>
        </p:txBody>
      </p:sp>
      <p:sp>
        <p:nvSpPr>
          <p:cNvPr id="11" name="Shape 9"/>
          <p:cNvSpPr/>
          <p:nvPr/>
        </p:nvSpPr>
        <p:spPr>
          <a:xfrm>
            <a:off x="457200" y="2322576"/>
            <a:ext cx="54864" cy="329184"/>
          </a:xfrm>
          <a:prstGeom prst="rect">
            <a:avLst/>
          </a:prstGeom>
          <a:solidFill>
            <a:srgbClr val="0A8F8F"/>
          </a:solidFill>
          <a:ln w="12700">
            <a:solidFill>
              <a:srgbClr val="0A8F8F"/>
            </a:solidFill>
            <a:prstDash val="solid"/>
          </a:ln>
        </p:spPr>
        <p:txBody>
          <a:bodyPr/>
          <a:lstStyle/>
          <a:p>
            <a:endParaRPr lang="en-IN"/>
          </a:p>
        </p:txBody>
      </p:sp>
      <p:sp>
        <p:nvSpPr>
          <p:cNvPr id="12" name="Text 10"/>
          <p:cNvSpPr/>
          <p:nvPr/>
        </p:nvSpPr>
        <p:spPr>
          <a:xfrm>
            <a:off x="640080" y="2304288"/>
            <a:ext cx="5760720" cy="365760"/>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Implemented real-world features: persistent storage, transaction logging, email alerts</a:t>
            </a:r>
            <a:endParaRPr lang="en-US" sz="1250" dirty="0"/>
          </a:p>
        </p:txBody>
      </p:sp>
      <p:sp>
        <p:nvSpPr>
          <p:cNvPr id="13" name="Shape 11"/>
          <p:cNvSpPr/>
          <p:nvPr/>
        </p:nvSpPr>
        <p:spPr>
          <a:xfrm>
            <a:off x="457200" y="2935224"/>
            <a:ext cx="54864" cy="329184"/>
          </a:xfrm>
          <a:prstGeom prst="rect">
            <a:avLst/>
          </a:prstGeom>
          <a:solidFill>
            <a:srgbClr val="0A8F8F"/>
          </a:solidFill>
          <a:ln w="12700">
            <a:solidFill>
              <a:srgbClr val="0A8F8F"/>
            </a:solidFill>
            <a:prstDash val="solid"/>
          </a:ln>
        </p:spPr>
        <p:txBody>
          <a:bodyPr/>
          <a:lstStyle/>
          <a:p>
            <a:endParaRPr lang="en-IN"/>
          </a:p>
        </p:txBody>
      </p:sp>
      <p:sp>
        <p:nvSpPr>
          <p:cNvPr id="14" name="Text 12"/>
          <p:cNvSpPr/>
          <p:nvPr/>
        </p:nvSpPr>
        <p:spPr>
          <a:xfrm>
            <a:off x="640080" y="2916936"/>
            <a:ext cx="5760720" cy="365760"/>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Solved practical engineering challenges: CORS, JDBC, SMTP, atomic transfers</a:t>
            </a:r>
            <a:endParaRPr lang="en-US" sz="1250" dirty="0"/>
          </a:p>
        </p:txBody>
      </p:sp>
      <p:sp>
        <p:nvSpPr>
          <p:cNvPr id="15" name="Shape 13"/>
          <p:cNvSpPr/>
          <p:nvPr/>
        </p:nvSpPr>
        <p:spPr>
          <a:xfrm>
            <a:off x="457200" y="3547872"/>
            <a:ext cx="54864" cy="329184"/>
          </a:xfrm>
          <a:prstGeom prst="rect">
            <a:avLst/>
          </a:prstGeom>
          <a:solidFill>
            <a:srgbClr val="0A8F8F"/>
          </a:solidFill>
          <a:ln w="12700">
            <a:solidFill>
              <a:srgbClr val="0A8F8F"/>
            </a:solidFill>
            <a:prstDash val="solid"/>
          </a:ln>
        </p:spPr>
        <p:txBody>
          <a:bodyPr/>
          <a:lstStyle/>
          <a:p>
            <a:endParaRPr lang="en-IN"/>
          </a:p>
        </p:txBody>
      </p:sp>
      <p:sp>
        <p:nvSpPr>
          <p:cNvPr id="16" name="Text 14"/>
          <p:cNvSpPr/>
          <p:nvPr/>
        </p:nvSpPr>
        <p:spPr>
          <a:xfrm>
            <a:off x="640080" y="3529584"/>
            <a:ext cx="5760720" cy="365760"/>
          </a:xfrm>
          <a:prstGeom prst="rect">
            <a:avLst/>
          </a:prstGeom>
          <a:noFill/>
          <a:ln/>
        </p:spPr>
        <p:txBody>
          <a:bodyPr wrap="square" lIns="0" tIns="0" rIns="0" bIns="0" rtlCol="0" anchor="ctr"/>
          <a:lstStyle/>
          <a:p>
            <a:pPr marL="0" indent="0">
              <a:buNone/>
            </a:pPr>
            <a:r>
              <a:rPr lang="en-US" sz="1250" dirty="0">
                <a:solidFill>
                  <a:srgbClr val="CBD5E1"/>
                </a:solidFill>
                <a:latin typeface="Calibri" pitchFamily="34" charset="0"/>
                <a:ea typeface="Calibri" pitchFamily="34" charset="-122"/>
                <a:cs typeface="Calibri" pitchFamily="34" charset="-120"/>
              </a:rPr>
              <a:t>Clean, extensible codebase ready for future authentication and cloud deployment</a:t>
            </a:r>
            <a:endParaRPr lang="en-US" sz="1250" dirty="0"/>
          </a:p>
        </p:txBody>
      </p:sp>
      <p:sp>
        <p:nvSpPr>
          <p:cNvPr id="17" name="Shape 15"/>
          <p:cNvSpPr/>
          <p:nvPr/>
        </p:nvSpPr>
        <p:spPr>
          <a:xfrm>
            <a:off x="6675120" y="1097280"/>
            <a:ext cx="2103120" cy="960120"/>
          </a:xfrm>
          <a:prstGeom prst="rect">
            <a:avLst/>
          </a:prstGeom>
          <a:solidFill>
            <a:srgbClr val="122350"/>
          </a:solidFill>
          <a:ln w="12700">
            <a:solidFill>
              <a:srgbClr val="0A8F8F"/>
            </a:solidFill>
            <a:prstDash val="solid"/>
          </a:ln>
          <a:effectLst>
            <a:outerShdw blurRad="101600" dist="38100" dir="8100000" algn="bl" rotWithShape="0">
              <a:srgbClr val="000000">
                <a:alpha val="12000"/>
              </a:srgbClr>
            </a:outerShdw>
          </a:effectLst>
        </p:spPr>
        <p:txBody>
          <a:bodyPr/>
          <a:lstStyle/>
          <a:p>
            <a:endParaRPr lang="en-IN"/>
          </a:p>
        </p:txBody>
      </p:sp>
      <p:sp>
        <p:nvSpPr>
          <p:cNvPr id="18" name="Text 16"/>
          <p:cNvSpPr/>
          <p:nvPr/>
        </p:nvSpPr>
        <p:spPr>
          <a:xfrm>
            <a:off x="6675120" y="1143000"/>
            <a:ext cx="2103120" cy="502920"/>
          </a:xfrm>
          <a:prstGeom prst="rect">
            <a:avLst/>
          </a:prstGeom>
          <a:noFill/>
          <a:ln/>
        </p:spPr>
        <p:txBody>
          <a:bodyPr wrap="square" lIns="0" tIns="0" rIns="0" bIns="0" rtlCol="0" anchor="ctr"/>
          <a:lstStyle/>
          <a:p>
            <a:pPr marL="0" indent="0" algn="ctr">
              <a:buNone/>
            </a:pPr>
            <a:r>
              <a:rPr lang="en-US" sz="3000" b="1" dirty="0">
                <a:solidFill>
                  <a:srgbClr val="0A8F8F"/>
                </a:solidFill>
                <a:latin typeface="Calibri" pitchFamily="34" charset="0"/>
                <a:ea typeface="Calibri" pitchFamily="34" charset="-122"/>
                <a:cs typeface="Calibri" pitchFamily="34" charset="-120"/>
              </a:rPr>
              <a:t>8</a:t>
            </a:r>
            <a:endParaRPr lang="en-US" sz="3000" dirty="0"/>
          </a:p>
        </p:txBody>
      </p:sp>
      <p:sp>
        <p:nvSpPr>
          <p:cNvPr id="19" name="Text 17"/>
          <p:cNvSpPr/>
          <p:nvPr/>
        </p:nvSpPr>
        <p:spPr>
          <a:xfrm>
            <a:off x="6675120" y="1645920"/>
            <a:ext cx="2103120" cy="347472"/>
          </a:xfrm>
          <a:prstGeom prst="rect">
            <a:avLst/>
          </a:prstGeom>
          <a:noFill/>
          <a:ln/>
        </p:spPr>
        <p:txBody>
          <a:bodyPr wrap="square" lIns="0" tIns="0" rIns="0" bIns="0"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Core Features</a:t>
            </a:r>
            <a:endParaRPr lang="en-US" sz="1100" dirty="0"/>
          </a:p>
        </p:txBody>
      </p:sp>
      <p:sp>
        <p:nvSpPr>
          <p:cNvPr id="20" name="Shape 18"/>
          <p:cNvSpPr/>
          <p:nvPr/>
        </p:nvSpPr>
        <p:spPr>
          <a:xfrm>
            <a:off x="6675120" y="2286000"/>
            <a:ext cx="2103120" cy="960120"/>
          </a:xfrm>
          <a:prstGeom prst="rect">
            <a:avLst/>
          </a:prstGeom>
          <a:solidFill>
            <a:srgbClr val="122350"/>
          </a:solidFill>
          <a:ln w="12700">
            <a:solidFill>
              <a:srgbClr val="0A8F8F"/>
            </a:solidFill>
            <a:prstDash val="solid"/>
          </a:ln>
          <a:effectLst>
            <a:outerShdw blurRad="101600" dist="38100" dir="8100000" algn="bl" rotWithShape="0">
              <a:srgbClr val="000000">
                <a:alpha val="12000"/>
              </a:srgbClr>
            </a:outerShdw>
          </a:effectLst>
        </p:spPr>
        <p:txBody>
          <a:bodyPr/>
          <a:lstStyle/>
          <a:p>
            <a:endParaRPr lang="en-IN"/>
          </a:p>
        </p:txBody>
      </p:sp>
      <p:sp>
        <p:nvSpPr>
          <p:cNvPr id="21" name="Text 19"/>
          <p:cNvSpPr/>
          <p:nvPr/>
        </p:nvSpPr>
        <p:spPr>
          <a:xfrm>
            <a:off x="6675120" y="2331720"/>
            <a:ext cx="2103120" cy="502920"/>
          </a:xfrm>
          <a:prstGeom prst="rect">
            <a:avLst/>
          </a:prstGeom>
          <a:noFill/>
          <a:ln/>
        </p:spPr>
        <p:txBody>
          <a:bodyPr wrap="square" lIns="0" tIns="0" rIns="0" bIns="0" rtlCol="0" anchor="ctr"/>
          <a:lstStyle/>
          <a:p>
            <a:pPr marL="0" indent="0" algn="ctr">
              <a:buNone/>
            </a:pPr>
            <a:r>
              <a:rPr lang="en-US" sz="3000" b="1" dirty="0">
                <a:solidFill>
                  <a:srgbClr val="0A8F8F"/>
                </a:solidFill>
                <a:latin typeface="Calibri" pitchFamily="34" charset="0"/>
                <a:ea typeface="Calibri" pitchFamily="34" charset="-122"/>
                <a:cs typeface="Calibri" pitchFamily="34" charset="-120"/>
              </a:rPr>
              <a:t>2</a:t>
            </a:r>
            <a:endParaRPr lang="en-US" sz="3000" dirty="0"/>
          </a:p>
        </p:txBody>
      </p:sp>
      <p:sp>
        <p:nvSpPr>
          <p:cNvPr id="22" name="Text 20"/>
          <p:cNvSpPr/>
          <p:nvPr/>
        </p:nvSpPr>
        <p:spPr>
          <a:xfrm>
            <a:off x="6675120" y="2834640"/>
            <a:ext cx="2103120" cy="347472"/>
          </a:xfrm>
          <a:prstGeom prst="rect">
            <a:avLst/>
          </a:prstGeom>
          <a:noFill/>
          <a:ln/>
        </p:spPr>
        <p:txBody>
          <a:bodyPr wrap="square" lIns="0" tIns="0" rIns="0" bIns="0"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DB Tables</a:t>
            </a:r>
            <a:endParaRPr lang="en-US" sz="1100" dirty="0"/>
          </a:p>
        </p:txBody>
      </p:sp>
      <p:sp>
        <p:nvSpPr>
          <p:cNvPr id="23" name="Shape 21"/>
          <p:cNvSpPr/>
          <p:nvPr/>
        </p:nvSpPr>
        <p:spPr>
          <a:xfrm>
            <a:off x="6675120" y="3474720"/>
            <a:ext cx="2103120" cy="960120"/>
          </a:xfrm>
          <a:prstGeom prst="rect">
            <a:avLst/>
          </a:prstGeom>
          <a:solidFill>
            <a:srgbClr val="122350"/>
          </a:solidFill>
          <a:ln w="12700">
            <a:solidFill>
              <a:srgbClr val="0A8F8F"/>
            </a:solidFill>
            <a:prstDash val="solid"/>
          </a:ln>
          <a:effectLst>
            <a:outerShdw blurRad="101600" dist="38100" dir="8100000" algn="bl" rotWithShape="0">
              <a:srgbClr val="000000">
                <a:alpha val="12000"/>
              </a:srgbClr>
            </a:outerShdw>
          </a:effectLst>
        </p:spPr>
        <p:txBody>
          <a:bodyPr/>
          <a:lstStyle/>
          <a:p>
            <a:endParaRPr lang="en-IN"/>
          </a:p>
        </p:txBody>
      </p:sp>
      <p:sp>
        <p:nvSpPr>
          <p:cNvPr id="24" name="Text 22"/>
          <p:cNvSpPr/>
          <p:nvPr/>
        </p:nvSpPr>
        <p:spPr>
          <a:xfrm>
            <a:off x="6675120" y="3520440"/>
            <a:ext cx="2103120" cy="502920"/>
          </a:xfrm>
          <a:prstGeom prst="rect">
            <a:avLst/>
          </a:prstGeom>
          <a:noFill/>
          <a:ln/>
        </p:spPr>
        <p:txBody>
          <a:bodyPr wrap="square" lIns="0" tIns="0" rIns="0" bIns="0" rtlCol="0" anchor="ctr"/>
          <a:lstStyle/>
          <a:p>
            <a:pPr marL="0" indent="0" algn="ctr">
              <a:buNone/>
            </a:pPr>
            <a:r>
              <a:rPr lang="en-US" sz="3000" b="1" dirty="0">
                <a:solidFill>
                  <a:srgbClr val="0A8F8F"/>
                </a:solidFill>
                <a:latin typeface="Calibri" pitchFamily="34" charset="0"/>
                <a:ea typeface="Calibri" pitchFamily="34" charset="-122"/>
                <a:cs typeface="Calibri" pitchFamily="34" charset="-120"/>
              </a:rPr>
              <a:t>6</a:t>
            </a:r>
            <a:endParaRPr lang="en-US" sz="3000" dirty="0"/>
          </a:p>
        </p:txBody>
      </p:sp>
      <p:sp>
        <p:nvSpPr>
          <p:cNvPr id="25" name="Text 23"/>
          <p:cNvSpPr/>
          <p:nvPr/>
        </p:nvSpPr>
        <p:spPr>
          <a:xfrm>
            <a:off x="6675120" y="4023360"/>
            <a:ext cx="2103120" cy="347472"/>
          </a:xfrm>
          <a:prstGeom prst="rect">
            <a:avLst/>
          </a:prstGeom>
          <a:noFill/>
          <a:ln/>
        </p:spPr>
        <p:txBody>
          <a:bodyPr wrap="square" lIns="0" tIns="0" rIns="0" bIns="0" rtlCol="0" anchor="ctr"/>
          <a:lstStyle/>
          <a:p>
            <a:pPr marL="0" indent="0" algn="ctr">
              <a:buNone/>
            </a:pPr>
            <a:r>
              <a:rPr lang="en-US" sz="1100" dirty="0">
                <a:solidFill>
                  <a:srgbClr val="CBD5E1"/>
                </a:solidFill>
                <a:latin typeface="Calibri" pitchFamily="34" charset="0"/>
                <a:ea typeface="Calibri" pitchFamily="34" charset="-122"/>
                <a:cs typeface="Calibri" pitchFamily="34" charset="-120"/>
              </a:rPr>
              <a:t>REST Endpoints</a:t>
            </a:r>
            <a:endParaRPr lang="en-US" sz="1100" dirty="0"/>
          </a:p>
        </p:txBody>
      </p:sp>
      <p:sp>
        <p:nvSpPr>
          <p:cNvPr id="26" name="Shape 24"/>
          <p:cNvSpPr/>
          <p:nvPr/>
        </p:nvSpPr>
        <p:spPr>
          <a:xfrm>
            <a:off x="0" y="5001768"/>
            <a:ext cx="9144000" cy="141732"/>
          </a:xfrm>
          <a:prstGeom prst="rect">
            <a:avLst/>
          </a:prstGeom>
          <a:solidFill>
            <a:srgbClr val="0A1830"/>
          </a:solidFill>
          <a:ln w="12700">
            <a:solidFill>
              <a:srgbClr val="0A1830"/>
            </a:solidFill>
            <a:prstDash val="solid"/>
          </a:ln>
        </p:spPr>
        <p:txBody>
          <a:bodyPr/>
          <a:lstStyle/>
          <a:p>
            <a:endParaRPr lang="en-IN"/>
          </a:p>
        </p:txBody>
      </p:sp>
      <p:sp>
        <p:nvSpPr>
          <p:cNvPr id="27" name="Text 25"/>
          <p:cNvSpPr/>
          <p:nvPr/>
        </p:nvSpPr>
        <p:spPr>
          <a:xfrm>
            <a:off x="274320" y="5001768"/>
            <a:ext cx="8686800" cy="141732"/>
          </a:xfrm>
          <a:prstGeom prst="rect">
            <a:avLst/>
          </a:prstGeom>
          <a:noFill/>
          <a:ln/>
        </p:spPr>
        <p:txBody>
          <a:bodyPr wrap="square" lIns="0" tIns="0" rIns="0" bIns="0" rtlCol="0" anchor="ctr"/>
          <a:lstStyle/>
          <a:p>
            <a:pPr marL="0" indent="0" algn="ctr">
              <a:buNone/>
            </a:pPr>
            <a:r>
              <a:rPr lang="en-US" sz="900" dirty="0">
                <a:solidFill>
                  <a:srgbClr val="0A8F8F"/>
                </a:solidFill>
                <a:latin typeface="Calibri" pitchFamily="34" charset="0"/>
                <a:ea typeface="Calibri" pitchFamily="34" charset="-122"/>
                <a:cs typeface="Calibri" pitchFamily="34" charset="-120"/>
              </a:rPr>
              <a:t>Thank You  •  Open for Questions</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1690</Words>
  <Application>Microsoft Office PowerPoint</Application>
  <PresentationFormat>On-screen Show (16:9)</PresentationFormat>
  <Paragraphs>235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Banking Application – Project Review</dc:title>
  <dc:subject>PptxGenJS Presentation</dc:subject>
  <dc:creator>PptxGenJS</dc:creator>
  <cp:lastModifiedBy>Chaitanya Gollavilli</cp:lastModifiedBy>
  <cp:revision>2</cp:revision>
  <dcterms:created xsi:type="dcterms:W3CDTF">2026-03-24T07:28:47Z</dcterms:created>
  <dcterms:modified xsi:type="dcterms:W3CDTF">2026-03-30T14:19:33Z</dcterms:modified>
</cp:coreProperties>
</file>